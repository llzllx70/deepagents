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0"/>
            <a:ext cx="11430000" cy="90948570"/>
          </a:xfrm>
          <a:prstGeom prst="roundRect">
            <a:avLst>
              <a:gd name="adj" fmla="val 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381000"/>
            <a:ext cx="10881360" cy="550515"/>
          </a:xfrm>
          <a:prstGeom prst="rect">
            <a:avLst/>
          </a:prstGeom>
          <a:noFill/>
          <a:ln/>
        </p:spPr>
        <p:txBody>
          <a:bodyPr wrap="square" lIns="0" tIns="0" rIns="0" bIns="95250" rtlCol="0" anchor="t"/>
          <a:lstStyle/>
          <a:p>
            <a:pPr algn="l" indent="0" marL="0">
              <a:lnSpc>
                <a:spcPts val="336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WEB工程师岗位检索与匹配分析报告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62000" y="1026765"/>
            <a:ext cx="10668000" cy="1352104"/>
          </a:xfrm>
          <a:prstGeom prst="roundRect">
            <a:avLst>
              <a:gd name="adj" fmla="val 3522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04875" y="1169640"/>
            <a:ext cx="105898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报告日期：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2026年1月7日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04875" y="1382911"/>
            <a:ext cx="105898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候选人：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张明（温州大学·计算机科学与技术·2026届本科毕业生）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04875" y="1596182"/>
            <a:ext cx="105898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目标岗位：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WEB工程师 / WEB工程师助理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04875" y="1809452"/>
            <a:ext cx="105898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目标城市：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4875" y="2022723"/>
            <a:ext cx="1058989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0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pPr algn="l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Boss直聘、智联招聘（通过Coze Search API检索）</a:t>
            </a:r>
            <a:endParaRPr lang="en-US" sz="1050" dirty="0"/>
          </a:p>
        </p:txBody>
      </p:sp>
      <p:pic>
        <p:nvPicPr>
          <p:cNvPr id="10" name="Image 0" descr="/var/folders/hv/ysg5ztb12gn806jvggm0qf3w0000gn/T/html2pptx-bg-bg-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2664619"/>
            <a:ext cx="10668000" cy="224953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00125" y="2902744"/>
            <a:ext cx="103955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190625" y="3348484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检索岗位总数：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16个（Boss直聘10个，智联招聘6个）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90625" y="3687514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高匹配度岗位（≥80分）：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6个（占比37.5%）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190625" y="4026545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应届生可投递岗位：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7个（含校招、实习、经验不限）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90625" y="4365575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大部分岗位要求1-3年及以上经验，缺少TypeScript、前端工程化等高级技能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一、统计数据概览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525661"/>
            <a:ext cx="34290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31735" y="820936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31735" y="1464766"/>
            <a:ext cx="3089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检索岗位总数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381500" y="525661"/>
            <a:ext cx="34290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51236" y="820936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4551236" y="1464766"/>
            <a:ext cx="3089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高匹配度岗位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01000" y="525661"/>
            <a:ext cx="34290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70736" y="820936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170736" y="1464766"/>
            <a:ext cx="3089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62000" y="2068562"/>
            <a:ext cx="3429000" cy="1352401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31735" y="2363837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931735" y="3007668"/>
            <a:ext cx="3089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平均匹配度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2000" y="3801963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二、岗位检索概况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8871496"/>
          </a:xfrm>
          <a:prstGeom prst="roundRect">
            <a:avLst>
              <a:gd name="adj" fmla="val 85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9630" y="47625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经验要求分布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uble/vsproject/deepagents/skills/html2pptx/scripts/charts/experien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0"/>
            <a:ext cx="10287000" cy="77152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345489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3029099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0"/>
            <a:ext cx="3089681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经验要求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791099" y="0"/>
            <a:ext cx="1832521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791099" y="0"/>
            <a:ext cx="1869171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23620" y="0"/>
            <a:ext cx="1879104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623620" y="0"/>
            <a:ext cx="1916686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502723" y="0"/>
            <a:ext cx="3927277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502723" y="0"/>
            <a:ext cx="4005822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应届生可投递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472380"/>
            <a:ext cx="3029099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62000" y="959941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472380"/>
            <a:ext cx="3089681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91099" y="472380"/>
            <a:ext cx="1832521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791099" y="959941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1099" y="472380"/>
            <a:ext cx="1869171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23620" y="472380"/>
            <a:ext cx="1879104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623620" y="959941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620" y="472380"/>
            <a:ext cx="1916686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02723" y="472380"/>
            <a:ext cx="3927277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7502723" y="959941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7023" y="586680"/>
            <a:ext cx="5161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611862" y="586680"/>
            <a:ext cx="5264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62000" y="964704"/>
            <a:ext cx="3029099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762000" y="1457027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2000" y="964704"/>
            <a:ext cx="308968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91099" y="964704"/>
            <a:ext cx="1832521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3791099" y="1457027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1099" y="964704"/>
            <a:ext cx="186917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23620" y="964704"/>
            <a:ext cx="1879104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5623620" y="1457027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620" y="964704"/>
            <a:ext cx="1916686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502723" y="964704"/>
            <a:ext cx="392727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502723" y="1457027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17023" y="1083766"/>
            <a:ext cx="5161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7611862" y="1083766"/>
            <a:ext cx="5264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62000" y="1461790"/>
            <a:ext cx="3029099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762000" y="1954113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2000" y="1461790"/>
            <a:ext cx="308968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791099" y="1461790"/>
            <a:ext cx="1832521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791099" y="1954113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91099" y="1461790"/>
            <a:ext cx="186917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623620" y="1461790"/>
            <a:ext cx="1879104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623620" y="1954113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23620" y="1461790"/>
            <a:ext cx="1916686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502723" y="1461790"/>
            <a:ext cx="392727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7502723" y="1954113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17023" y="1580852"/>
            <a:ext cx="5161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611862" y="1580852"/>
            <a:ext cx="5264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62000" y="1958876"/>
            <a:ext cx="3029099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762000" y="2451199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2000" y="1958876"/>
            <a:ext cx="308968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1-3年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791099" y="1958876"/>
            <a:ext cx="1832521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3791099" y="2451199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791099" y="1958876"/>
            <a:ext cx="186917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23620" y="1958876"/>
            <a:ext cx="1879104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5623620" y="2451199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23620" y="1958876"/>
            <a:ext cx="1916686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502723" y="1958876"/>
            <a:ext cx="392727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Shape 58"/>
          <p:cNvSpPr/>
          <p:nvPr/>
        </p:nvSpPr>
        <p:spPr>
          <a:xfrm>
            <a:off x="7502723" y="2451199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17023" y="2077938"/>
            <a:ext cx="744736" cy="258961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609576" y="2077938"/>
            <a:ext cx="75963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可尝试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2000" y="2455962"/>
            <a:ext cx="3029099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762000" y="2948285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000" y="2455962"/>
            <a:ext cx="308968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3-5年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791099" y="2455962"/>
            <a:ext cx="1832521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Shape 65"/>
          <p:cNvSpPr/>
          <p:nvPr/>
        </p:nvSpPr>
        <p:spPr>
          <a:xfrm>
            <a:off x="3791099" y="2948285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91099" y="2455962"/>
            <a:ext cx="186917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623620" y="2455962"/>
            <a:ext cx="1879104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Shape 68"/>
          <p:cNvSpPr/>
          <p:nvPr/>
        </p:nvSpPr>
        <p:spPr>
          <a:xfrm>
            <a:off x="5623620" y="2948285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23620" y="2455962"/>
            <a:ext cx="1916686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502723" y="2455962"/>
            <a:ext cx="392727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7502723" y="2948285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617023" y="2575024"/>
            <a:ext cx="744736" cy="258961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7609576" y="2575024"/>
            <a:ext cx="75963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不推荐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62000" y="2953048"/>
            <a:ext cx="3029099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Shape 75"/>
          <p:cNvSpPr/>
          <p:nvPr/>
        </p:nvSpPr>
        <p:spPr>
          <a:xfrm>
            <a:off x="762000" y="3445371"/>
            <a:ext cx="3029099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62000" y="2953048"/>
            <a:ext cx="308968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3791099" y="2953048"/>
            <a:ext cx="1832521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Shape 78"/>
          <p:cNvSpPr/>
          <p:nvPr/>
        </p:nvSpPr>
        <p:spPr>
          <a:xfrm>
            <a:off x="3791099" y="3445371"/>
            <a:ext cx="1832521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91099" y="2953048"/>
            <a:ext cx="1869171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5623620" y="2953048"/>
            <a:ext cx="1879104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Shape 81"/>
          <p:cNvSpPr/>
          <p:nvPr/>
        </p:nvSpPr>
        <p:spPr>
          <a:xfrm>
            <a:off x="5623620" y="3445371"/>
            <a:ext cx="18791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23620" y="2953048"/>
            <a:ext cx="1916686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7502723" y="2953048"/>
            <a:ext cx="392727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Shape 84"/>
          <p:cNvSpPr/>
          <p:nvPr/>
        </p:nvSpPr>
        <p:spPr>
          <a:xfrm>
            <a:off x="7502723" y="3445371"/>
            <a:ext cx="392727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17023" y="3072110"/>
            <a:ext cx="5161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611862" y="3072110"/>
            <a:ext cx="52645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是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7585621"/>
          </a:xfrm>
          <a:prstGeom prst="roundRect">
            <a:avLst>
              <a:gd name="adj" fmla="val 1005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9630" y="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平台岗位数量对比</a:t>
            </a:r>
            <a:endParaRPr lang="en-US" sz="1350" dirty="0"/>
          </a:p>
        </p:txBody>
      </p:sp>
      <p:pic>
        <p:nvPicPr>
          <p:cNvPr id="3" name="Image 0" descr="/Users/double/vsproject/deepagents/skills/html2pptx/scripts/charts/platfor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417165"/>
            <a:ext cx="10287000" cy="6429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1918097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0"/>
            <a:ext cx="2535734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0"/>
            <a:ext cx="2586448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7734" y="0"/>
            <a:ext cx="1999506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97734" y="0"/>
            <a:ext cx="2039496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97239" y="0"/>
            <a:ext cx="3244304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97239" y="0"/>
            <a:ext cx="3309190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适合应届生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41544" y="0"/>
            <a:ext cx="2888456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41544" y="0"/>
            <a:ext cx="2946225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平均匹配度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472380"/>
            <a:ext cx="2535734" cy="4771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62000" y="944761"/>
            <a:ext cx="253573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000" y="472380"/>
            <a:ext cx="2586448" cy="47714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7734" y="472380"/>
            <a:ext cx="1999506" cy="4771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97734" y="944761"/>
            <a:ext cx="19995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7734" y="472380"/>
            <a:ext cx="2039496" cy="47714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97239" y="472380"/>
            <a:ext cx="3244304" cy="4771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97239" y="944761"/>
            <a:ext cx="32443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7239" y="472380"/>
            <a:ext cx="3309190" cy="47714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4个（40%）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541544" y="472380"/>
            <a:ext cx="2888456" cy="47714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541544" y="944761"/>
            <a:ext cx="288845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41544" y="472380"/>
            <a:ext cx="2946225" cy="47714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76.5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62000" y="949523"/>
            <a:ext cx="2535734" cy="4819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62000" y="1426666"/>
            <a:ext cx="253573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2000" y="949523"/>
            <a:ext cx="2586448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智联招聘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97734" y="949523"/>
            <a:ext cx="1999506" cy="4819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97734" y="1426666"/>
            <a:ext cx="19995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7734" y="949523"/>
            <a:ext cx="2039496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97239" y="949523"/>
            <a:ext cx="3244304" cy="4819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5297239" y="1426666"/>
            <a:ext cx="32443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97239" y="949523"/>
            <a:ext cx="3309190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1个（17%）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1544" y="949523"/>
            <a:ext cx="2888456" cy="481905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8541544" y="1426666"/>
            <a:ext cx="288845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41544" y="949523"/>
            <a:ext cx="2946225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62000" y="1431429"/>
            <a:ext cx="2535734" cy="4819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762000" y="1908572"/>
            <a:ext cx="253573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000" y="1431429"/>
            <a:ext cx="2586448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合计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297734" y="1431429"/>
            <a:ext cx="1999506" cy="4819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297734" y="1908572"/>
            <a:ext cx="19995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7734" y="1431429"/>
            <a:ext cx="2039496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97239" y="1431429"/>
            <a:ext cx="3244304" cy="4819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5297239" y="1908572"/>
            <a:ext cx="3244304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297239" y="1431429"/>
            <a:ext cx="3309190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5个（31%）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41544" y="1431429"/>
            <a:ext cx="2888456" cy="48190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8541544" y="1908572"/>
            <a:ext cx="288845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41544" y="1431429"/>
            <a:ext cx="2946225" cy="481905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三、高匹配度岗位推荐（Top 6）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525661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94330" y="725686"/>
            <a:ext cx="635645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587974" y="725686"/>
            <a:ext cx="648358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2025" y="725686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第1名：淘宝 - 前端开发工程师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62025" y="1095226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1095226"/>
            <a:ext cx="297165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62025" y="1095226"/>
            <a:ext cx="3031084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933676" y="1095226"/>
            <a:ext cx="729629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33676" y="1095226"/>
            <a:ext cx="7442225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未说明（校招岗位）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2025" y="1491407"/>
            <a:ext cx="2971651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62025" y="1491407"/>
            <a:ext cx="3031084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3676" y="1491407"/>
            <a:ext cx="7296299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33676" y="1491407"/>
            <a:ext cx="7442225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62025" y="1887587"/>
            <a:ext cx="297165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962025" y="1887587"/>
            <a:ext cx="3031084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3676" y="1887587"/>
            <a:ext cx="729629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33676" y="1887587"/>
            <a:ext cx="7442225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2025" y="2283768"/>
            <a:ext cx="2971651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62025" y="2283768"/>
            <a:ext cx="3031084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3676" y="2283768"/>
            <a:ext cx="7296299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933676" y="2283768"/>
            <a:ext cx="7442225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CSS、JavaScript、React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2025" y="2679948"/>
            <a:ext cx="297165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962025" y="2679948"/>
            <a:ext cx="3031084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33676" y="2679948"/>
            <a:ext cx="729629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33676" y="2679948"/>
            <a:ext cx="7442225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3171379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2025" y="3171379"/>
            <a:ext cx="520601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56819" y="3171379"/>
            <a:ext cx="531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558826" y="3171379"/>
            <a:ext cx="795338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50872" y="3171379"/>
            <a:ext cx="8112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2430363" y="3171379"/>
            <a:ext cx="434876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426015" y="3171379"/>
            <a:ext cx="44357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62025" y="3588544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981075" y="3588544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62025" y="3588544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大厂平台，职业发展空间大；校招岗位，与应届生身份完美匹配；React技能匹配度100%。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2025" y="4118074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准备前端基础知识面试（HTML/CSS/JS）；准备React相关项目展示；了解阿里技术栈和企业文化。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591949" y="200025"/>
            <a:ext cx="638026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85569" y="200025"/>
            <a:ext cx="650787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2025" y="200025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第2名：核盛网络 - web开发实习生(react)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2025" y="569565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2025" y="569565"/>
            <a:ext cx="46551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569565"/>
            <a:ext cx="474829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17220" y="569565"/>
            <a:ext cx="56127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17220" y="569565"/>
            <a:ext cx="572501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2025" y="965746"/>
            <a:ext cx="465519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965746"/>
            <a:ext cx="474829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617220" y="965746"/>
            <a:ext cx="561275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17220" y="965746"/>
            <a:ext cx="572501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12个月实习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2025" y="1361926"/>
            <a:ext cx="46551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2025" y="1361926"/>
            <a:ext cx="474829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17220" y="1361926"/>
            <a:ext cx="56127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617220" y="1361926"/>
            <a:ext cx="572501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2025" y="1758107"/>
            <a:ext cx="465519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2025" y="1758107"/>
            <a:ext cx="474829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17220" y="1758107"/>
            <a:ext cx="561275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17220" y="1758107"/>
            <a:ext cx="572501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025" y="2154287"/>
            <a:ext cx="46551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025" y="2154287"/>
            <a:ext cx="474829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17220" y="2154287"/>
            <a:ext cx="56127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17220" y="2154287"/>
            <a:ext cx="572501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025" y="2645718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2645718"/>
            <a:ext cx="520601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819" y="2645718"/>
            <a:ext cx="531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62025" y="3062883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981075" y="3062883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2025" y="3062883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实习岗位，可转正机会；React技能匹配；适合积累工作经验。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2025" y="3592413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确认实习时间和转正政策；准备React基础面试；展示微信小程序项目经验。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595967" y="200025"/>
            <a:ext cx="634008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89627" y="200025"/>
            <a:ext cx="646688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2025" y="200025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第3名：浙江数维科技 - 前端开发工程师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2025" y="569565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2025" y="569565"/>
            <a:ext cx="4067324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569565"/>
            <a:ext cx="414867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349" y="569565"/>
            <a:ext cx="6200626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29349" y="569565"/>
            <a:ext cx="632463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8000-11000元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2025" y="965746"/>
            <a:ext cx="4067324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965746"/>
            <a:ext cx="414867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349" y="965746"/>
            <a:ext cx="6200626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29349" y="965746"/>
            <a:ext cx="632463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2025" y="1361926"/>
            <a:ext cx="4067324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2025" y="1361926"/>
            <a:ext cx="414867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349" y="1361926"/>
            <a:ext cx="6200626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9349" y="1361926"/>
            <a:ext cx="632463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2025" y="1758107"/>
            <a:ext cx="4067324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2025" y="1758107"/>
            <a:ext cx="414867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349" y="1758107"/>
            <a:ext cx="6200626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029349" y="1758107"/>
            <a:ext cx="632463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025" y="2154287"/>
            <a:ext cx="4067324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025" y="2154287"/>
            <a:ext cx="4148670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349" y="2154287"/>
            <a:ext cx="6200626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9349" y="2154287"/>
            <a:ext cx="6324639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智联招聘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025" y="2645718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2645718"/>
            <a:ext cx="685800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5167" y="2645718"/>
            <a:ext cx="6995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724025" y="2645718"/>
            <a:ext cx="795338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716072" y="2645718"/>
            <a:ext cx="8112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595563" y="2645718"/>
            <a:ext cx="536525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590197" y="2645718"/>
            <a:ext cx="54725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3208288" y="2645718"/>
            <a:ext cx="434876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203939" y="2645718"/>
            <a:ext cx="44357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962025" y="3062883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981075" y="3062883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2025" y="3062883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经验不限，应届生友好；薪资合理（8k-11k）；本科学历匹配。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2025" y="3592413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准备前端基础面试；展示React和Spring Boot项目经验；了解公司业务和技术栈。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595967" y="200025"/>
            <a:ext cx="634008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89627" y="200025"/>
            <a:ext cx="646688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2025" y="200025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第4名：杭州炎魂网络 - 前端开发工程师(2026届)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2025" y="569565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2025" y="569565"/>
            <a:ext cx="314131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569565"/>
            <a:ext cx="3204142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03340" y="569565"/>
            <a:ext cx="712663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03340" y="569565"/>
            <a:ext cx="7269167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2025" y="965746"/>
            <a:ext cx="314131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965746"/>
            <a:ext cx="3204142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03340" y="965746"/>
            <a:ext cx="712663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103340" y="965746"/>
            <a:ext cx="7269167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在校/应届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2025" y="1361926"/>
            <a:ext cx="314131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2025" y="1361926"/>
            <a:ext cx="3204142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03340" y="1361926"/>
            <a:ext cx="712663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103340" y="1361926"/>
            <a:ext cx="7269167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2025" y="1758107"/>
            <a:ext cx="314131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2025" y="1758107"/>
            <a:ext cx="3204142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03340" y="1758107"/>
            <a:ext cx="712663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103340" y="1758107"/>
            <a:ext cx="7269167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Vue、React、前端开发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025" y="2154287"/>
            <a:ext cx="314131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025" y="2154287"/>
            <a:ext cx="3204142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03340" y="2154287"/>
            <a:ext cx="712663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103340" y="2154287"/>
            <a:ext cx="7269167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025" y="2645718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2645718"/>
            <a:ext cx="520601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819" y="2645718"/>
            <a:ext cx="531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558826" y="2645718"/>
            <a:ext cx="411807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54708" y="2645718"/>
            <a:ext cx="4200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046833" y="2645718"/>
            <a:ext cx="685800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039975" y="2645718"/>
            <a:ext cx="6995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前端开发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62025" y="3062883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81075" y="3062883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025" y="3062883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2026届校招，身份匹配；React技能匹配；可快速补充Vue知识。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2025" y="3592413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重点准备React相关面试；简要了解Vue框架基础；展示学习能力。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598795" y="200025"/>
            <a:ext cx="631180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592483" y="200025"/>
            <a:ext cx="643804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2025" y="200025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第5名：杭州城市大脑 - 初级前端开发工程师(react方向)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2025" y="569565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2025" y="569565"/>
            <a:ext cx="50297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569565"/>
            <a:ext cx="513039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91820" y="569565"/>
            <a:ext cx="52381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91820" y="569565"/>
            <a:ext cx="534291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2025" y="965746"/>
            <a:ext cx="502979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965746"/>
            <a:ext cx="513039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91820" y="965746"/>
            <a:ext cx="523815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91820" y="965746"/>
            <a:ext cx="534291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2025" y="1361926"/>
            <a:ext cx="50297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2025" y="1361926"/>
            <a:ext cx="513039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91820" y="1361926"/>
            <a:ext cx="52381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991820" y="1361926"/>
            <a:ext cx="534291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本科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2025" y="1758107"/>
            <a:ext cx="502979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2025" y="1758107"/>
            <a:ext cx="513039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91820" y="1758107"/>
            <a:ext cx="5238155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91820" y="1758107"/>
            <a:ext cx="534291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025" y="2154287"/>
            <a:ext cx="502979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025" y="2154287"/>
            <a:ext cx="513039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91820" y="2154287"/>
            <a:ext cx="5238155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991820" y="2154287"/>
            <a:ext cx="534291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025" y="2645718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2645718"/>
            <a:ext cx="520601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819" y="2645718"/>
            <a:ext cx="531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962025" y="3062883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981075" y="3062883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2025" y="3062883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1年以内岗位，应届生可尝试；React技能匹配；政府合作项目，稳定性好。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2025" y="3592413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准备React项目和基础知识；展示实习经历和项目经验；了解政府项目特点。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4036219"/>
          </a:xfrm>
          <a:prstGeom prst="roundRect">
            <a:avLst>
              <a:gd name="adj" fmla="val 1888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0606385" y="200025"/>
            <a:ext cx="623590" cy="339030"/>
          </a:xfrm>
          <a:prstGeom prst="roundRect">
            <a:avLst>
              <a:gd name="adj" fmla="val 56190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600149" y="200025"/>
            <a:ext cx="636062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78分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2025" y="200025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第6名：造物云 - 前端工程师(React)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62025" y="569565"/>
            <a:ext cx="10267950" cy="198090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62025" y="569565"/>
            <a:ext cx="276745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62025" y="569565"/>
            <a:ext cx="282280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29484" y="569565"/>
            <a:ext cx="750049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729484" y="569565"/>
            <a:ext cx="765050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未说明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2025" y="965746"/>
            <a:ext cx="2767459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62025" y="965746"/>
            <a:ext cx="282280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729484" y="965746"/>
            <a:ext cx="7500491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29484" y="965746"/>
            <a:ext cx="765050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2025" y="1361926"/>
            <a:ext cx="276745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62025" y="1361926"/>
            <a:ext cx="282280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29484" y="1361926"/>
            <a:ext cx="750049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29484" y="1361926"/>
            <a:ext cx="765050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学历不限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2025" y="1758107"/>
            <a:ext cx="2767459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62025" y="1758107"/>
            <a:ext cx="282280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29484" y="1758107"/>
            <a:ext cx="7500491" cy="396180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29484" y="1758107"/>
            <a:ext cx="765050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JavaScript、React、Python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2025" y="2154287"/>
            <a:ext cx="2767459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2025" y="2154287"/>
            <a:ext cx="2822808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29484" y="2154287"/>
            <a:ext cx="7500491" cy="3961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729484" y="2154287"/>
            <a:ext cx="7650501" cy="3961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2025" y="2645718"/>
            <a:ext cx="1047330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192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2025" y="2645718"/>
            <a:ext cx="520601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56819" y="2645718"/>
            <a:ext cx="53101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1558826" y="2645718"/>
            <a:ext cx="795338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550872" y="2645718"/>
            <a:ext cx="81124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2430363" y="2645718"/>
            <a:ext cx="597843" cy="274290"/>
          </a:xfrm>
          <a:prstGeom prst="roundRect">
            <a:avLst>
              <a:gd name="adj" fmla="val 13890"/>
            </a:avLst>
          </a:prstGeom>
          <a:solidFill>
            <a:srgbClr val="E3F2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424385" y="2645718"/>
            <a:ext cx="60979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975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962025" y="3062883"/>
            <a:ext cx="10267950" cy="529530"/>
          </a:xfrm>
          <a:prstGeom prst="roundRect">
            <a:avLst>
              <a:gd name="adj" fmla="val 7195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981075" y="3062883"/>
            <a:ext cx="9144" cy="529530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2025" y="3062883"/>
            <a:ext cx="10473309" cy="529530"/>
          </a:xfrm>
          <a:prstGeom prst="rect">
            <a:avLst/>
          </a:prstGeom>
          <a:noFill/>
          <a:ln/>
        </p:spPr>
        <p:txBody>
          <a:bodyPr wrap="square" lIns="142875" tIns="142875" rIns="142875" bIns="142875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推荐理由：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经验不限，学历不限；React技能匹配；Python技能可加分。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2025" y="3592413"/>
            <a:ext cx="10473309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投递建议：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重点展示Python数据处理能力；准备React项目展示；了解公司产品和技术栈。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668000" cy="6299746"/>
          </a:xfrm>
          <a:prstGeom prst="roundRect">
            <a:avLst>
              <a:gd name="adj" fmla="val 1210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9630" y="476250"/>
            <a:ext cx="1049274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岗位匹配度排名</a:t>
            </a:r>
            <a:endParaRPr lang="en-US" sz="1350" dirty="0"/>
          </a:p>
        </p:txBody>
      </p:sp>
      <p:pic>
        <p:nvPicPr>
          <p:cNvPr id="4" name="Image 0" descr="/Users/double/vsproject/deepagents/skills/html2pptx/scripts/charts/match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893415"/>
            <a:ext cx="10287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四、技能要求分析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525661"/>
            <a:ext cx="10668000" cy="44490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8575" dist="9525" dir="5400000">
              <a:srgbClr val="000000">
                <a:alpha val="10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62000" y="525661"/>
            <a:ext cx="2984897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62000" y="525661"/>
            <a:ext cx="3044595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46897" y="525661"/>
            <a:ext cx="2680097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746897" y="525661"/>
            <a:ext cx="2733699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要求岗位数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6994" y="525661"/>
            <a:ext cx="1497806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426994" y="525661"/>
            <a:ext cx="1527762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占比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24800" y="525661"/>
            <a:ext cx="3505200" cy="472380"/>
          </a:xfrm>
          <a:prstGeom prst="rect">
            <a:avLst/>
          </a:prstGeom>
          <a:solidFill>
            <a:srgbClr val="3498D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924800" y="525661"/>
            <a:ext cx="3575304" cy="472380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候选人掌握情况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2000" y="998041"/>
            <a:ext cx="2984897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62000" y="1485602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" y="998041"/>
            <a:ext cx="3044595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6897" y="998041"/>
            <a:ext cx="2680097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746897" y="1485602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6897" y="998041"/>
            <a:ext cx="2733699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26994" y="998041"/>
            <a:ext cx="1497806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426994" y="1485602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6994" y="998041"/>
            <a:ext cx="1527762" cy="492323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24800" y="998041"/>
            <a:ext cx="3505200" cy="49232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924800" y="1485602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39100" y="1112341"/>
            <a:ext cx="6304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032796" y="1112341"/>
            <a:ext cx="64304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基础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62000" y="1490365"/>
            <a:ext cx="29848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762000" y="1982688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2000" y="1490365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746897" y="1490365"/>
            <a:ext cx="26800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746897" y="1982688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6897" y="1490365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26994" y="1490365"/>
            <a:ext cx="1497806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426994" y="1982688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26994" y="1490365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24800" y="1490365"/>
            <a:ext cx="3505200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7924800" y="1982688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39100" y="1609427"/>
            <a:ext cx="6304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32796" y="1609427"/>
            <a:ext cx="64304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掌握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62000" y="1987451"/>
            <a:ext cx="29848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62000" y="2479774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2000" y="1987451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746897" y="1987451"/>
            <a:ext cx="26800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3746897" y="2479774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6897" y="1987451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426994" y="1987451"/>
            <a:ext cx="1497806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426994" y="2479774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26994" y="1987451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924800" y="1987451"/>
            <a:ext cx="3505200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7924800" y="2479774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39100" y="2106513"/>
            <a:ext cx="630436" cy="258961"/>
          </a:xfrm>
          <a:prstGeom prst="roundRect">
            <a:avLst>
              <a:gd name="adj" fmla="val 44138"/>
            </a:avLst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032796" y="2106513"/>
            <a:ext cx="643045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掌握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2000" y="2484537"/>
            <a:ext cx="29848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762000" y="2976860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000" y="2484537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746897" y="2484537"/>
            <a:ext cx="26800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3746897" y="2976860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46897" y="2484537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426994" y="2484537"/>
            <a:ext cx="1497806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426994" y="2976860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26994" y="2484537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924800" y="2484537"/>
            <a:ext cx="3505200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924800" y="2976860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39100" y="2603599"/>
            <a:ext cx="859036" cy="258961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8030510" y="2603599"/>
            <a:ext cx="87621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了解基础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62000" y="2981623"/>
            <a:ext cx="29848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762000" y="3473946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000" y="2981623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3746897" y="2981623"/>
            <a:ext cx="26800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Shape 66"/>
          <p:cNvSpPr/>
          <p:nvPr/>
        </p:nvSpPr>
        <p:spPr>
          <a:xfrm>
            <a:off x="3746897" y="3473946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46897" y="2981623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426994" y="2981623"/>
            <a:ext cx="1497806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Shape 69"/>
          <p:cNvSpPr/>
          <p:nvPr/>
        </p:nvSpPr>
        <p:spPr>
          <a:xfrm>
            <a:off x="6426994" y="3473946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26994" y="2981623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7924800" y="2981623"/>
            <a:ext cx="3505200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7924800" y="3473946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39100" y="3100685"/>
            <a:ext cx="744736" cy="258961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74"/>
          <p:cNvSpPr/>
          <p:nvPr/>
        </p:nvSpPr>
        <p:spPr>
          <a:xfrm>
            <a:off x="8031653" y="3100685"/>
            <a:ext cx="75963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62000" y="3478709"/>
            <a:ext cx="29848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Shape 76"/>
          <p:cNvSpPr/>
          <p:nvPr/>
        </p:nvSpPr>
        <p:spPr>
          <a:xfrm>
            <a:off x="762000" y="3971032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62000" y="3478709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80" name="Text 78"/>
          <p:cNvSpPr/>
          <p:nvPr/>
        </p:nvSpPr>
        <p:spPr>
          <a:xfrm>
            <a:off x="3746897" y="3478709"/>
            <a:ext cx="26800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3746897" y="3971032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46897" y="3478709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6426994" y="3478709"/>
            <a:ext cx="1497806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6426994" y="3971032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26994" y="3478709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7924800" y="3478709"/>
            <a:ext cx="3505200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Shape 85"/>
          <p:cNvSpPr/>
          <p:nvPr/>
        </p:nvSpPr>
        <p:spPr>
          <a:xfrm>
            <a:off x="7924800" y="3971032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39100" y="3597771"/>
            <a:ext cx="744736" cy="258961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8031653" y="3597771"/>
            <a:ext cx="75963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62000" y="3975795"/>
            <a:ext cx="29848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Shape 89"/>
          <p:cNvSpPr/>
          <p:nvPr/>
        </p:nvSpPr>
        <p:spPr>
          <a:xfrm>
            <a:off x="762000" y="4468118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62000" y="3975795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前端工程化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3746897" y="3975795"/>
            <a:ext cx="2680097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2"/>
          <p:cNvSpPr/>
          <p:nvPr/>
        </p:nvSpPr>
        <p:spPr>
          <a:xfrm>
            <a:off x="3746897" y="4468118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746897" y="3975795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6426994" y="3975795"/>
            <a:ext cx="1497806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Shape 95"/>
          <p:cNvSpPr/>
          <p:nvPr/>
        </p:nvSpPr>
        <p:spPr>
          <a:xfrm>
            <a:off x="6426994" y="4468118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426994" y="3975795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200" dirty="0"/>
          </a:p>
        </p:txBody>
      </p:sp>
      <p:sp>
        <p:nvSpPr>
          <p:cNvPr id="99" name="Text 97"/>
          <p:cNvSpPr/>
          <p:nvPr/>
        </p:nvSpPr>
        <p:spPr>
          <a:xfrm>
            <a:off x="7924800" y="3975795"/>
            <a:ext cx="3505200" cy="4970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0" name="Shape 98"/>
          <p:cNvSpPr/>
          <p:nvPr/>
        </p:nvSpPr>
        <p:spPr>
          <a:xfrm>
            <a:off x="7924800" y="4468118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039100" y="4094857"/>
            <a:ext cx="859036" cy="258961"/>
          </a:xfrm>
          <a:prstGeom prst="roundRect">
            <a:avLst>
              <a:gd name="adj" fmla="val 44138"/>
            </a:avLst>
          </a:prstGeom>
          <a:solidFill>
            <a:srgbClr val="F39C1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2" name="Text 100"/>
          <p:cNvSpPr/>
          <p:nvPr/>
        </p:nvSpPr>
        <p:spPr>
          <a:xfrm>
            <a:off x="8030510" y="4094857"/>
            <a:ext cx="876217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了解基础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62000" y="4472880"/>
            <a:ext cx="29848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4" name="Shape 102"/>
          <p:cNvSpPr/>
          <p:nvPr/>
        </p:nvSpPr>
        <p:spPr>
          <a:xfrm>
            <a:off x="762000" y="4965204"/>
            <a:ext cx="29848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62000" y="4472880"/>
            <a:ext cx="3044595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106" name="Text 104"/>
          <p:cNvSpPr/>
          <p:nvPr/>
        </p:nvSpPr>
        <p:spPr>
          <a:xfrm>
            <a:off x="3746897" y="4472880"/>
            <a:ext cx="2680097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7" name="Shape 105"/>
          <p:cNvSpPr/>
          <p:nvPr/>
        </p:nvSpPr>
        <p:spPr>
          <a:xfrm>
            <a:off x="3746897" y="4965204"/>
            <a:ext cx="2680097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746897" y="4472880"/>
            <a:ext cx="2733699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6426994" y="4472880"/>
            <a:ext cx="1497806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0" name="Shape 108"/>
          <p:cNvSpPr/>
          <p:nvPr/>
        </p:nvSpPr>
        <p:spPr>
          <a:xfrm>
            <a:off x="6426994" y="4965204"/>
            <a:ext cx="1497806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426994" y="4472880"/>
            <a:ext cx="1527762" cy="497086"/>
          </a:xfrm>
          <a:prstGeom prst="rect">
            <a:avLst/>
          </a:prstGeom>
          <a:noFill/>
          <a:ln/>
        </p:spPr>
        <p:txBody>
          <a:bodyPr wrap="square" lIns="114300" tIns="114300" rIns="114300" bIns="114300" rtlCol="0" anchor="ctr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200" dirty="0"/>
          </a:p>
        </p:txBody>
      </p:sp>
      <p:sp>
        <p:nvSpPr>
          <p:cNvPr id="112" name="Text 110"/>
          <p:cNvSpPr/>
          <p:nvPr/>
        </p:nvSpPr>
        <p:spPr>
          <a:xfrm>
            <a:off x="7924800" y="4472880"/>
            <a:ext cx="3505200" cy="497086"/>
          </a:xfrm>
          <a:prstGeom prst="rect">
            <a:avLst/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3" name="Shape 111"/>
          <p:cNvSpPr/>
          <p:nvPr/>
        </p:nvSpPr>
        <p:spPr>
          <a:xfrm>
            <a:off x="7924800" y="4965204"/>
            <a:ext cx="3505200" cy="9144"/>
          </a:xfrm>
          <a:prstGeom prst="line">
            <a:avLst/>
          </a:prstGeom>
          <a:noFill/>
          <a:ln w="9525">
            <a:solidFill>
              <a:srgbClr val="ECF0F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039100" y="4591943"/>
            <a:ext cx="744736" cy="258961"/>
          </a:xfrm>
          <a:prstGeom prst="roundRect">
            <a:avLst>
              <a:gd name="adj" fmla="val 44138"/>
            </a:avLst>
          </a:prstGeom>
          <a:solidFill>
            <a:srgbClr val="E74C3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5" name="Text 113"/>
          <p:cNvSpPr/>
          <p:nvPr/>
        </p:nvSpPr>
        <p:spPr>
          <a:xfrm>
            <a:off x="8031653" y="4591943"/>
            <a:ext cx="759631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未掌握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五、技能缺口与补齐计划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620911"/>
            <a:ext cx="971550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短期（1个月）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714500" y="763786"/>
            <a:ext cx="9715500" cy="1504652"/>
          </a:xfrm>
          <a:prstGeom prst="roundRect">
            <a:avLst>
              <a:gd name="adj" fmla="val 2532"/>
            </a:avLst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1733550" y="763786"/>
            <a:ext cx="9144" cy="1504652"/>
          </a:xfrm>
          <a:prstGeom prst="line">
            <a:avLst/>
          </a:prstGeom>
          <a:noFill/>
          <a:ln w="38100">
            <a:solidFill>
              <a:srgbClr val="FFC10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95475" y="1179016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1：学习TypeScript基础语法和类型系统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95475" y="1422797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2：完成TypeScript + React小项目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95475" y="1666577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3：理解泛型、接口、类型推断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95475" y="1910358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4：前端工程化工具学习（webpack/vite）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458938"/>
            <a:ext cx="971550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中期（2-3个月）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14500" y="2601813"/>
            <a:ext cx="9715500" cy="1504652"/>
          </a:xfrm>
          <a:prstGeom prst="roundRect">
            <a:avLst>
              <a:gd name="adj" fmla="val 2532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733550" y="2601813"/>
            <a:ext cx="9144" cy="1504652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95475" y="3017044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2：学习Vue3基础，对比Vue和React差异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95475" y="3260824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2：前端性能优化学习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95475" y="3504605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3：补充Node.js后端开发知识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95475" y="3748385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3：掌握服务端渲染（SSR）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62000" y="4296966"/>
            <a:ext cx="971550" cy="1647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长期（3-6个月）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14500" y="4439841"/>
            <a:ext cx="9715500" cy="1504652"/>
          </a:xfrm>
          <a:prstGeom prst="roundRect">
            <a:avLst>
              <a:gd name="adj" fmla="val 2532"/>
            </a:avLst>
          </a:prstGeom>
          <a:solidFill>
            <a:srgbClr val="D4EDD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733550" y="4439841"/>
            <a:ext cx="9144" cy="1504652"/>
          </a:xfrm>
          <a:prstGeom prst="line">
            <a:avLst/>
          </a:prstGeom>
          <a:noFill/>
          <a:ln w="38100">
            <a:solidFill>
              <a:srgbClr val="28A7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95475" y="4855071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系统复习前端基础（HTML/CSS/JS）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95475" y="5098852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刷LeetCode算法题（前50题）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895475" y="5342632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准备3个高质量React项目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895475" y="5586413"/>
            <a:ext cx="95794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准备大厂面试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六、求职策略建议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762000" y="525661"/>
            <a:ext cx="3429000" cy="1988493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62025" y="725686"/>
            <a:ext cx="308952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第1优先级（立即投递）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62025" y="1123801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淘宝 - 前端开发工程师 [90分]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2025" y="136758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核盛网络 - web开发实习生 [88分]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2025" y="161136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浙江数维科技 - 前端开发工程师 [85分]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2025" y="1855143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杭州炎魂网络 - 前端开发工程师 [85分]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2025" y="2098923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杭州城市大脑 - 初级前端开发工程师 [82分]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1500" y="525661"/>
            <a:ext cx="3429000" cy="1988493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81525" y="725686"/>
            <a:ext cx="308952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第2优先级（重点投递）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81525" y="1123801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造物云 - 前端工程师 [78分]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81525" y="136758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快手(杭州) - 软件开发工程师 [75分]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81525" y="161136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中软国际 - 前端开发工程师 [72分]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81525" y="1855143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浙江宇视科技 - WEB前端开发工程师 [72分]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01000" y="525661"/>
            <a:ext cx="3429000" cy="1988493"/>
          </a:xfrm>
          <a:prstGeom prst="roundRect">
            <a:avLst>
              <a:gd name="adj" fmla="val 3832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01025" y="725686"/>
            <a:ext cx="308952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第3优先级（尝试投递）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01025" y="1123801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百聆科技 - 前端开发工程师react [70分]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01025" y="136758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中科非凡机器人 - 前端开发工程师 [70分]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01025" y="1611362"/>
            <a:ext cx="3089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点米科技 - web前端开发工程师 [55分]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2000" y="2847529"/>
            <a:ext cx="10668000" cy="1720007"/>
          </a:xfrm>
          <a:prstGeom prst="roundRect">
            <a:avLst>
              <a:gd name="adj" fmla="val 2215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81050" y="2847529"/>
            <a:ext cx="9144" cy="1720007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2975" y="3276154"/>
            <a:ext cx="1055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时间安排建议：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2975" y="3721894"/>
            <a:ext cx="105510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第1周：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投递第1优先级岗位（5个）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42975" y="3965674"/>
            <a:ext cx="105510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第2-3周：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投递第2优先级岗位（4个），同时准备面试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2975" y="4209455"/>
            <a:ext cx="105510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第4-6周：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根据面试反馈调整策略，持续投递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0"/>
            <a:ext cx="10881360" cy="335161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algn="l" indent="0" marL="0">
              <a:lnSpc>
                <a:spcPts val="2640"/>
              </a:lnSpc>
              <a:spcBef>
                <a:spcPts val="3000"/>
              </a:spcBef>
              <a:spcAft>
                <a:spcPts val="1500"/>
              </a:spcAft>
              <a:buNone/>
            </a:pPr>
            <a:r>
              <a:rPr lang="en-US" sz="165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七、结论与展望</a:t>
            </a:r>
            <a:endParaRPr lang="en-US" sz="1650" dirty="0"/>
          </a:p>
        </p:txBody>
      </p:sp>
      <p:pic>
        <p:nvPicPr>
          <p:cNvPr id="3" name="Image 0" descr="/var/folders/hv/ysg5ztb12gn806jvggm0qf3w0000gn/T/html2pptx-bg-bg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525661"/>
            <a:ext cx="10668000" cy="2249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0125" y="763786"/>
            <a:ext cx="1039558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90625" y="1209526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可投递岗位：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7个（37.5%），主要集中在校招、实习、经验不限岗位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90625" y="1548557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技能匹配度：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中等（70%），React等基础技能匹配，但缺少TypeScript等高级技能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90625" y="1887587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薪资预期：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应届生合理薪资8k-12k/月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90625" y="2226618"/>
            <a:ext cx="1020127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求职难度：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中等，需要优先投递校招岗位，同时补齐技能短板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2000" y="3060948"/>
            <a:ext cx="3429000" cy="1565672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31735" y="3356223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3-6个月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931735" y="4000054"/>
            <a:ext cx="308952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成功入职WEB工程师岗位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381500" y="3060948"/>
            <a:ext cx="3429000" cy="1565672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551236" y="3356223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1-2年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4551236" y="4000054"/>
            <a:ext cx="308952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积累1-2年工作经验</a:t>
            </a:r>
            <a:endParaRPr lang="en-US" sz="105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薪资提升至15k+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001000" y="3060948"/>
            <a:ext cx="3429000" cy="1565672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170736" y="3356223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3-5年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8170736" y="4000054"/>
            <a:ext cx="308952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晋升高级前端工程师</a:t>
            </a:r>
            <a:endParaRPr lang="en-US" sz="105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或技术专家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62000" y="4817120"/>
            <a:ext cx="3429000" cy="1565672"/>
          </a:xfrm>
          <a:prstGeom prst="roundRect">
            <a:avLst>
              <a:gd name="adj" fmla="val 4867"/>
            </a:avLst>
          </a:prstGeom>
          <a:solidFill>
            <a:srgbClr val="FFFFFF"/>
          </a:solidFill>
          <a:ln w="9525">
            <a:solidFill>
              <a:srgbClr val="E1E8E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1735" y="0"/>
            <a:ext cx="3089529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27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31735" y="643830"/>
            <a:ext cx="3089529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全栈开发</a:t>
            </a:r>
            <a:endParaRPr lang="en-US" sz="105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05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或技术管理方向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62000" y="1413272"/>
            <a:ext cx="10668000" cy="1963787"/>
          </a:xfrm>
          <a:prstGeom prst="roundRect">
            <a:avLst>
              <a:gd name="adj" fmla="val 1940"/>
            </a:avLst>
          </a:prstGeom>
          <a:solidFill>
            <a:srgbClr val="D1EC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81050" y="1413272"/>
            <a:ext cx="9144" cy="1963787"/>
          </a:xfrm>
          <a:prstGeom prst="line">
            <a:avLst/>
          </a:prstGeom>
          <a:noFill/>
          <a:ln w="38100">
            <a:solidFill>
              <a:srgbClr val="17A2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2975" y="1841897"/>
            <a:ext cx="1055103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135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报告说明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42975" y="2259062"/>
            <a:ext cx="105510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Boss直聘、智联招聘（通过Coze Search API检索）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2975" y="2502843"/>
            <a:ext cx="105510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检索时间：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2026年1月7日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42975" y="2746623"/>
            <a:ext cx="105510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报告生成工具：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job-search-report技能（简历提取、岗位检索、数据分析、图表生成）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2975" y="2990404"/>
            <a:ext cx="1055103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数据更新频率：</a:t>
            </a:r>
            <a:pPr algn="l" indent="0" marL="0">
              <a:lnSpc>
                <a:spcPts val="192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建议每月更新一次岗位数据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2026-01-08T09:22:11Z</dcterms:created>
  <dcterms:modified xsi:type="dcterms:W3CDTF">2026-01-08T09:22:11Z</dcterms:modified>
</cp:coreProperties>
</file>
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0"/>
            <a:ext cx="11049000" cy="76970186"/>
          </a:xfrm>
          <a:prstGeom prst="roundRect">
            <a:avLst>
              <a:gd name="adj" fmla="val 6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952500" y="381000"/>
            <a:ext cx="10492740" cy="550515"/>
          </a:xfrm>
          <a:prstGeom prst="rect">
            <a:avLst/>
          </a:prstGeom>
          <a:noFill/>
          <a:ln/>
        </p:spPr>
        <p:txBody>
          <a:bodyPr wrap="square" lIns="0" tIns="0" rIns="0" bIns="95250" rtlCol="0" anchor="t"/>
          <a:lstStyle/>
          <a:p>
            <a:pPr algn="l" indent="0" marL="0">
              <a:lnSpc>
                <a:spcPts val="3360"/>
              </a:lnSpc>
              <a:spcAft>
                <a:spcPts val="750"/>
              </a:spcAft>
              <a:buNone/>
            </a:pPr>
            <a:r>
              <a:rPr lang="en-US" sz="2100" dirty="0">
                <a:solidFill>
                  <a:srgbClr val="2C3E50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个人就业岗位检索与匹配报告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1026765"/>
            <a:ext cx="10287000" cy="1138833"/>
          </a:xfrm>
          <a:prstGeom prst="roundRect">
            <a:avLst>
              <a:gd name="adj" fmla="val 4182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952500" y="1026765"/>
            <a:ext cx="10492740" cy="1138833"/>
          </a:xfrm>
          <a:prstGeom prst="rect">
            <a:avLst/>
          </a:prstGeom>
          <a:noFill/>
          <a:ln/>
        </p:spPr>
        <p:txBody>
          <a:bodyPr wrap="square" lIns="142875" tIns="142875" rIns="142875" bIns="142875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简历来源：</a:t>
            </a:r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个人就业/学生简历.docx</a:t>
            </a:r>
            <a:endParaRPr lang="en-US" sz="105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105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报告日期：</a:t>
            </a:r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2026-01-07</a:t>
            </a:r>
            <a:endParaRPr lang="en-US" sz="105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105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目标岗位：</a:t>
            </a:r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WEB工程师</a:t>
            </a:r>
            <a:endParaRPr lang="en-US" sz="105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105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目标城市：</a:t>
            </a:r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杭州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952500" y="2546598"/>
            <a:ext cx="10492740" cy="335161"/>
          </a:xfrm>
          <a:prstGeom prst="rect">
            <a:avLst/>
          </a:prstGeom>
          <a:noFill/>
          <a:ln/>
        </p:spPr>
        <p:txBody>
          <a:bodyPr wrap="square" lIns="142875" tIns="0" rIns="0" bIns="0" rtlCol="0" anchor="t"/>
          <a:lstStyle/>
          <a:p>
            <a:pPr algn="l" indent="0" marL="0">
              <a:lnSpc>
                <a:spcPts val="2640"/>
              </a:lnSpc>
              <a:spcBef>
                <a:spcPts val="3000"/>
              </a:spcBef>
              <a:spcAft>
                <a:spcPts val="1500"/>
              </a:spcAft>
              <a:buNone/>
            </a:pPr>
            <a:r>
              <a:rPr lang="en-US" sz="1650" dirty="0">
                <a:solidFill>
                  <a:srgbClr val="34495E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一、结论摘要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190625" y="3081784"/>
            <a:ext cx="1024985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推荐岗位数量：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从Boss直聘和智联招聘共检索到35个岗位，其中高匹配度（≥80分）岗位8个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90625" y="3420814"/>
            <a:ext cx="1024985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高匹配（≥80）岗位：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8个，主要为校招、实习、经验不限类岗位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90625" y="3759845"/>
            <a:ext cx="1024985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主要短板与建议：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428750" y="4003625"/>
            <a:ext cx="1000696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大部分岗位要求1-3年及以上经验，应届生可选择范围有限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428750" y="4342656"/>
            <a:ext cx="1000696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缺少TypeScript、Node.js深度使用经验、React Native、前端工程化等高级技能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428750" y="4681686"/>
            <a:ext cx="1000696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建议优先投递校招岗位，同时补齐前端工程化、TypeScript等技能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52500" y="5296942"/>
            <a:ext cx="10492740" cy="335161"/>
          </a:xfrm>
          <a:prstGeom prst="rect">
            <a:avLst/>
          </a:prstGeom>
          <a:noFill/>
          <a:ln/>
        </p:spPr>
        <p:txBody>
          <a:bodyPr wrap="square" lIns="142875" tIns="0" rIns="0" bIns="0" rtlCol="0" anchor="t"/>
          <a:lstStyle/>
          <a:p>
            <a:pPr algn="l" indent="0" marL="0">
              <a:lnSpc>
                <a:spcPts val="2640"/>
              </a:lnSpc>
              <a:spcBef>
                <a:spcPts val="3000"/>
              </a:spcBef>
              <a:spcAft>
                <a:spcPts val="1500"/>
              </a:spcAft>
              <a:buNone/>
            </a:pPr>
            <a:r>
              <a:rPr lang="en-US" sz="1650" dirty="0">
                <a:solidFill>
                  <a:srgbClr val="34495E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二、候选人画像摘要</a:t>
            </a:r>
            <a:endParaRPr lang="en-US" sz="1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0"/>
            <a:ext cx="1049274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2250"/>
              </a:spcBef>
              <a:spcAft>
                <a:spcPts val="1125"/>
              </a:spcAft>
              <a:buNone/>
            </a:pPr>
            <a:r>
              <a:rPr lang="en-US" sz="1350" dirty="0">
                <a:solidFill>
                  <a:srgbClr val="2C3E50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基本信息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1190625" y="426690"/>
            <a:ext cx="1024985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姓名：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张明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90625" y="765721"/>
            <a:ext cx="1024985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学校：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温州大学 · 计算机科学与技术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90625" y="1104751"/>
            <a:ext cx="1024985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学历：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工学学士（2026年6月毕业）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90625" y="1443782"/>
            <a:ext cx="1024985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求职状态：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应届毕业生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52500" y="1963787"/>
            <a:ext cx="1049274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2250"/>
              </a:spcBef>
              <a:spcAft>
                <a:spcPts val="1125"/>
              </a:spcAft>
              <a:buNone/>
            </a:pPr>
            <a:r>
              <a:rPr lang="en-US" sz="1350" dirty="0">
                <a:solidFill>
                  <a:srgbClr val="2C3E50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核心技能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190625" y="2390477"/>
            <a:ext cx="1024985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编程语言：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Java（面向对象/集合框架）、Python（数据处理）、JavaScript（基础+ES6）、C++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90625" y="2729508"/>
            <a:ext cx="1024985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Web开发：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HTML/CSS/JavaScript、React（基础）、Spring Boot（基础）、RESTful API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90625" y="3068538"/>
            <a:ext cx="1024985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数据库：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MySQL（增删改查/优化）、MongoDB（基础）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90625" y="3407569"/>
            <a:ext cx="1024985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工程工具：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Git、敏捷开发、软件测试基础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90625" y="3746599"/>
            <a:ext cx="1024985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其他：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微信小程序开发（基础）、云计算/深度学习（概念）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52500" y="4266605"/>
            <a:ext cx="1049274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2250"/>
              </a:spcBef>
              <a:spcAft>
                <a:spcPts val="1125"/>
              </a:spcAft>
              <a:buNone/>
            </a:pPr>
            <a:r>
              <a:rPr lang="en-US" sz="1350" dirty="0">
                <a:solidFill>
                  <a:srgbClr val="2C3E50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项目/实习亮点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190625" y="4693295"/>
            <a:ext cx="1024985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电商平台原型开发：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Spring Boot + React + MySQL，实践前后端交互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90625" y="5032325"/>
            <a:ext cx="1024985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微信校园资讯小程序：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独立开发，掌握移动端开发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90625" y="5371356"/>
            <a:ext cx="1024985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校园二手平台：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核心成员，获校级大赛入围奖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90625" y="5710386"/>
            <a:ext cx="1024985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实习经历：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XX软件公司开发实习生（2025.07-2025.09），维护OA系统，学习企业级Java开发规范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0"/>
            <a:ext cx="1049274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2250"/>
              </a:spcBef>
              <a:spcAft>
                <a:spcPts val="1125"/>
              </a:spcAft>
              <a:buNone/>
            </a:pPr>
            <a:r>
              <a:rPr lang="en-US" sz="1350" dirty="0">
                <a:solidFill>
                  <a:srgbClr val="2C3E50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目标岗位与城市偏好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1190625" y="426690"/>
            <a:ext cx="1024985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目标岗位：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WEB工程师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90625" y="765721"/>
            <a:ext cx="1024985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目标城市：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杭州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90625" y="1104751"/>
            <a:ext cx="1024985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薪资偏好：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应届生标准（未明确）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52500" y="1720007"/>
            <a:ext cx="10492740" cy="335161"/>
          </a:xfrm>
          <a:prstGeom prst="rect">
            <a:avLst/>
          </a:prstGeom>
          <a:noFill/>
          <a:ln/>
        </p:spPr>
        <p:txBody>
          <a:bodyPr wrap="square" lIns="142875" tIns="0" rIns="0" bIns="0" rtlCol="0" anchor="t"/>
          <a:lstStyle/>
          <a:p>
            <a:pPr algn="l" indent="0" marL="0">
              <a:lnSpc>
                <a:spcPts val="2640"/>
              </a:lnSpc>
              <a:spcBef>
                <a:spcPts val="3000"/>
              </a:spcBef>
              <a:spcAft>
                <a:spcPts val="1500"/>
              </a:spcAft>
              <a:buNone/>
            </a:pPr>
            <a:r>
              <a:rPr lang="en-US" sz="1650" dirty="0">
                <a:solidFill>
                  <a:srgbClr val="34495E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三、岗位检索概况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52500" y="2340918"/>
            <a:ext cx="1049274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2250"/>
              </a:spcBef>
              <a:spcAft>
                <a:spcPts val="1125"/>
              </a:spcAft>
              <a:buNone/>
            </a:pPr>
            <a:r>
              <a:rPr lang="en-US" sz="1350" dirty="0">
                <a:solidFill>
                  <a:srgbClr val="2C3E50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检索范围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190625" y="2767608"/>
            <a:ext cx="1024985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Boss直聘：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19个岗位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90625" y="3106638"/>
            <a:ext cx="1024985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智联招聘：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16个岗位（含少量猎聘转岗）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90625" y="3445669"/>
            <a:ext cx="1024985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检索关键词：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428750" y="3689449"/>
            <a:ext cx="1000696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"杭州 WEB工程师 前端开发 Java React Boss直聘"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428750" y="4028480"/>
            <a:ext cx="1000696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"杭州 WEB工程师 前端开发 Java React 智联招聘"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90625" y="4367510"/>
            <a:ext cx="1024985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筛选条件：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地区=杭州，岗位=WEB前端/前端开发，技能=React/Java/JavaScript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0"/>
            <a:ext cx="1049274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2250"/>
              </a:spcBef>
              <a:spcAft>
                <a:spcPts val="1125"/>
              </a:spcAft>
              <a:buNone/>
            </a:pPr>
            <a:r>
              <a:rPr lang="en-US" sz="1350" dirty="0">
                <a:solidFill>
                  <a:srgbClr val="2C3E50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岗位特点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1190625" y="426690"/>
            <a:ext cx="1024985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公司类型：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大厂（阿里、网易、蚂蚁、海康威视、天猫）+ 中型科技公司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90625" y="765721"/>
            <a:ext cx="1024985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经验要求：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应届生/校招（2个）、经验不限（3个）、1年以内（1个）、1-3年（8个）、3-5年（13个）、5-10年（6个）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90625" y="1104751"/>
            <a:ext cx="1024985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薪资范围：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5k-8k（1个）、8k-11k（1个）、11k-20k（3个）、12k-18k（3个）、15k-25k（2个）、18k-35k（3个）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90625" y="1443782"/>
            <a:ext cx="1024985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学历要求：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本科为主（25个），大专（3个），硕士（1个），未说明（6个）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90625" y="1782812"/>
            <a:ext cx="1024985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主要技术栈：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React、Vue、JavaScript、HTML/CSS、Node.js、Java、TypeScript、前端工程化工具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52500" y="2398068"/>
            <a:ext cx="10492740" cy="335161"/>
          </a:xfrm>
          <a:prstGeom prst="rect">
            <a:avLst/>
          </a:prstGeom>
          <a:noFill/>
          <a:ln/>
        </p:spPr>
        <p:txBody>
          <a:bodyPr wrap="square" lIns="142875" tIns="0" rIns="0" bIns="0" rtlCol="0" anchor="t"/>
          <a:lstStyle/>
          <a:p>
            <a:pPr algn="l" indent="0" marL="0">
              <a:lnSpc>
                <a:spcPts val="2640"/>
              </a:lnSpc>
              <a:spcBef>
                <a:spcPts val="3000"/>
              </a:spcBef>
              <a:spcAft>
                <a:spcPts val="1500"/>
              </a:spcAft>
              <a:buNone/>
            </a:pPr>
            <a:r>
              <a:rPr lang="en-US" sz="1650" dirty="0">
                <a:solidFill>
                  <a:srgbClr val="34495E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四、岗位匹配与推荐</a:t>
            </a:r>
            <a:endParaRPr lang="en-US" sz="1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0"/>
            <a:ext cx="1049274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2250"/>
              </a:spcBef>
              <a:spcAft>
                <a:spcPts val="1125"/>
              </a:spcAft>
              <a:buNone/>
            </a:pPr>
            <a:r>
              <a:rPr lang="en-US" sz="1350" dirty="0">
                <a:solidFill>
                  <a:srgbClr val="2C3E50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4.1 推荐岗位清单（Top 10）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957263" y="469553"/>
            <a:ext cx="544264" cy="436215"/>
          </a:xfrm>
          <a:prstGeom prst="rect">
            <a:avLst/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957263" y="474315"/>
            <a:ext cx="544264" cy="9144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96764" y="469553"/>
            <a:ext cx="9144" cy="436215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57263" y="901005"/>
            <a:ext cx="544264" cy="9144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2025" y="469553"/>
            <a:ext cx="9144" cy="436215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57263" y="469553"/>
            <a:ext cx="555150" cy="436215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排名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1501527" y="469553"/>
            <a:ext cx="2579489" cy="436215"/>
          </a:xfrm>
          <a:prstGeom prst="rect">
            <a:avLst/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1501527" y="474315"/>
            <a:ext cx="2579489" cy="9144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076254" y="469553"/>
            <a:ext cx="9144" cy="436215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501527" y="901005"/>
            <a:ext cx="2579489" cy="9144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506289" y="469553"/>
            <a:ext cx="9144" cy="436215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501527" y="469553"/>
            <a:ext cx="2631079" cy="436215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公司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4081016" y="469553"/>
            <a:ext cx="2395686" cy="436215"/>
          </a:xfrm>
          <a:prstGeom prst="rect">
            <a:avLst/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4081016" y="474315"/>
            <a:ext cx="2395686" cy="9144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71940" y="469553"/>
            <a:ext cx="9144" cy="436215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081016" y="901005"/>
            <a:ext cx="2395686" cy="9144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085779" y="469553"/>
            <a:ext cx="9144" cy="436215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081016" y="469553"/>
            <a:ext cx="2443600" cy="436215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岗位</a:t>
            </a:r>
            <a:endParaRPr lang="en-US" sz="975" dirty="0"/>
          </a:p>
        </p:txBody>
      </p:sp>
      <p:sp>
        <p:nvSpPr>
          <p:cNvPr id="21" name="Text 19"/>
          <p:cNvSpPr/>
          <p:nvPr/>
        </p:nvSpPr>
        <p:spPr>
          <a:xfrm>
            <a:off x="6476702" y="469553"/>
            <a:ext cx="1104751" cy="436215"/>
          </a:xfrm>
          <a:prstGeom prst="rect">
            <a:avLst/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6476702" y="474315"/>
            <a:ext cx="1104751" cy="9144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576691" y="469553"/>
            <a:ext cx="9144" cy="436215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76702" y="901005"/>
            <a:ext cx="1104751" cy="9144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81465" y="469553"/>
            <a:ext cx="9144" cy="436215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76702" y="469553"/>
            <a:ext cx="1126846" cy="436215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薪资</a:t>
            </a:r>
            <a:endParaRPr lang="en-US" sz="975" dirty="0"/>
          </a:p>
        </p:txBody>
      </p:sp>
      <p:sp>
        <p:nvSpPr>
          <p:cNvPr id="27" name="Text 25"/>
          <p:cNvSpPr/>
          <p:nvPr/>
        </p:nvSpPr>
        <p:spPr>
          <a:xfrm>
            <a:off x="7581454" y="469553"/>
            <a:ext cx="960537" cy="436215"/>
          </a:xfrm>
          <a:prstGeom prst="rect">
            <a:avLst/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7581454" y="474315"/>
            <a:ext cx="960537" cy="9144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537228" y="469553"/>
            <a:ext cx="9144" cy="436215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581454" y="901005"/>
            <a:ext cx="960537" cy="9144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586216" y="469553"/>
            <a:ext cx="9144" cy="436215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1454" y="469553"/>
            <a:ext cx="979747" cy="436215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经验</a:t>
            </a:r>
            <a:endParaRPr lang="en-US" sz="975" dirty="0"/>
          </a:p>
        </p:txBody>
      </p:sp>
      <p:sp>
        <p:nvSpPr>
          <p:cNvPr id="33" name="Text 31"/>
          <p:cNvSpPr/>
          <p:nvPr/>
        </p:nvSpPr>
        <p:spPr>
          <a:xfrm>
            <a:off x="8541990" y="469553"/>
            <a:ext cx="544264" cy="436215"/>
          </a:xfrm>
          <a:prstGeom prst="rect">
            <a:avLst/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Shape 32"/>
          <p:cNvSpPr/>
          <p:nvPr/>
        </p:nvSpPr>
        <p:spPr>
          <a:xfrm>
            <a:off x="8541990" y="474315"/>
            <a:ext cx="544264" cy="9144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081492" y="469553"/>
            <a:ext cx="9144" cy="436215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541990" y="901005"/>
            <a:ext cx="544264" cy="9144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546753" y="469553"/>
            <a:ext cx="9144" cy="436215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541990" y="469553"/>
            <a:ext cx="555150" cy="436215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学历</a:t>
            </a:r>
            <a:endParaRPr lang="en-US" sz="975" dirty="0"/>
          </a:p>
        </p:txBody>
      </p:sp>
      <p:sp>
        <p:nvSpPr>
          <p:cNvPr id="39" name="Text 37"/>
          <p:cNvSpPr/>
          <p:nvPr/>
        </p:nvSpPr>
        <p:spPr>
          <a:xfrm>
            <a:off x="9086255" y="469553"/>
            <a:ext cx="920204" cy="436215"/>
          </a:xfrm>
          <a:prstGeom prst="rect">
            <a:avLst/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Shape 38"/>
          <p:cNvSpPr/>
          <p:nvPr/>
        </p:nvSpPr>
        <p:spPr>
          <a:xfrm>
            <a:off x="9086255" y="474315"/>
            <a:ext cx="920204" cy="9144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001696" y="469553"/>
            <a:ext cx="9144" cy="436215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086255" y="901005"/>
            <a:ext cx="920204" cy="9144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091017" y="469553"/>
            <a:ext cx="9144" cy="436215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086255" y="469553"/>
            <a:ext cx="938608" cy="436215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平台</a:t>
            </a:r>
            <a:endParaRPr lang="en-US" sz="975" dirty="0"/>
          </a:p>
        </p:txBody>
      </p:sp>
      <p:sp>
        <p:nvSpPr>
          <p:cNvPr id="45" name="Text 43"/>
          <p:cNvSpPr/>
          <p:nvPr/>
        </p:nvSpPr>
        <p:spPr>
          <a:xfrm>
            <a:off x="10006459" y="469553"/>
            <a:ext cx="683121" cy="436215"/>
          </a:xfrm>
          <a:prstGeom prst="rect">
            <a:avLst/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Shape 44"/>
          <p:cNvSpPr/>
          <p:nvPr/>
        </p:nvSpPr>
        <p:spPr>
          <a:xfrm>
            <a:off x="10006459" y="474315"/>
            <a:ext cx="683121" cy="9144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0684818" y="469553"/>
            <a:ext cx="9144" cy="436215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0006459" y="901005"/>
            <a:ext cx="683121" cy="9144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0011221" y="469553"/>
            <a:ext cx="9144" cy="436215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0006459" y="469553"/>
            <a:ext cx="696784" cy="436215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匹配度</a:t>
            </a:r>
            <a:endParaRPr lang="en-US" sz="975" dirty="0"/>
          </a:p>
        </p:txBody>
      </p:sp>
      <p:sp>
        <p:nvSpPr>
          <p:cNvPr id="51" name="Text 49"/>
          <p:cNvSpPr/>
          <p:nvPr/>
        </p:nvSpPr>
        <p:spPr>
          <a:xfrm>
            <a:off x="10689580" y="469553"/>
            <a:ext cx="545157" cy="436215"/>
          </a:xfrm>
          <a:prstGeom prst="rect">
            <a:avLst/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Shape 50"/>
          <p:cNvSpPr/>
          <p:nvPr/>
        </p:nvSpPr>
        <p:spPr>
          <a:xfrm>
            <a:off x="10689580" y="474315"/>
            <a:ext cx="545157" cy="9144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1229975" y="469553"/>
            <a:ext cx="9144" cy="436215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0689580" y="901005"/>
            <a:ext cx="545157" cy="9144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0694343" y="469553"/>
            <a:ext cx="9144" cy="436215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0689580" y="469553"/>
            <a:ext cx="556061" cy="436215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链接</a:t>
            </a:r>
            <a:endParaRPr lang="en-US" sz="975" dirty="0"/>
          </a:p>
        </p:txBody>
      </p:sp>
      <p:sp>
        <p:nvSpPr>
          <p:cNvPr id="57" name="Shape 55"/>
          <p:cNvSpPr/>
          <p:nvPr/>
        </p:nvSpPr>
        <p:spPr>
          <a:xfrm>
            <a:off x="957263" y="910530"/>
            <a:ext cx="544264" cy="9144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496764" y="905768"/>
            <a:ext cx="9144" cy="436215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957263" y="1337221"/>
            <a:ext cx="544264" cy="9144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962025" y="905768"/>
            <a:ext cx="9144" cy="436215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957263" y="905768"/>
            <a:ext cx="555150" cy="436215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975" dirty="0"/>
          </a:p>
        </p:txBody>
      </p:sp>
      <p:sp>
        <p:nvSpPr>
          <p:cNvPr id="62" name="Shape 60"/>
          <p:cNvSpPr/>
          <p:nvPr/>
        </p:nvSpPr>
        <p:spPr>
          <a:xfrm>
            <a:off x="1501527" y="910530"/>
            <a:ext cx="2579489" cy="9144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076254" y="905768"/>
            <a:ext cx="9144" cy="436215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501527" y="1337221"/>
            <a:ext cx="2579489" cy="9144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506289" y="905768"/>
            <a:ext cx="9144" cy="436215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501527" y="905768"/>
            <a:ext cx="2631079" cy="436215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海康威视</a:t>
            </a:r>
            <a:endParaRPr lang="en-US" sz="975" dirty="0"/>
          </a:p>
        </p:txBody>
      </p:sp>
      <p:sp>
        <p:nvSpPr>
          <p:cNvPr id="67" name="Shape 65"/>
          <p:cNvSpPr/>
          <p:nvPr/>
        </p:nvSpPr>
        <p:spPr>
          <a:xfrm>
            <a:off x="4081016" y="910530"/>
            <a:ext cx="2395686" cy="9144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471940" y="905768"/>
            <a:ext cx="9144" cy="436215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081016" y="1337221"/>
            <a:ext cx="2395686" cy="9144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4085779" y="905768"/>
            <a:ext cx="9144" cy="436215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081016" y="905768"/>
            <a:ext cx="2443600" cy="436215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研究院-Web前端开发工程师(校招)</a:t>
            </a:r>
            <a:endParaRPr lang="en-US" sz="975" dirty="0"/>
          </a:p>
        </p:txBody>
      </p:sp>
      <p:sp>
        <p:nvSpPr>
          <p:cNvPr id="72" name="Shape 70"/>
          <p:cNvSpPr/>
          <p:nvPr/>
        </p:nvSpPr>
        <p:spPr>
          <a:xfrm>
            <a:off x="6476702" y="910530"/>
            <a:ext cx="1104751" cy="9144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7576691" y="905768"/>
            <a:ext cx="9144" cy="436215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6476702" y="1337221"/>
            <a:ext cx="1104751" cy="9144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6481465" y="905768"/>
            <a:ext cx="9144" cy="436215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476702" y="905768"/>
            <a:ext cx="1126846" cy="436215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未说明</a:t>
            </a:r>
            <a:endParaRPr lang="en-US" sz="975" dirty="0"/>
          </a:p>
        </p:txBody>
      </p:sp>
      <p:sp>
        <p:nvSpPr>
          <p:cNvPr id="77" name="Shape 75"/>
          <p:cNvSpPr/>
          <p:nvPr/>
        </p:nvSpPr>
        <p:spPr>
          <a:xfrm>
            <a:off x="7581454" y="910530"/>
            <a:ext cx="960537" cy="9144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8537228" y="905768"/>
            <a:ext cx="9144" cy="436215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7581454" y="1337221"/>
            <a:ext cx="960537" cy="9144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7586216" y="905768"/>
            <a:ext cx="9144" cy="436215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7581454" y="905768"/>
            <a:ext cx="979747" cy="436215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校招应届生</a:t>
            </a:r>
            <a:endParaRPr lang="en-US" sz="975" dirty="0"/>
          </a:p>
        </p:txBody>
      </p:sp>
      <p:sp>
        <p:nvSpPr>
          <p:cNvPr id="82" name="Shape 80"/>
          <p:cNvSpPr/>
          <p:nvPr/>
        </p:nvSpPr>
        <p:spPr>
          <a:xfrm>
            <a:off x="8541990" y="910530"/>
            <a:ext cx="544264" cy="9144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9081492" y="905768"/>
            <a:ext cx="9144" cy="436215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8541990" y="1337221"/>
            <a:ext cx="544264" cy="9144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8546753" y="905768"/>
            <a:ext cx="9144" cy="436215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8541990" y="905768"/>
            <a:ext cx="555150" cy="436215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本科</a:t>
            </a:r>
            <a:endParaRPr lang="en-US" sz="975" dirty="0"/>
          </a:p>
        </p:txBody>
      </p:sp>
      <p:sp>
        <p:nvSpPr>
          <p:cNvPr id="87" name="Shape 85"/>
          <p:cNvSpPr/>
          <p:nvPr/>
        </p:nvSpPr>
        <p:spPr>
          <a:xfrm>
            <a:off x="9086255" y="910530"/>
            <a:ext cx="920204" cy="9144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10001696" y="905768"/>
            <a:ext cx="9144" cy="436215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9086255" y="1337221"/>
            <a:ext cx="920204" cy="9144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9091017" y="905768"/>
            <a:ext cx="9144" cy="436215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9086255" y="905768"/>
            <a:ext cx="938608" cy="436215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BOSS直聘</a:t>
            </a:r>
            <a:endParaRPr lang="en-US" sz="975" dirty="0"/>
          </a:p>
        </p:txBody>
      </p:sp>
      <p:sp>
        <p:nvSpPr>
          <p:cNvPr id="92" name="Shape 90"/>
          <p:cNvSpPr/>
          <p:nvPr/>
        </p:nvSpPr>
        <p:spPr>
          <a:xfrm>
            <a:off x="10006459" y="910530"/>
            <a:ext cx="683121" cy="9144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10684818" y="905768"/>
            <a:ext cx="9144" cy="436215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10006459" y="1337221"/>
            <a:ext cx="683121" cy="9144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10011221" y="905768"/>
            <a:ext cx="9144" cy="436215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10006459" y="905768"/>
            <a:ext cx="696784" cy="436215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27AE60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92</a:t>
            </a:r>
            <a:endParaRPr lang="en-US" sz="975" dirty="0"/>
          </a:p>
        </p:txBody>
      </p:sp>
      <p:sp>
        <p:nvSpPr>
          <p:cNvPr id="97" name="Shape 95"/>
          <p:cNvSpPr/>
          <p:nvPr/>
        </p:nvSpPr>
        <p:spPr>
          <a:xfrm>
            <a:off x="10689580" y="910530"/>
            <a:ext cx="545157" cy="9144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11229975" y="905768"/>
            <a:ext cx="9144" cy="436215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10689580" y="1337221"/>
            <a:ext cx="545157" cy="9144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10694343" y="905768"/>
            <a:ext cx="9144" cy="436215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10689580" y="905768"/>
            <a:ext cx="556061" cy="436215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链接</a:t>
            </a:r>
            <a:endParaRPr lang="en-US" sz="975" dirty="0"/>
          </a:p>
        </p:txBody>
      </p:sp>
      <p:sp>
        <p:nvSpPr>
          <p:cNvPr id="102" name="Text 100"/>
          <p:cNvSpPr/>
          <p:nvPr/>
        </p:nvSpPr>
        <p:spPr>
          <a:xfrm>
            <a:off x="957263" y="1341983"/>
            <a:ext cx="544264" cy="436215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3" name="Shape 101"/>
          <p:cNvSpPr/>
          <p:nvPr/>
        </p:nvSpPr>
        <p:spPr>
          <a:xfrm>
            <a:off x="957263" y="1346746"/>
            <a:ext cx="544264" cy="9144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1496764" y="1341983"/>
            <a:ext cx="9144" cy="436215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957263" y="1773436"/>
            <a:ext cx="544264" cy="9144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962025" y="1341983"/>
            <a:ext cx="9144" cy="436215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957263" y="1341983"/>
            <a:ext cx="555150" cy="436215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975" dirty="0"/>
          </a:p>
        </p:txBody>
      </p:sp>
      <p:sp>
        <p:nvSpPr>
          <p:cNvPr id="108" name="Text 106"/>
          <p:cNvSpPr/>
          <p:nvPr/>
        </p:nvSpPr>
        <p:spPr>
          <a:xfrm>
            <a:off x="1501527" y="1341983"/>
            <a:ext cx="2579489" cy="436215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9" name="Shape 107"/>
          <p:cNvSpPr/>
          <p:nvPr/>
        </p:nvSpPr>
        <p:spPr>
          <a:xfrm>
            <a:off x="1501527" y="1346746"/>
            <a:ext cx="2579489" cy="9144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4076254" y="1341983"/>
            <a:ext cx="9144" cy="436215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1501527" y="1773436"/>
            <a:ext cx="2579489" cy="9144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1506289" y="1341983"/>
            <a:ext cx="9144" cy="436215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1501527" y="1341983"/>
            <a:ext cx="2631079" cy="436215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浙江天猫技术有限公司</a:t>
            </a:r>
            <a:endParaRPr lang="en-US" sz="975" dirty="0"/>
          </a:p>
        </p:txBody>
      </p:sp>
      <p:sp>
        <p:nvSpPr>
          <p:cNvPr id="114" name="Text 112"/>
          <p:cNvSpPr/>
          <p:nvPr/>
        </p:nvSpPr>
        <p:spPr>
          <a:xfrm>
            <a:off x="4081016" y="1341983"/>
            <a:ext cx="2395686" cy="436215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5" name="Shape 113"/>
          <p:cNvSpPr/>
          <p:nvPr/>
        </p:nvSpPr>
        <p:spPr>
          <a:xfrm>
            <a:off x="4081016" y="1346746"/>
            <a:ext cx="2395686" cy="9144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6471940" y="1341983"/>
            <a:ext cx="9144" cy="436215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4081016" y="1773436"/>
            <a:ext cx="2395686" cy="9144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4085779" y="1341983"/>
            <a:ext cx="9144" cy="436215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4081016" y="1341983"/>
            <a:ext cx="2443600" cy="436215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web前端开发工程师（实习）</a:t>
            </a:r>
            <a:endParaRPr lang="en-US" sz="975" dirty="0"/>
          </a:p>
        </p:txBody>
      </p:sp>
      <p:sp>
        <p:nvSpPr>
          <p:cNvPr id="120" name="Text 118"/>
          <p:cNvSpPr/>
          <p:nvPr/>
        </p:nvSpPr>
        <p:spPr>
          <a:xfrm>
            <a:off x="6476702" y="1341983"/>
            <a:ext cx="1104751" cy="436215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1" name="Shape 119"/>
          <p:cNvSpPr/>
          <p:nvPr/>
        </p:nvSpPr>
        <p:spPr>
          <a:xfrm>
            <a:off x="6476702" y="1346746"/>
            <a:ext cx="1104751" cy="9144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7576691" y="1341983"/>
            <a:ext cx="9144" cy="436215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6476702" y="1773436"/>
            <a:ext cx="1104751" cy="9144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6481465" y="1341983"/>
            <a:ext cx="9144" cy="436215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6476702" y="1341983"/>
            <a:ext cx="1126846" cy="436215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7.5k-8.8k/月</a:t>
            </a:r>
            <a:endParaRPr lang="en-US" sz="975" dirty="0"/>
          </a:p>
        </p:txBody>
      </p:sp>
      <p:sp>
        <p:nvSpPr>
          <p:cNvPr id="126" name="Text 124"/>
          <p:cNvSpPr/>
          <p:nvPr/>
        </p:nvSpPr>
        <p:spPr>
          <a:xfrm>
            <a:off x="7581454" y="1341983"/>
            <a:ext cx="960537" cy="436215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7" name="Shape 125"/>
          <p:cNvSpPr/>
          <p:nvPr/>
        </p:nvSpPr>
        <p:spPr>
          <a:xfrm>
            <a:off x="7581454" y="1346746"/>
            <a:ext cx="960537" cy="9144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8537228" y="1341983"/>
            <a:ext cx="9144" cy="436215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7581454" y="1773436"/>
            <a:ext cx="960537" cy="9144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7586216" y="1341983"/>
            <a:ext cx="9144" cy="436215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7581454" y="1341983"/>
            <a:ext cx="979747" cy="436215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实习</a:t>
            </a:r>
            <a:endParaRPr lang="en-US" sz="975" dirty="0"/>
          </a:p>
        </p:txBody>
      </p:sp>
      <p:sp>
        <p:nvSpPr>
          <p:cNvPr id="132" name="Text 130"/>
          <p:cNvSpPr/>
          <p:nvPr/>
        </p:nvSpPr>
        <p:spPr>
          <a:xfrm>
            <a:off x="8541990" y="1341983"/>
            <a:ext cx="544264" cy="436215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3" name="Shape 131"/>
          <p:cNvSpPr/>
          <p:nvPr/>
        </p:nvSpPr>
        <p:spPr>
          <a:xfrm>
            <a:off x="8541990" y="1346746"/>
            <a:ext cx="544264" cy="9144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9081492" y="1341983"/>
            <a:ext cx="9144" cy="436215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8541990" y="1773436"/>
            <a:ext cx="544264" cy="9144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8546753" y="1341983"/>
            <a:ext cx="9144" cy="436215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8541990" y="1341983"/>
            <a:ext cx="555150" cy="436215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本科</a:t>
            </a:r>
            <a:endParaRPr lang="en-US" sz="975" dirty="0"/>
          </a:p>
        </p:txBody>
      </p:sp>
      <p:sp>
        <p:nvSpPr>
          <p:cNvPr id="138" name="Text 136"/>
          <p:cNvSpPr/>
          <p:nvPr/>
        </p:nvSpPr>
        <p:spPr>
          <a:xfrm>
            <a:off x="9086255" y="1341983"/>
            <a:ext cx="920204" cy="436215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9" name="Shape 137"/>
          <p:cNvSpPr/>
          <p:nvPr/>
        </p:nvSpPr>
        <p:spPr>
          <a:xfrm>
            <a:off x="9086255" y="1346746"/>
            <a:ext cx="920204" cy="9144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10001696" y="1341983"/>
            <a:ext cx="9144" cy="436215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9086255" y="1773436"/>
            <a:ext cx="920204" cy="9144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9091017" y="1341983"/>
            <a:ext cx="9144" cy="436215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143" name="Text 141"/>
          <p:cNvSpPr/>
          <p:nvPr/>
        </p:nvSpPr>
        <p:spPr>
          <a:xfrm>
            <a:off x="9086255" y="1341983"/>
            <a:ext cx="938608" cy="436215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BOSS直聘</a:t>
            </a:r>
            <a:endParaRPr lang="en-US" sz="975" dirty="0"/>
          </a:p>
        </p:txBody>
      </p:sp>
      <p:sp>
        <p:nvSpPr>
          <p:cNvPr id="144" name="Text 142"/>
          <p:cNvSpPr/>
          <p:nvPr/>
        </p:nvSpPr>
        <p:spPr>
          <a:xfrm>
            <a:off x="10006459" y="1341983"/>
            <a:ext cx="683121" cy="436215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5" name="Shape 143"/>
          <p:cNvSpPr/>
          <p:nvPr/>
        </p:nvSpPr>
        <p:spPr>
          <a:xfrm>
            <a:off x="10006459" y="1346746"/>
            <a:ext cx="683121" cy="9144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10684818" y="1341983"/>
            <a:ext cx="9144" cy="436215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10006459" y="1773436"/>
            <a:ext cx="683121" cy="9144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10011221" y="1341983"/>
            <a:ext cx="9144" cy="436215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149" name="Text 147"/>
          <p:cNvSpPr/>
          <p:nvPr/>
        </p:nvSpPr>
        <p:spPr>
          <a:xfrm>
            <a:off x="10006459" y="1341983"/>
            <a:ext cx="696784" cy="436215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27AE60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90</a:t>
            </a:r>
            <a:endParaRPr lang="en-US" sz="975" dirty="0"/>
          </a:p>
        </p:txBody>
      </p:sp>
      <p:sp>
        <p:nvSpPr>
          <p:cNvPr id="150" name="Text 148"/>
          <p:cNvSpPr/>
          <p:nvPr/>
        </p:nvSpPr>
        <p:spPr>
          <a:xfrm>
            <a:off x="10689580" y="1341983"/>
            <a:ext cx="545157" cy="436215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1" name="Shape 149"/>
          <p:cNvSpPr/>
          <p:nvPr/>
        </p:nvSpPr>
        <p:spPr>
          <a:xfrm>
            <a:off x="10689580" y="1346746"/>
            <a:ext cx="545157" cy="9144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11229975" y="1341983"/>
            <a:ext cx="9144" cy="436215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10689580" y="1773436"/>
            <a:ext cx="545157" cy="9144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10694343" y="1341983"/>
            <a:ext cx="9144" cy="436215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155" name="Text 153"/>
          <p:cNvSpPr/>
          <p:nvPr/>
        </p:nvSpPr>
        <p:spPr>
          <a:xfrm>
            <a:off x="10689580" y="1341983"/>
            <a:ext cx="556061" cy="436215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链接</a:t>
            </a:r>
            <a:endParaRPr lang="en-US" sz="975" dirty="0"/>
          </a:p>
        </p:txBody>
      </p:sp>
      <p:sp>
        <p:nvSpPr>
          <p:cNvPr id="156" name="Shape 154"/>
          <p:cNvSpPr/>
          <p:nvPr/>
        </p:nvSpPr>
        <p:spPr>
          <a:xfrm>
            <a:off x="957263" y="1782961"/>
            <a:ext cx="544264" cy="9144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1496764" y="1778198"/>
            <a:ext cx="9144" cy="436215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957263" y="2209651"/>
            <a:ext cx="544264" cy="9144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962025" y="1778198"/>
            <a:ext cx="9144" cy="436215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160" name="Text 158"/>
          <p:cNvSpPr/>
          <p:nvPr/>
        </p:nvSpPr>
        <p:spPr>
          <a:xfrm>
            <a:off x="957263" y="1778198"/>
            <a:ext cx="555150" cy="436215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975" dirty="0"/>
          </a:p>
        </p:txBody>
      </p:sp>
      <p:sp>
        <p:nvSpPr>
          <p:cNvPr id="161" name="Shape 159"/>
          <p:cNvSpPr/>
          <p:nvPr/>
        </p:nvSpPr>
        <p:spPr>
          <a:xfrm>
            <a:off x="1501527" y="1782961"/>
            <a:ext cx="2579489" cy="9144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4076254" y="1778198"/>
            <a:ext cx="9144" cy="436215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1501527" y="2209651"/>
            <a:ext cx="2579489" cy="9144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1506289" y="1778198"/>
            <a:ext cx="9144" cy="436215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165" name="Text 163"/>
          <p:cNvSpPr/>
          <p:nvPr/>
        </p:nvSpPr>
        <p:spPr>
          <a:xfrm>
            <a:off x="1501527" y="1778198"/>
            <a:ext cx="2631079" cy="436215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浙江数维科技有限公司</a:t>
            </a:r>
            <a:endParaRPr lang="en-US" sz="975" dirty="0"/>
          </a:p>
        </p:txBody>
      </p:sp>
      <p:sp>
        <p:nvSpPr>
          <p:cNvPr id="166" name="Shape 164"/>
          <p:cNvSpPr/>
          <p:nvPr/>
        </p:nvSpPr>
        <p:spPr>
          <a:xfrm>
            <a:off x="4081016" y="1782961"/>
            <a:ext cx="2395686" cy="9144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6471940" y="1778198"/>
            <a:ext cx="9144" cy="436215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4081016" y="2209651"/>
            <a:ext cx="2395686" cy="9144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4085779" y="1778198"/>
            <a:ext cx="9144" cy="436215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170" name="Text 168"/>
          <p:cNvSpPr/>
          <p:nvPr/>
        </p:nvSpPr>
        <p:spPr>
          <a:xfrm>
            <a:off x="4081016" y="1778198"/>
            <a:ext cx="2443600" cy="436215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前端开发工程师</a:t>
            </a:r>
            <a:endParaRPr lang="en-US" sz="975" dirty="0"/>
          </a:p>
        </p:txBody>
      </p:sp>
      <p:sp>
        <p:nvSpPr>
          <p:cNvPr id="171" name="Shape 169"/>
          <p:cNvSpPr/>
          <p:nvPr/>
        </p:nvSpPr>
        <p:spPr>
          <a:xfrm>
            <a:off x="6476702" y="1782961"/>
            <a:ext cx="1104751" cy="9144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7576691" y="1778198"/>
            <a:ext cx="9144" cy="436215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6476702" y="2209651"/>
            <a:ext cx="1104751" cy="9144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6481465" y="1778198"/>
            <a:ext cx="9144" cy="436215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175" name="Text 173"/>
          <p:cNvSpPr/>
          <p:nvPr/>
        </p:nvSpPr>
        <p:spPr>
          <a:xfrm>
            <a:off x="6476702" y="1778198"/>
            <a:ext cx="1126846" cy="436215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8k-11k/月</a:t>
            </a:r>
            <a:endParaRPr lang="en-US" sz="975" dirty="0"/>
          </a:p>
        </p:txBody>
      </p:sp>
      <p:sp>
        <p:nvSpPr>
          <p:cNvPr id="176" name="Shape 174"/>
          <p:cNvSpPr/>
          <p:nvPr/>
        </p:nvSpPr>
        <p:spPr>
          <a:xfrm>
            <a:off x="7581454" y="1782961"/>
            <a:ext cx="960537" cy="9144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8537228" y="1778198"/>
            <a:ext cx="9144" cy="436215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7581454" y="2209651"/>
            <a:ext cx="960537" cy="9144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7586216" y="1778198"/>
            <a:ext cx="9144" cy="436215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180" name="Text 178"/>
          <p:cNvSpPr/>
          <p:nvPr/>
        </p:nvSpPr>
        <p:spPr>
          <a:xfrm>
            <a:off x="7581454" y="1778198"/>
            <a:ext cx="979747" cy="436215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经验不限</a:t>
            </a:r>
            <a:endParaRPr lang="en-US" sz="975" dirty="0"/>
          </a:p>
        </p:txBody>
      </p:sp>
      <p:sp>
        <p:nvSpPr>
          <p:cNvPr id="181" name="Shape 179"/>
          <p:cNvSpPr/>
          <p:nvPr/>
        </p:nvSpPr>
        <p:spPr>
          <a:xfrm>
            <a:off x="8541990" y="1782961"/>
            <a:ext cx="544264" cy="9144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9081492" y="1778198"/>
            <a:ext cx="9144" cy="436215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8541990" y="2209651"/>
            <a:ext cx="544264" cy="9144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8546753" y="1778198"/>
            <a:ext cx="9144" cy="436215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185" name="Text 183"/>
          <p:cNvSpPr/>
          <p:nvPr/>
        </p:nvSpPr>
        <p:spPr>
          <a:xfrm>
            <a:off x="8541990" y="1778198"/>
            <a:ext cx="555150" cy="436215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本科</a:t>
            </a:r>
            <a:endParaRPr lang="en-US" sz="975" dirty="0"/>
          </a:p>
        </p:txBody>
      </p:sp>
      <p:sp>
        <p:nvSpPr>
          <p:cNvPr id="186" name="Shape 184"/>
          <p:cNvSpPr/>
          <p:nvPr/>
        </p:nvSpPr>
        <p:spPr>
          <a:xfrm>
            <a:off x="9086255" y="1782961"/>
            <a:ext cx="920204" cy="9144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10001696" y="1778198"/>
            <a:ext cx="9144" cy="436215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9086255" y="2209651"/>
            <a:ext cx="920204" cy="9144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9091017" y="1778198"/>
            <a:ext cx="9144" cy="436215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190" name="Text 188"/>
          <p:cNvSpPr/>
          <p:nvPr/>
        </p:nvSpPr>
        <p:spPr>
          <a:xfrm>
            <a:off x="9086255" y="1778198"/>
            <a:ext cx="938608" cy="436215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智联招聘</a:t>
            </a:r>
            <a:endParaRPr lang="en-US" sz="975" dirty="0"/>
          </a:p>
        </p:txBody>
      </p:sp>
      <p:sp>
        <p:nvSpPr>
          <p:cNvPr id="191" name="Shape 189"/>
          <p:cNvSpPr/>
          <p:nvPr/>
        </p:nvSpPr>
        <p:spPr>
          <a:xfrm>
            <a:off x="10006459" y="1782961"/>
            <a:ext cx="683121" cy="9144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10684818" y="1778198"/>
            <a:ext cx="9144" cy="436215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10006459" y="2209651"/>
            <a:ext cx="683121" cy="9144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10011221" y="1778198"/>
            <a:ext cx="9144" cy="436215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195" name="Text 193"/>
          <p:cNvSpPr/>
          <p:nvPr/>
        </p:nvSpPr>
        <p:spPr>
          <a:xfrm>
            <a:off x="10006459" y="1778198"/>
            <a:ext cx="696784" cy="436215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27AE60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88</a:t>
            </a:r>
            <a:endParaRPr lang="en-US" sz="975" dirty="0"/>
          </a:p>
        </p:txBody>
      </p:sp>
      <p:sp>
        <p:nvSpPr>
          <p:cNvPr id="196" name="Shape 194"/>
          <p:cNvSpPr/>
          <p:nvPr/>
        </p:nvSpPr>
        <p:spPr>
          <a:xfrm>
            <a:off x="10689580" y="1782961"/>
            <a:ext cx="545157" cy="9144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11229975" y="1778198"/>
            <a:ext cx="9144" cy="436215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10689580" y="2209651"/>
            <a:ext cx="545157" cy="9144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10694343" y="1778198"/>
            <a:ext cx="9144" cy="436215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200" name="Text 198"/>
          <p:cNvSpPr/>
          <p:nvPr/>
        </p:nvSpPr>
        <p:spPr>
          <a:xfrm>
            <a:off x="10689580" y="1778198"/>
            <a:ext cx="556061" cy="436215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链接</a:t>
            </a:r>
            <a:endParaRPr lang="en-US" sz="975" dirty="0"/>
          </a:p>
        </p:txBody>
      </p:sp>
      <p:sp>
        <p:nvSpPr>
          <p:cNvPr id="201" name="Text 199"/>
          <p:cNvSpPr/>
          <p:nvPr/>
        </p:nvSpPr>
        <p:spPr>
          <a:xfrm>
            <a:off x="957263" y="2214414"/>
            <a:ext cx="544264" cy="436215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2" name="Shape 200"/>
          <p:cNvSpPr/>
          <p:nvPr/>
        </p:nvSpPr>
        <p:spPr>
          <a:xfrm>
            <a:off x="957263" y="2219176"/>
            <a:ext cx="544264" cy="9144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1496764" y="2214414"/>
            <a:ext cx="9144" cy="436215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957263" y="2645866"/>
            <a:ext cx="544264" cy="9144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962025" y="2214414"/>
            <a:ext cx="9144" cy="436215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206" name="Text 204"/>
          <p:cNvSpPr/>
          <p:nvPr/>
        </p:nvSpPr>
        <p:spPr>
          <a:xfrm>
            <a:off x="957263" y="2214414"/>
            <a:ext cx="555150" cy="436215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975" dirty="0"/>
          </a:p>
        </p:txBody>
      </p:sp>
      <p:sp>
        <p:nvSpPr>
          <p:cNvPr id="207" name="Text 205"/>
          <p:cNvSpPr/>
          <p:nvPr/>
        </p:nvSpPr>
        <p:spPr>
          <a:xfrm>
            <a:off x="1501527" y="2214414"/>
            <a:ext cx="2579489" cy="436215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8" name="Shape 206"/>
          <p:cNvSpPr/>
          <p:nvPr/>
        </p:nvSpPr>
        <p:spPr>
          <a:xfrm>
            <a:off x="1501527" y="2219176"/>
            <a:ext cx="2579489" cy="9144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4076254" y="2214414"/>
            <a:ext cx="9144" cy="436215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1501527" y="2645866"/>
            <a:ext cx="2579489" cy="9144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1506289" y="2214414"/>
            <a:ext cx="9144" cy="436215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212" name="Text 210"/>
          <p:cNvSpPr/>
          <p:nvPr/>
        </p:nvSpPr>
        <p:spPr>
          <a:xfrm>
            <a:off x="1501527" y="2214414"/>
            <a:ext cx="2631079" cy="436215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外企德科数字技术有限公司</a:t>
            </a:r>
            <a:endParaRPr lang="en-US" sz="975" dirty="0"/>
          </a:p>
        </p:txBody>
      </p:sp>
      <p:sp>
        <p:nvSpPr>
          <p:cNvPr id="213" name="Text 211"/>
          <p:cNvSpPr/>
          <p:nvPr/>
        </p:nvSpPr>
        <p:spPr>
          <a:xfrm>
            <a:off x="4081016" y="2214414"/>
            <a:ext cx="2395686" cy="436215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4" name="Shape 212"/>
          <p:cNvSpPr/>
          <p:nvPr/>
        </p:nvSpPr>
        <p:spPr>
          <a:xfrm>
            <a:off x="4081016" y="2219176"/>
            <a:ext cx="2395686" cy="9144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6471940" y="2214414"/>
            <a:ext cx="9144" cy="436215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4081016" y="2645866"/>
            <a:ext cx="2395686" cy="9144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4085779" y="2214414"/>
            <a:ext cx="9144" cy="436215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218" name="Text 216"/>
          <p:cNvSpPr/>
          <p:nvPr/>
        </p:nvSpPr>
        <p:spPr>
          <a:xfrm>
            <a:off x="4081016" y="2214414"/>
            <a:ext cx="2443600" cy="436215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软件研发工程师(前后端测试均有)</a:t>
            </a:r>
            <a:endParaRPr lang="en-US" sz="975" dirty="0"/>
          </a:p>
        </p:txBody>
      </p:sp>
      <p:sp>
        <p:nvSpPr>
          <p:cNvPr id="219" name="Text 217"/>
          <p:cNvSpPr/>
          <p:nvPr/>
        </p:nvSpPr>
        <p:spPr>
          <a:xfrm>
            <a:off x="6476702" y="2214414"/>
            <a:ext cx="1104751" cy="436215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0" name="Shape 218"/>
          <p:cNvSpPr/>
          <p:nvPr/>
        </p:nvSpPr>
        <p:spPr>
          <a:xfrm>
            <a:off x="6476702" y="2219176"/>
            <a:ext cx="1104751" cy="9144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7576691" y="2214414"/>
            <a:ext cx="9144" cy="436215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6476702" y="2645866"/>
            <a:ext cx="1104751" cy="9144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>
            <a:off x="6481465" y="2214414"/>
            <a:ext cx="9144" cy="436215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224" name="Text 222"/>
          <p:cNvSpPr/>
          <p:nvPr/>
        </p:nvSpPr>
        <p:spPr>
          <a:xfrm>
            <a:off x="6476702" y="2214414"/>
            <a:ext cx="1126846" cy="436215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18k-35k/月</a:t>
            </a:r>
            <a:endParaRPr lang="en-US" sz="975" dirty="0"/>
          </a:p>
        </p:txBody>
      </p:sp>
      <p:sp>
        <p:nvSpPr>
          <p:cNvPr id="225" name="Text 223"/>
          <p:cNvSpPr/>
          <p:nvPr/>
        </p:nvSpPr>
        <p:spPr>
          <a:xfrm>
            <a:off x="7581454" y="2214414"/>
            <a:ext cx="960537" cy="436215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6" name="Shape 224"/>
          <p:cNvSpPr/>
          <p:nvPr/>
        </p:nvSpPr>
        <p:spPr>
          <a:xfrm>
            <a:off x="7581454" y="2219176"/>
            <a:ext cx="960537" cy="9144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>
            <a:off x="8537228" y="2214414"/>
            <a:ext cx="9144" cy="436215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>
            <a:off x="7581454" y="2645866"/>
            <a:ext cx="960537" cy="9144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7586216" y="2214414"/>
            <a:ext cx="9144" cy="436215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230" name="Text 228"/>
          <p:cNvSpPr/>
          <p:nvPr/>
        </p:nvSpPr>
        <p:spPr>
          <a:xfrm>
            <a:off x="7581454" y="2214414"/>
            <a:ext cx="979747" cy="436215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经验不限</a:t>
            </a:r>
            <a:endParaRPr lang="en-US" sz="975" dirty="0"/>
          </a:p>
        </p:txBody>
      </p:sp>
      <p:sp>
        <p:nvSpPr>
          <p:cNvPr id="231" name="Text 229"/>
          <p:cNvSpPr/>
          <p:nvPr/>
        </p:nvSpPr>
        <p:spPr>
          <a:xfrm>
            <a:off x="8541990" y="2214414"/>
            <a:ext cx="544264" cy="436215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2" name="Shape 230"/>
          <p:cNvSpPr/>
          <p:nvPr/>
        </p:nvSpPr>
        <p:spPr>
          <a:xfrm>
            <a:off x="8541990" y="2219176"/>
            <a:ext cx="544264" cy="9144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233" name="Shape 231"/>
          <p:cNvSpPr/>
          <p:nvPr/>
        </p:nvSpPr>
        <p:spPr>
          <a:xfrm>
            <a:off x="9081492" y="2214414"/>
            <a:ext cx="9144" cy="436215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234" name="Shape 232"/>
          <p:cNvSpPr/>
          <p:nvPr/>
        </p:nvSpPr>
        <p:spPr>
          <a:xfrm>
            <a:off x="8541990" y="2645866"/>
            <a:ext cx="544264" cy="9144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>
            <a:off x="8546753" y="2214414"/>
            <a:ext cx="9144" cy="436215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236" name="Text 234"/>
          <p:cNvSpPr/>
          <p:nvPr/>
        </p:nvSpPr>
        <p:spPr>
          <a:xfrm>
            <a:off x="8541990" y="2214414"/>
            <a:ext cx="555150" cy="436215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本科</a:t>
            </a:r>
            <a:endParaRPr lang="en-US" sz="975" dirty="0"/>
          </a:p>
        </p:txBody>
      </p:sp>
      <p:sp>
        <p:nvSpPr>
          <p:cNvPr id="237" name="Text 235"/>
          <p:cNvSpPr/>
          <p:nvPr/>
        </p:nvSpPr>
        <p:spPr>
          <a:xfrm>
            <a:off x="9086255" y="2214414"/>
            <a:ext cx="920204" cy="436215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8" name="Shape 236"/>
          <p:cNvSpPr/>
          <p:nvPr/>
        </p:nvSpPr>
        <p:spPr>
          <a:xfrm>
            <a:off x="9086255" y="2219176"/>
            <a:ext cx="920204" cy="9144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239" name="Shape 237"/>
          <p:cNvSpPr/>
          <p:nvPr/>
        </p:nvSpPr>
        <p:spPr>
          <a:xfrm>
            <a:off x="10001696" y="2214414"/>
            <a:ext cx="9144" cy="436215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240" name="Shape 238"/>
          <p:cNvSpPr/>
          <p:nvPr/>
        </p:nvSpPr>
        <p:spPr>
          <a:xfrm>
            <a:off x="9086255" y="2645866"/>
            <a:ext cx="920204" cy="9144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241" name="Shape 239"/>
          <p:cNvSpPr/>
          <p:nvPr/>
        </p:nvSpPr>
        <p:spPr>
          <a:xfrm>
            <a:off x="9091017" y="2214414"/>
            <a:ext cx="9144" cy="436215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242" name="Text 240"/>
          <p:cNvSpPr/>
          <p:nvPr/>
        </p:nvSpPr>
        <p:spPr>
          <a:xfrm>
            <a:off x="9086255" y="2214414"/>
            <a:ext cx="938608" cy="436215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智联招聘</a:t>
            </a:r>
            <a:endParaRPr lang="en-US" sz="975" dirty="0"/>
          </a:p>
        </p:txBody>
      </p:sp>
      <p:sp>
        <p:nvSpPr>
          <p:cNvPr id="243" name="Text 241"/>
          <p:cNvSpPr/>
          <p:nvPr/>
        </p:nvSpPr>
        <p:spPr>
          <a:xfrm>
            <a:off x="10006459" y="2214414"/>
            <a:ext cx="683121" cy="436215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4" name="Shape 242"/>
          <p:cNvSpPr/>
          <p:nvPr/>
        </p:nvSpPr>
        <p:spPr>
          <a:xfrm>
            <a:off x="10006459" y="2219176"/>
            <a:ext cx="683121" cy="9144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245" name="Shape 243"/>
          <p:cNvSpPr/>
          <p:nvPr/>
        </p:nvSpPr>
        <p:spPr>
          <a:xfrm>
            <a:off x="10684818" y="2214414"/>
            <a:ext cx="9144" cy="436215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246" name="Shape 244"/>
          <p:cNvSpPr/>
          <p:nvPr/>
        </p:nvSpPr>
        <p:spPr>
          <a:xfrm>
            <a:off x="10006459" y="2645866"/>
            <a:ext cx="683121" cy="9144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247" name="Shape 245"/>
          <p:cNvSpPr/>
          <p:nvPr/>
        </p:nvSpPr>
        <p:spPr>
          <a:xfrm>
            <a:off x="10011221" y="2214414"/>
            <a:ext cx="9144" cy="436215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248" name="Text 246"/>
          <p:cNvSpPr/>
          <p:nvPr/>
        </p:nvSpPr>
        <p:spPr>
          <a:xfrm>
            <a:off x="10006459" y="2214414"/>
            <a:ext cx="696784" cy="436215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27AE60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85</a:t>
            </a:r>
            <a:endParaRPr lang="en-US" sz="975" dirty="0"/>
          </a:p>
        </p:txBody>
      </p:sp>
      <p:sp>
        <p:nvSpPr>
          <p:cNvPr id="249" name="Text 247"/>
          <p:cNvSpPr/>
          <p:nvPr/>
        </p:nvSpPr>
        <p:spPr>
          <a:xfrm>
            <a:off x="10689580" y="2214414"/>
            <a:ext cx="545157" cy="436215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0" name="Shape 248"/>
          <p:cNvSpPr/>
          <p:nvPr/>
        </p:nvSpPr>
        <p:spPr>
          <a:xfrm>
            <a:off x="10689580" y="2219176"/>
            <a:ext cx="545157" cy="9144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251" name="Shape 249"/>
          <p:cNvSpPr/>
          <p:nvPr/>
        </p:nvSpPr>
        <p:spPr>
          <a:xfrm>
            <a:off x="11229975" y="2214414"/>
            <a:ext cx="9144" cy="436215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252" name="Shape 250"/>
          <p:cNvSpPr/>
          <p:nvPr/>
        </p:nvSpPr>
        <p:spPr>
          <a:xfrm>
            <a:off x="10689580" y="2645866"/>
            <a:ext cx="545157" cy="9144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253" name="Shape 251"/>
          <p:cNvSpPr/>
          <p:nvPr/>
        </p:nvSpPr>
        <p:spPr>
          <a:xfrm>
            <a:off x="10694343" y="2214414"/>
            <a:ext cx="9144" cy="436215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254" name="Text 252"/>
          <p:cNvSpPr/>
          <p:nvPr/>
        </p:nvSpPr>
        <p:spPr>
          <a:xfrm>
            <a:off x="10689580" y="2214414"/>
            <a:ext cx="556061" cy="436215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链接</a:t>
            </a:r>
            <a:endParaRPr lang="en-US" sz="975" dirty="0"/>
          </a:p>
        </p:txBody>
      </p:sp>
      <p:sp>
        <p:nvSpPr>
          <p:cNvPr id="255" name="Shape 253"/>
          <p:cNvSpPr/>
          <p:nvPr/>
        </p:nvSpPr>
        <p:spPr>
          <a:xfrm>
            <a:off x="957263" y="2655391"/>
            <a:ext cx="544264" cy="9144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256" name="Shape 254"/>
          <p:cNvSpPr/>
          <p:nvPr/>
        </p:nvSpPr>
        <p:spPr>
          <a:xfrm>
            <a:off x="1496764" y="2650629"/>
            <a:ext cx="9144" cy="436215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257" name="Shape 255"/>
          <p:cNvSpPr/>
          <p:nvPr/>
        </p:nvSpPr>
        <p:spPr>
          <a:xfrm>
            <a:off x="957263" y="3082082"/>
            <a:ext cx="544264" cy="9144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258" name="Shape 256"/>
          <p:cNvSpPr/>
          <p:nvPr/>
        </p:nvSpPr>
        <p:spPr>
          <a:xfrm>
            <a:off x="962025" y="2650629"/>
            <a:ext cx="9144" cy="436215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259" name="Text 257"/>
          <p:cNvSpPr/>
          <p:nvPr/>
        </p:nvSpPr>
        <p:spPr>
          <a:xfrm>
            <a:off x="957263" y="2650629"/>
            <a:ext cx="555150" cy="436215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975" dirty="0"/>
          </a:p>
        </p:txBody>
      </p:sp>
      <p:sp>
        <p:nvSpPr>
          <p:cNvPr id="260" name="Shape 258"/>
          <p:cNvSpPr/>
          <p:nvPr/>
        </p:nvSpPr>
        <p:spPr>
          <a:xfrm>
            <a:off x="1501527" y="2655391"/>
            <a:ext cx="2579489" cy="9144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261" name="Shape 259"/>
          <p:cNvSpPr/>
          <p:nvPr/>
        </p:nvSpPr>
        <p:spPr>
          <a:xfrm>
            <a:off x="4076254" y="2650629"/>
            <a:ext cx="9144" cy="436215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262" name="Shape 260"/>
          <p:cNvSpPr/>
          <p:nvPr/>
        </p:nvSpPr>
        <p:spPr>
          <a:xfrm>
            <a:off x="1501527" y="3082082"/>
            <a:ext cx="2579489" cy="9144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263" name="Shape 261"/>
          <p:cNvSpPr/>
          <p:nvPr/>
        </p:nvSpPr>
        <p:spPr>
          <a:xfrm>
            <a:off x="1506289" y="2650629"/>
            <a:ext cx="9144" cy="436215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264" name="Text 262"/>
          <p:cNvSpPr/>
          <p:nvPr/>
        </p:nvSpPr>
        <p:spPr>
          <a:xfrm>
            <a:off x="1501527" y="2650629"/>
            <a:ext cx="2631079" cy="436215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杭州城市大脑有限公司</a:t>
            </a:r>
            <a:endParaRPr lang="en-US" sz="975" dirty="0"/>
          </a:p>
        </p:txBody>
      </p:sp>
      <p:sp>
        <p:nvSpPr>
          <p:cNvPr id="265" name="Shape 263"/>
          <p:cNvSpPr/>
          <p:nvPr/>
        </p:nvSpPr>
        <p:spPr>
          <a:xfrm>
            <a:off x="4081016" y="2655391"/>
            <a:ext cx="2395686" cy="9144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266" name="Shape 264"/>
          <p:cNvSpPr/>
          <p:nvPr/>
        </p:nvSpPr>
        <p:spPr>
          <a:xfrm>
            <a:off x="6471940" y="2650629"/>
            <a:ext cx="9144" cy="436215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267" name="Shape 265"/>
          <p:cNvSpPr/>
          <p:nvPr/>
        </p:nvSpPr>
        <p:spPr>
          <a:xfrm>
            <a:off x="4081016" y="3082082"/>
            <a:ext cx="2395686" cy="9144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268" name="Shape 266"/>
          <p:cNvSpPr/>
          <p:nvPr/>
        </p:nvSpPr>
        <p:spPr>
          <a:xfrm>
            <a:off x="4085779" y="2650629"/>
            <a:ext cx="9144" cy="436215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269" name="Text 267"/>
          <p:cNvSpPr/>
          <p:nvPr/>
        </p:nvSpPr>
        <p:spPr>
          <a:xfrm>
            <a:off x="4081016" y="2650629"/>
            <a:ext cx="2443600" cy="436215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初级前端开发工程师(react方向)</a:t>
            </a:r>
            <a:endParaRPr lang="en-US" sz="975" dirty="0"/>
          </a:p>
        </p:txBody>
      </p:sp>
      <p:sp>
        <p:nvSpPr>
          <p:cNvPr id="270" name="Shape 268"/>
          <p:cNvSpPr/>
          <p:nvPr/>
        </p:nvSpPr>
        <p:spPr>
          <a:xfrm>
            <a:off x="6476702" y="2655391"/>
            <a:ext cx="1104751" cy="9144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271" name="Shape 269"/>
          <p:cNvSpPr/>
          <p:nvPr/>
        </p:nvSpPr>
        <p:spPr>
          <a:xfrm>
            <a:off x="7576691" y="2650629"/>
            <a:ext cx="9144" cy="436215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272" name="Shape 270"/>
          <p:cNvSpPr/>
          <p:nvPr/>
        </p:nvSpPr>
        <p:spPr>
          <a:xfrm>
            <a:off x="6476702" y="3082082"/>
            <a:ext cx="1104751" cy="9144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273" name="Shape 271"/>
          <p:cNvSpPr/>
          <p:nvPr/>
        </p:nvSpPr>
        <p:spPr>
          <a:xfrm>
            <a:off x="6481465" y="2650629"/>
            <a:ext cx="9144" cy="436215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274" name="Text 272"/>
          <p:cNvSpPr/>
          <p:nvPr/>
        </p:nvSpPr>
        <p:spPr>
          <a:xfrm>
            <a:off x="6476702" y="2650629"/>
            <a:ext cx="1126846" cy="436215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未说明</a:t>
            </a:r>
            <a:endParaRPr lang="en-US" sz="975" dirty="0"/>
          </a:p>
        </p:txBody>
      </p:sp>
      <p:sp>
        <p:nvSpPr>
          <p:cNvPr id="275" name="Shape 273"/>
          <p:cNvSpPr/>
          <p:nvPr/>
        </p:nvSpPr>
        <p:spPr>
          <a:xfrm>
            <a:off x="7581454" y="2655391"/>
            <a:ext cx="960537" cy="9144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276" name="Shape 274"/>
          <p:cNvSpPr/>
          <p:nvPr/>
        </p:nvSpPr>
        <p:spPr>
          <a:xfrm>
            <a:off x="8537228" y="2650629"/>
            <a:ext cx="9144" cy="436215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277" name="Shape 275"/>
          <p:cNvSpPr/>
          <p:nvPr/>
        </p:nvSpPr>
        <p:spPr>
          <a:xfrm>
            <a:off x="7581454" y="3082082"/>
            <a:ext cx="960537" cy="9144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278" name="Shape 276"/>
          <p:cNvSpPr/>
          <p:nvPr/>
        </p:nvSpPr>
        <p:spPr>
          <a:xfrm>
            <a:off x="7586216" y="2650629"/>
            <a:ext cx="9144" cy="436215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279" name="Text 277"/>
          <p:cNvSpPr/>
          <p:nvPr/>
        </p:nvSpPr>
        <p:spPr>
          <a:xfrm>
            <a:off x="7581454" y="2650629"/>
            <a:ext cx="979747" cy="436215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1年以内</a:t>
            </a:r>
            <a:endParaRPr lang="en-US" sz="975" dirty="0"/>
          </a:p>
        </p:txBody>
      </p:sp>
      <p:sp>
        <p:nvSpPr>
          <p:cNvPr id="280" name="Shape 278"/>
          <p:cNvSpPr/>
          <p:nvPr/>
        </p:nvSpPr>
        <p:spPr>
          <a:xfrm>
            <a:off x="8541990" y="2655391"/>
            <a:ext cx="544264" cy="9144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281" name="Shape 279"/>
          <p:cNvSpPr/>
          <p:nvPr/>
        </p:nvSpPr>
        <p:spPr>
          <a:xfrm>
            <a:off x="9081492" y="2650629"/>
            <a:ext cx="9144" cy="436215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282" name="Shape 280"/>
          <p:cNvSpPr/>
          <p:nvPr/>
        </p:nvSpPr>
        <p:spPr>
          <a:xfrm>
            <a:off x="8541990" y="3082082"/>
            <a:ext cx="544264" cy="9144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283" name="Shape 281"/>
          <p:cNvSpPr/>
          <p:nvPr/>
        </p:nvSpPr>
        <p:spPr>
          <a:xfrm>
            <a:off x="8546753" y="2650629"/>
            <a:ext cx="9144" cy="436215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284" name="Text 282"/>
          <p:cNvSpPr/>
          <p:nvPr/>
        </p:nvSpPr>
        <p:spPr>
          <a:xfrm>
            <a:off x="8541990" y="2650629"/>
            <a:ext cx="555150" cy="436215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本科</a:t>
            </a:r>
            <a:endParaRPr lang="en-US" sz="975" dirty="0"/>
          </a:p>
        </p:txBody>
      </p:sp>
      <p:sp>
        <p:nvSpPr>
          <p:cNvPr id="285" name="Shape 283"/>
          <p:cNvSpPr/>
          <p:nvPr/>
        </p:nvSpPr>
        <p:spPr>
          <a:xfrm>
            <a:off x="9086255" y="2655391"/>
            <a:ext cx="920204" cy="9144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286" name="Shape 284"/>
          <p:cNvSpPr/>
          <p:nvPr/>
        </p:nvSpPr>
        <p:spPr>
          <a:xfrm>
            <a:off x="10001696" y="2650629"/>
            <a:ext cx="9144" cy="436215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287" name="Shape 285"/>
          <p:cNvSpPr/>
          <p:nvPr/>
        </p:nvSpPr>
        <p:spPr>
          <a:xfrm>
            <a:off x="9086255" y="3082082"/>
            <a:ext cx="920204" cy="9144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288" name="Shape 286"/>
          <p:cNvSpPr/>
          <p:nvPr/>
        </p:nvSpPr>
        <p:spPr>
          <a:xfrm>
            <a:off x="9091017" y="2650629"/>
            <a:ext cx="9144" cy="436215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289" name="Text 287"/>
          <p:cNvSpPr/>
          <p:nvPr/>
        </p:nvSpPr>
        <p:spPr>
          <a:xfrm>
            <a:off x="9086255" y="2650629"/>
            <a:ext cx="938608" cy="436215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BOSS直聘</a:t>
            </a:r>
            <a:endParaRPr lang="en-US" sz="975" dirty="0"/>
          </a:p>
        </p:txBody>
      </p:sp>
      <p:sp>
        <p:nvSpPr>
          <p:cNvPr id="290" name="Shape 288"/>
          <p:cNvSpPr/>
          <p:nvPr/>
        </p:nvSpPr>
        <p:spPr>
          <a:xfrm>
            <a:off x="10006459" y="2655391"/>
            <a:ext cx="683121" cy="9144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291" name="Shape 289"/>
          <p:cNvSpPr/>
          <p:nvPr/>
        </p:nvSpPr>
        <p:spPr>
          <a:xfrm>
            <a:off x="10684818" y="2650629"/>
            <a:ext cx="9144" cy="436215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292" name="Shape 290"/>
          <p:cNvSpPr/>
          <p:nvPr/>
        </p:nvSpPr>
        <p:spPr>
          <a:xfrm>
            <a:off x="10006459" y="3082082"/>
            <a:ext cx="683121" cy="9144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293" name="Shape 291"/>
          <p:cNvSpPr/>
          <p:nvPr/>
        </p:nvSpPr>
        <p:spPr>
          <a:xfrm>
            <a:off x="10011221" y="2650629"/>
            <a:ext cx="9144" cy="436215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294" name="Text 292"/>
          <p:cNvSpPr/>
          <p:nvPr/>
        </p:nvSpPr>
        <p:spPr>
          <a:xfrm>
            <a:off x="10006459" y="2650629"/>
            <a:ext cx="696784" cy="436215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27AE60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85</a:t>
            </a:r>
            <a:endParaRPr lang="en-US" sz="975" dirty="0"/>
          </a:p>
        </p:txBody>
      </p:sp>
      <p:sp>
        <p:nvSpPr>
          <p:cNvPr id="295" name="Shape 293"/>
          <p:cNvSpPr/>
          <p:nvPr/>
        </p:nvSpPr>
        <p:spPr>
          <a:xfrm>
            <a:off x="10689580" y="2655391"/>
            <a:ext cx="545157" cy="9144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296" name="Shape 294"/>
          <p:cNvSpPr/>
          <p:nvPr/>
        </p:nvSpPr>
        <p:spPr>
          <a:xfrm>
            <a:off x="11229975" y="2650629"/>
            <a:ext cx="9144" cy="436215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297" name="Shape 295"/>
          <p:cNvSpPr/>
          <p:nvPr/>
        </p:nvSpPr>
        <p:spPr>
          <a:xfrm>
            <a:off x="10689580" y="3082082"/>
            <a:ext cx="545157" cy="9144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298" name="Shape 296"/>
          <p:cNvSpPr/>
          <p:nvPr/>
        </p:nvSpPr>
        <p:spPr>
          <a:xfrm>
            <a:off x="10694343" y="2650629"/>
            <a:ext cx="9144" cy="436215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299" name="Text 297"/>
          <p:cNvSpPr/>
          <p:nvPr/>
        </p:nvSpPr>
        <p:spPr>
          <a:xfrm>
            <a:off x="10689580" y="2650629"/>
            <a:ext cx="556061" cy="436215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链接</a:t>
            </a:r>
            <a:endParaRPr lang="en-US" sz="975" dirty="0"/>
          </a:p>
        </p:txBody>
      </p:sp>
      <p:sp>
        <p:nvSpPr>
          <p:cNvPr id="300" name="Text 298"/>
          <p:cNvSpPr/>
          <p:nvPr/>
        </p:nvSpPr>
        <p:spPr>
          <a:xfrm>
            <a:off x="957263" y="3086844"/>
            <a:ext cx="544264" cy="436215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1" name="Shape 299"/>
          <p:cNvSpPr/>
          <p:nvPr/>
        </p:nvSpPr>
        <p:spPr>
          <a:xfrm>
            <a:off x="957263" y="3091607"/>
            <a:ext cx="544264" cy="9144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302" name="Shape 300"/>
          <p:cNvSpPr/>
          <p:nvPr/>
        </p:nvSpPr>
        <p:spPr>
          <a:xfrm>
            <a:off x="1496764" y="3086844"/>
            <a:ext cx="9144" cy="436215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303" name="Shape 301"/>
          <p:cNvSpPr/>
          <p:nvPr/>
        </p:nvSpPr>
        <p:spPr>
          <a:xfrm>
            <a:off x="957263" y="3518297"/>
            <a:ext cx="544264" cy="9144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304" name="Shape 302"/>
          <p:cNvSpPr/>
          <p:nvPr/>
        </p:nvSpPr>
        <p:spPr>
          <a:xfrm>
            <a:off x="962025" y="3086844"/>
            <a:ext cx="9144" cy="436215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305" name="Text 303"/>
          <p:cNvSpPr/>
          <p:nvPr/>
        </p:nvSpPr>
        <p:spPr>
          <a:xfrm>
            <a:off x="957263" y="3086844"/>
            <a:ext cx="555150" cy="436215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975" dirty="0"/>
          </a:p>
        </p:txBody>
      </p:sp>
      <p:sp>
        <p:nvSpPr>
          <p:cNvPr id="306" name="Text 304"/>
          <p:cNvSpPr/>
          <p:nvPr/>
        </p:nvSpPr>
        <p:spPr>
          <a:xfrm>
            <a:off x="1501527" y="3086844"/>
            <a:ext cx="2579489" cy="436215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7" name="Shape 305"/>
          <p:cNvSpPr/>
          <p:nvPr/>
        </p:nvSpPr>
        <p:spPr>
          <a:xfrm>
            <a:off x="1501527" y="3091607"/>
            <a:ext cx="2579489" cy="9144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308" name="Shape 306"/>
          <p:cNvSpPr/>
          <p:nvPr/>
        </p:nvSpPr>
        <p:spPr>
          <a:xfrm>
            <a:off x="4076254" y="3086844"/>
            <a:ext cx="9144" cy="436215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309" name="Shape 307"/>
          <p:cNvSpPr/>
          <p:nvPr/>
        </p:nvSpPr>
        <p:spPr>
          <a:xfrm>
            <a:off x="1501527" y="3518297"/>
            <a:ext cx="2579489" cy="9144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310" name="Shape 308"/>
          <p:cNvSpPr/>
          <p:nvPr/>
        </p:nvSpPr>
        <p:spPr>
          <a:xfrm>
            <a:off x="1506289" y="3086844"/>
            <a:ext cx="9144" cy="436215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311" name="Text 309"/>
          <p:cNvSpPr/>
          <p:nvPr/>
        </p:nvSpPr>
        <p:spPr>
          <a:xfrm>
            <a:off x="1501527" y="3086844"/>
            <a:ext cx="2631079" cy="436215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浙江宇视科技有限公司</a:t>
            </a:r>
            <a:endParaRPr lang="en-US" sz="975" dirty="0"/>
          </a:p>
        </p:txBody>
      </p:sp>
      <p:sp>
        <p:nvSpPr>
          <p:cNvPr id="312" name="Text 310"/>
          <p:cNvSpPr/>
          <p:nvPr/>
        </p:nvSpPr>
        <p:spPr>
          <a:xfrm>
            <a:off x="4081016" y="3086844"/>
            <a:ext cx="2395686" cy="436215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3" name="Shape 311"/>
          <p:cNvSpPr/>
          <p:nvPr/>
        </p:nvSpPr>
        <p:spPr>
          <a:xfrm>
            <a:off x="4081016" y="3091607"/>
            <a:ext cx="2395686" cy="9144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314" name="Shape 312"/>
          <p:cNvSpPr/>
          <p:nvPr/>
        </p:nvSpPr>
        <p:spPr>
          <a:xfrm>
            <a:off x="6471940" y="3086844"/>
            <a:ext cx="9144" cy="436215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315" name="Shape 313"/>
          <p:cNvSpPr/>
          <p:nvPr/>
        </p:nvSpPr>
        <p:spPr>
          <a:xfrm>
            <a:off x="4081016" y="3518297"/>
            <a:ext cx="2395686" cy="9144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316" name="Shape 314"/>
          <p:cNvSpPr/>
          <p:nvPr/>
        </p:nvSpPr>
        <p:spPr>
          <a:xfrm>
            <a:off x="4085779" y="3086844"/>
            <a:ext cx="9144" cy="436215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317" name="Text 315"/>
          <p:cNvSpPr/>
          <p:nvPr/>
        </p:nvSpPr>
        <p:spPr>
          <a:xfrm>
            <a:off x="4081016" y="3086844"/>
            <a:ext cx="2443600" cy="436215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WEB前端开发工程师(RD41)</a:t>
            </a:r>
            <a:endParaRPr lang="en-US" sz="975" dirty="0"/>
          </a:p>
        </p:txBody>
      </p:sp>
      <p:sp>
        <p:nvSpPr>
          <p:cNvPr id="318" name="Text 316"/>
          <p:cNvSpPr/>
          <p:nvPr/>
        </p:nvSpPr>
        <p:spPr>
          <a:xfrm>
            <a:off x="6476702" y="3086844"/>
            <a:ext cx="1104751" cy="436215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9" name="Shape 317"/>
          <p:cNvSpPr/>
          <p:nvPr/>
        </p:nvSpPr>
        <p:spPr>
          <a:xfrm>
            <a:off x="6476702" y="3091607"/>
            <a:ext cx="1104751" cy="9144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320" name="Shape 318"/>
          <p:cNvSpPr/>
          <p:nvPr/>
        </p:nvSpPr>
        <p:spPr>
          <a:xfrm>
            <a:off x="7576691" y="3086844"/>
            <a:ext cx="9144" cy="436215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321" name="Shape 319"/>
          <p:cNvSpPr/>
          <p:nvPr/>
        </p:nvSpPr>
        <p:spPr>
          <a:xfrm>
            <a:off x="6476702" y="3518297"/>
            <a:ext cx="1104751" cy="9144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322" name="Shape 320"/>
          <p:cNvSpPr/>
          <p:nvPr/>
        </p:nvSpPr>
        <p:spPr>
          <a:xfrm>
            <a:off x="6481465" y="3086844"/>
            <a:ext cx="9144" cy="436215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323" name="Text 321"/>
          <p:cNvSpPr/>
          <p:nvPr/>
        </p:nvSpPr>
        <p:spPr>
          <a:xfrm>
            <a:off x="6476702" y="3086844"/>
            <a:ext cx="1126846" cy="436215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11k-20k/月</a:t>
            </a:r>
            <a:endParaRPr lang="en-US" sz="975" dirty="0"/>
          </a:p>
        </p:txBody>
      </p:sp>
      <p:sp>
        <p:nvSpPr>
          <p:cNvPr id="324" name="Text 322"/>
          <p:cNvSpPr/>
          <p:nvPr/>
        </p:nvSpPr>
        <p:spPr>
          <a:xfrm>
            <a:off x="7581454" y="3086844"/>
            <a:ext cx="960537" cy="436215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5" name="Shape 323"/>
          <p:cNvSpPr/>
          <p:nvPr/>
        </p:nvSpPr>
        <p:spPr>
          <a:xfrm>
            <a:off x="7581454" y="3091607"/>
            <a:ext cx="960537" cy="9144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326" name="Shape 324"/>
          <p:cNvSpPr/>
          <p:nvPr/>
        </p:nvSpPr>
        <p:spPr>
          <a:xfrm>
            <a:off x="8537228" y="3086844"/>
            <a:ext cx="9144" cy="436215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327" name="Shape 325"/>
          <p:cNvSpPr/>
          <p:nvPr/>
        </p:nvSpPr>
        <p:spPr>
          <a:xfrm>
            <a:off x="7581454" y="3518297"/>
            <a:ext cx="960537" cy="9144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328" name="Shape 326"/>
          <p:cNvSpPr/>
          <p:nvPr/>
        </p:nvSpPr>
        <p:spPr>
          <a:xfrm>
            <a:off x="7586216" y="3086844"/>
            <a:ext cx="9144" cy="436215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329" name="Text 327"/>
          <p:cNvSpPr/>
          <p:nvPr/>
        </p:nvSpPr>
        <p:spPr>
          <a:xfrm>
            <a:off x="7581454" y="3086844"/>
            <a:ext cx="979747" cy="436215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1-3年</a:t>
            </a:r>
            <a:endParaRPr lang="en-US" sz="975" dirty="0"/>
          </a:p>
        </p:txBody>
      </p:sp>
      <p:sp>
        <p:nvSpPr>
          <p:cNvPr id="330" name="Text 328"/>
          <p:cNvSpPr/>
          <p:nvPr/>
        </p:nvSpPr>
        <p:spPr>
          <a:xfrm>
            <a:off x="8541990" y="3086844"/>
            <a:ext cx="544264" cy="436215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1" name="Shape 329"/>
          <p:cNvSpPr/>
          <p:nvPr/>
        </p:nvSpPr>
        <p:spPr>
          <a:xfrm>
            <a:off x="8541990" y="3091607"/>
            <a:ext cx="544264" cy="9144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332" name="Shape 330"/>
          <p:cNvSpPr/>
          <p:nvPr/>
        </p:nvSpPr>
        <p:spPr>
          <a:xfrm>
            <a:off x="9081492" y="3086844"/>
            <a:ext cx="9144" cy="436215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333" name="Shape 331"/>
          <p:cNvSpPr/>
          <p:nvPr/>
        </p:nvSpPr>
        <p:spPr>
          <a:xfrm>
            <a:off x="8541990" y="3518297"/>
            <a:ext cx="544264" cy="9144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334" name="Shape 332"/>
          <p:cNvSpPr/>
          <p:nvPr/>
        </p:nvSpPr>
        <p:spPr>
          <a:xfrm>
            <a:off x="8546753" y="3086844"/>
            <a:ext cx="9144" cy="436215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335" name="Text 333"/>
          <p:cNvSpPr/>
          <p:nvPr/>
        </p:nvSpPr>
        <p:spPr>
          <a:xfrm>
            <a:off x="8541990" y="3086844"/>
            <a:ext cx="555150" cy="436215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本科</a:t>
            </a:r>
            <a:endParaRPr lang="en-US" sz="975" dirty="0"/>
          </a:p>
        </p:txBody>
      </p:sp>
      <p:sp>
        <p:nvSpPr>
          <p:cNvPr id="336" name="Text 334"/>
          <p:cNvSpPr/>
          <p:nvPr/>
        </p:nvSpPr>
        <p:spPr>
          <a:xfrm>
            <a:off x="9086255" y="3086844"/>
            <a:ext cx="920204" cy="436215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7" name="Shape 335"/>
          <p:cNvSpPr/>
          <p:nvPr/>
        </p:nvSpPr>
        <p:spPr>
          <a:xfrm>
            <a:off x="9086255" y="3091607"/>
            <a:ext cx="920204" cy="9144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338" name="Shape 336"/>
          <p:cNvSpPr/>
          <p:nvPr/>
        </p:nvSpPr>
        <p:spPr>
          <a:xfrm>
            <a:off x="10001696" y="3086844"/>
            <a:ext cx="9144" cy="436215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339" name="Shape 337"/>
          <p:cNvSpPr/>
          <p:nvPr/>
        </p:nvSpPr>
        <p:spPr>
          <a:xfrm>
            <a:off x="9086255" y="3518297"/>
            <a:ext cx="920204" cy="9144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340" name="Shape 338"/>
          <p:cNvSpPr/>
          <p:nvPr/>
        </p:nvSpPr>
        <p:spPr>
          <a:xfrm>
            <a:off x="9091017" y="3086844"/>
            <a:ext cx="9144" cy="436215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341" name="Text 339"/>
          <p:cNvSpPr/>
          <p:nvPr/>
        </p:nvSpPr>
        <p:spPr>
          <a:xfrm>
            <a:off x="9086255" y="3086844"/>
            <a:ext cx="938608" cy="436215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智联招聘</a:t>
            </a:r>
            <a:endParaRPr lang="en-US" sz="975" dirty="0"/>
          </a:p>
        </p:txBody>
      </p:sp>
      <p:sp>
        <p:nvSpPr>
          <p:cNvPr id="342" name="Text 340"/>
          <p:cNvSpPr/>
          <p:nvPr/>
        </p:nvSpPr>
        <p:spPr>
          <a:xfrm>
            <a:off x="10006459" y="3086844"/>
            <a:ext cx="683121" cy="436215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3" name="Shape 341"/>
          <p:cNvSpPr/>
          <p:nvPr/>
        </p:nvSpPr>
        <p:spPr>
          <a:xfrm>
            <a:off x="10006459" y="3091607"/>
            <a:ext cx="683121" cy="9144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344" name="Shape 342"/>
          <p:cNvSpPr/>
          <p:nvPr/>
        </p:nvSpPr>
        <p:spPr>
          <a:xfrm>
            <a:off x="10684818" y="3086844"/>
            <a:ext cx="9144" cy="436215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345" name="Shape 343"/>
          <p:cNvSpPr/>
          <p:nvPr/>
        </p:nvSpPr>
        <p:spPr>
          <a:xfrm>
            <a:off x="10006459" y="3518297"/>
            <a:ext cx="683121" cy="9144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346" name="Shape 344"/>
          <p:cNvSpPr/>
          <p:nvPr/>
        </p:nvSpPr>
        <p:spPr>
          <a:xfrm>
            <a:off x="10011221" y="3086844"/>
            <a:ext cx="9144" cy="436215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347" name="Text 345"/>
          <p:cNvSpPr/>
          <p:nvPr/>
        </p:nvSpPr>
        <p:spPr>
          <a:xfrm>
            <a:off x="10006459" y="3086844"/>
            <a:ext cx="696784" cy="436215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F39C12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82</a:t>
            </a:r>
            <a:endParaRPr lang="en-US" sz="975" dirty="0"/>
          </a:p>
        </p:txBody>
      </p:sp>
      <p:sp>
        <p:nvSpPr>
          <p:cNvPr id="348" name="Text 346"/>
          <p:cNvSpPr/>
          <p:nvPr/>
        </p:nvSpPr>
        <p:spPr>
          <a:xfrm>
            <a:off x="10689580" y="3086844"/>
            <a:ext cx="545157" cy="436215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9" name="Shape 347"/>
          <p:cNvSpPr/>
          <p:nvPr/>
        </p:nvSpPr>
        <p:spPr>
          <a:xfrm>
            <a:off x="10689580" y="3091607"/>
            <a:ext cx="545157" cy="9144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350" name="Shape 348"/>
          <p:cNvSpPr/>
          <p:nvPr/>
        </p:nvSpPr>
        <p:spPr>
          <a:xfrm>
            <a:off x="11229975" y="3086844"/>
            <a:ext cx="9144" cy="436215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351" name="Shape 349"/>
          <p:cNvSpPr/>
          <p:nvPr/>
        </p:nvSpPr>
        <p:spPr>
          <a:xfrm>
            <a:off x="10689580" y="3518297"/>
            <a:ext cx="545157" cy="9144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352" name="Shape 350"/>
          <p:cNvSpPr/>
          <p:nvPr/>
        </p:nvSpPr>
        <p:spPr>
          <a:xfrm>
            <a:off x="10694343" y="3086844"/>
            <a:ext cx="9144" cy="436215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353" name="Text 351"/>
          <p:cNvSpPr/>
          <p:nvPr/>
        </p:nvSpPr>
        <p:spPr>
          <a:xfrm>
            <a:off x="10689580" y="3086844"/>
            <a:ext cx="556061" cy="436215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链接</a:t>
            </a:r>
            <a:endParaRPr lang="en-US" sz="975" dirty="0"/>
          </a:p>
        </p:txBody>
      </p:sp>
      <p:sp>
        <p:nvSpPr>
          <p:cNvPr id="354" name="Shape 352"/>
          <p:cNvSpPr/>
          <p:nvPr/>
        </p:nvSpPr>
        <p:spPr>
          <a:xfrm>
            <a:off x="957263" y="3527822"/>
            <a:ext cx="544264" cy="9144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355" name="Shape 353"/>
          <p:cNvSpPr/>
          <p:nvPr/>
        </p:nvSpPr>
        <p:spPr>
          <a:xfrm>
            <a:off x="1496764" y="3523059"/>
            <a:ext cx="9144" cy="436215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356" name="Shape 354"/>
          <p:cNvSpPr/>
          <p:nvPr/>
        </p:nvSpPr>
        <p:spPr>
          <a:xfrm>
            <a:off x="957263" y="3954512"/>
            <a:ext cx="544264" cy="9144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357" name="Shape 355"/>
          <p:cNvSpPr/>
          <p:nvPr/>
        </p:nvSpPr>
        <p:spPr>
          <a:xfrm>
            <a:off x="962025" y="3523059"/>
            <a:ext cx="9144" cy="436215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358" name="Text 356"/>
          <p:cNvSpPr/>
          <p:nvPr/>
        </p:nvSpPr>
        <p:spPr>
          <a:xfrm>
            <a:off x="957263" y="3523059"/>
            <a:ext cx="555150" cy="436215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975" dirty="0"/>
          </a:p>
        </p:txBody>
      </p:sp>
      <p:sp>
        <p:nvSpPr>
          <p:cNvPr id="359" name="Shape 357"/>
          <p:cNvSpPr/>
          <p:nvPr/>
        </p:nvSpPr>
        <p:spPr>
          <a:xfrm>
            <a:off x="1501527" y="3527822"/>
            <a:ext cx="2579489" cy="9144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360" name="Shape 358"/>
          <p:cNvSpPr/>
          <p:nvPr/>
        </p:nvSpPr>
        <p:spPr>
          <a:xfrm>
            <a:off x="4076254" y="3523059"/>
            <a:ext cx="9144" cy="436215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361" name="Shape 359"/>
          <p:cNvSpPr/>
          <p:nvPr/>
        </p:nvSpPr>
        <p:spPr>
          <a:xfrm>
            <a:off x="1501527" y="3954512"/>
            <a:ext cx="2579489" cy="9144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362" name="Shape 360"/>
          <p:cNvSpPr/>
          <p:nvPr/>
        </p:nvSpPr>
        <p:spPr>
          <a:xfrm>
            <a:off x="1506289" y="3523059"/>
            <a:ext cx="9144" cy="436215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363" name="Text 361"/>
          <p:cNvSpPr/>
          <p:nvPr/>
        </p:nvSpPr>
        <p:spPr>
          <a:xfrm>
            <a:off x="1501527" y="3523059"/>
            <a:ext cx="2631079" cy="436215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软通动力信息技术(集团)股份有限公司</a:t>
            </a:r>
            <a:endParaRPr lang="en-US" sz="975" dirty="0"/>
          </a:p>
        </p:txBody>
      </p:sp>
      <p:sp>
        <p:nvSpPr>
          <p:cNvPr id="364" name="Shape 362"/>
          <p:cNvSpPr/>
          <p:nvPr/>
        </p:nvSpPr>
        <p:spPr>
          <a:xfrm>
            <a:off x="4081016" y="3527822"/>
            <a:ext cx="2395686" cy="9144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365" name="Shape 363"/>
          <p:cNvSpPr/>
          <p:nvPr/>
        </p:nvSpPr>
        <p:spPr>
          <a:xfrm>
            <a:off x="6471940" y="3523059"/>
            <a:ext cx="9144" cy="436215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366" name="Shape 364"/>
          <p:cNvSpPr/>
          <p:nvPr/>
        </p:nvSpPr>
        <p:spPr>
          <a:xfrm>
            <a:off x="4081016" y="3954512"/>
            <a:ext cx="2395686" cy="9144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367" name="Shape 365"/>
          <p:cNvSpPr/>
          <p:nvPr/>
        </p:nvSpPr>
        <p:spPr>
          <a:xfrm>
            <a:off x="4085779" y="3523059"/>
            <a:ext cx="9144" cy="436215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368" name="Text 366"/>
          <p:cNvSpPr/>
          <p:nvPr/>
        </p:nvSpPr>
        <p:spPr>
          <a:xfrm>
            <a:off x="4081016" y="3523059"/>
            <a:ext cx="2443600" cy="436215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Java开发</a:t>
            </a:r>
            <a:endParaRPr lang="en-US" sz="975" dirty="0"/>
          </a:p>
        </p:txBody>
      </p:sp>
      <p:sp>
        <p:nvSpPr>
          <p:cNvPr id="369" name="Shape 367"/>
          <p:cNvSpPr/>
          <p:nvPr/>
        </p:nvSpPr>
        <p:spPr>
          <a:xfrm>
            <a:off x="6476702" y="3527822"/>
            <a:ext cx="1104751" cy="9144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370" name="Shape 368"/>
          <p:cNvSpPr/>
          <p:nvPr/>
        </p:nvSpPr>
        <p:spPr>
          <a:xfrm>
            <a:off x="7576691" y="3523059"/>
            <a:ext cx="9144" cy="436215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371" name="Shape 369"/>
          <p:cNvSpPr/>
          <p:nvPr/>
        </p:nvSpPr>
        <p:spPr>
          <a:xfrm>
            <a:off x="6476702" y="3954512"/>
            <a:ext cx="1104751" cy="9144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372" name="Shape 370"/>
          <p:cNvSpPr/>
          <p:nvPr/>
        </p:nvSpPr>
        <p:spPr>
          <a:xfrm>
            <a:off x="6481465" y="3523059"/>
            <a:ext cx="9144" cy="436215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373" name="Text 371"/>
          <p:cNvSpPr/>
          <p:nvPr/>
        </p:nvSpPr>
        <p:spPr>
          <a:xfrm>
            <a:off x="6476702" y="3523059"/>
            <a:ext cx="1126846" cy="436215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未说明</a:t>
            </a:r>
            <a:endParaRPr lang="en-US" sz="975" dirty="0"/>
          </a:p>
        </p:txBody>
      </p:sp>
      <p:sp>
        <p:nvSpPr>
          <p:cNvPr id="374" name="Shape 372"/>
          <p:cNvSpPr/>
          <p:nvPr/>
        </p:nvSpPr>
        <p:spPr>
          <a:xfrm>
            <a:off x="7581454" y="3527822"/>
            <a:ext cx="960537" cy="9144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375" name="Shape 373"/>
          <p:cNvSpPr/>
          <p:nvPr/>
        </p:nvSpPr>
        <p:spPr>
          <a:xfrm>
            <a:off x="8537228" y="3523059"/>
            <a:ext cx="9144" cy="436215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376" name="Shape 374"/>
          <p:cNvSpPr/>
          <p:nvPr/>
        </p:nvSpPr>
        <p:spPr>
          <a:xfrm>
            <a:off x="7581454" y="3954512"/>
            <a:ext cx="960537" cy="9144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377" name="Shape 375"/>
          <p:cNvSpPr/>
          <p:nvPr/>
        </p:nvSpPr>
        <p:spPr>
          <a:xfrm>
            <a:off x="7586216" y="3523059"/>
            <a:ext cx="9144" cy="436215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378" name="Text 376"/>
          <p:cNvSpPr/>
          <p:nvPr/>
        </p:nvSpPr>
        <p:spPr>
          <a:xfrm>
            <a:off x="7581454" y="3523059"/>
            <a:ext cx="979747" cy="436215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1-3年</a:t>
            </a:r>
            <a:endParaRPr lang="en-US" sz="975" dirty="0"/>
          </a:p>
        </p:txBody>
      </p:sp>
      <p:sp>
        <p:nvSpPr>
          <p:cNvPr id="379" name="Shape 377"/>
          <p:cNvSpPr/>
          <p:nvPr/>
        </p:nvSpPr>
        <p:spPr>
          <a:xfrm>
            <a:off x="8541990" y="3527822"/>
            <a:ext cx="544264" cy="9144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380" name="Shape 378"/>
          <p:cNvSpPr/>
          <p:nvPr/>
        </p:nvSpPr>
        <p:spPr>
          <a:xfrm>
            <a:off x="9081492" y="3523059"/>
            <a:ext cx="9144" cy="436215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381" name="Shape 379"/>
          <p:cNvSpPr/>
          <p:nvPr/>
        </p:nvSpPr>
        <p:spPr>
          <a:xfrm>
            <a:off x="8541990" y="3954512"/>
            <a:ext cx="544264" cy="9144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382" name="Shape 380"/>
          <p:cNvSpPr/>
          <p:nvPr/>
        </p:nvSpPr>
        <p:spPr>
          <a:xfrm>
            <a:off x="8546753" y="3523059"/>
            <a:ext cx="9144" cy="436215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383" name="Text 381"/>
          <p:cNvSpPr/>
          <p:nvPr/>
        </p:nvSpPr>
        <p:spPr>
          <a:xfrm>
            <a:off x="8541990" y="3523059"/>
            <a:ext cx="555150" cy="436215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本科</a:t>
            </a:r>
            <a:endParaRPr lang="en-US" sz="975" dirty="0"/>
          </a:p>
        </p:txBody>
      </p:sp>
      <p:sp>
        <p:nvSpPr>
          <p:cNvPr id="384" name="Shape 382"/>
          <p:cNvSpPr/>
          <p:nvPr/>
        </p:nvSpPr>
        <p:spPr>
          <a:xfrm>
            <a:off x="9086255" y="3527822"/>
            <a:ext cx="920204" cy="9144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385" name="Shape 383"/>
          <p:cNvSpPr/>
          <p:nvPr/>
        </p:nvSpPr>
        <p:spPr>
          <a:xfrm>
            <a:off x="10001696" y="3523059"/>
            <a:ext cx="9144" cy="436215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386" name="Shape 384"/>
          <p:cNvSpPr/>
          <p:nvPr/>
        </p:nvSpPr>
        <p:spPr>
          <a:xfrm>
            <a:off x="9086255" y="3954512"/>
            <a:ext cx="920204" cy="9144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387" name="Shape 385"/>
          <p:cNvSpPr/>
          <p:nvPr/>
        </p:nvSpPr>
        <p:spPr>
          <a:xfrm>
            <a:off x="9091017" y="3523059"/>
            <a:ext cx="9144" cy="436215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388" name="Text 386"/>
          <p:cNvSpPr/>
          <p:nvPr/>
        </p:nvSpPr>
        <p:spPr>
          <a:xfrm>
            <a:off x="9086255" y="3523059"/>
            <a:ext cx="938608" cy="436215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智联招聘</a:t>
            </a:r>
            <a:endParaRPr lang="en-US" sz="975" dirty="0"/>
          </a:p>
        </p:txBody>
      </p:sp>
      <p:sp>
        <p:nvSpPr>
          <p:cNvPr id="389" name="Shape 387"/>
          <p:cNvSpPr/>
          <p:nvPr/>
        </p:nvSpPr>
        <p:spPr>
          <a:xfrm>
            <a:off x="10006459" y="3527822"/>
            <a:ext cx="683121" cy="9144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390" name="Shape 388"/>
          <p:cNvSpPr/>
          <p:nvPr/>
        </p:nvSpPr>
        <p:spPr>
          <a:xfrm>
            <a:off x="10684818" y="3523059"/>
            <a:ext cx="9144" cy="436215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391" name="Shape 389"/>
          <p:cNvSpPr/>
          <p:nvPr/>
        </p:nvSpPr>
        <p:spPr>
          <a:xfrm>
            <a:off x="10006459" y="3954512"/>
            <a:ext cx="683121" cy="9144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392" name="Shape 390"/>
          <p:cNvSpPr/>
          <p:nvPr/>
        </p:nvSpPr>
        <p:spPr>
          <a:xfrm>
            <a:off x="10011221" y="3523059"/>
            <a:ext cx="9144" cy="436215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393" name="Text 391"/>
          <p:cNvSpPr/>
          <p:nvPr/>
        </p:nvSpPr>
        <p:spPr>
          <a:xfrm>
            <a:off x="10006459" y="3523059"/>
            <a:ext cx="696784" cy="436215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F39C12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80</a:t>
            </a:r>
            <a:endParaRPr lang="en-US" sz="975" dirty="0"/>
          </a:p>
        </p:txBody>
      </p:sp>
      <p:sp>
        <p:nvSpPr>
          <p:cNvPr id="394" name="Shape 392"/>
          <p:cNvSpPr/>
          <p:nvPr/>
        </p:nvSpPr>
        <p:spPr>
          <a:xfrm>
            <a:off x="10689580" y="3527822"/>
            <a:ext cx="545157" cy="9144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395" name="Shape 393"/>
          <p:cNvSpPr/>
          <p:nvPr/>
        </p:nvSpPr>
        <p:spPr>
          <a:xfrm>
            <a:off x="11229975" y="3523059"/>
            <a:ext cx="9144" cy="436215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396" name="Shape 394"/>
          <p:cNvSpPr/>
          <p:nvPr/>
        </p:nvSpPr>
        <p:spPr>
          <a:xfrm>
            <a:off x="10689580" y="3954512"/>
            <a:ext cx="545157" cy="9144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397" name="Shape 395"/>
          <p:cNvSpPr/>
          <p:nvPr/>
        </p:nvSpPr>
        <p:spPr>
          <a:xfrm>
            <a:off x="10694343" y="3523059"/>
            <a:ext cx="9144" cy="436215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398" name="Text 396"/>
          <p:cNvSpPr/>
          <p:nvPr/>
        </p:nvSpPr>
        <p:spPr>
          <a:xfrm>
            <a:off x="10689580" y="3523059"/>
            <a:ext cx="556061" cy="436215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链接</a:t>
            </a:r>
            <a:endParaRPr lang="en-US" sz="975" dirty="0"/>
          </a:p>
        </p:txBody>
      </p:sp>
      <p:sp>
        <p:nvSpPr>
          <p:cNvPr id="399" name="Text 397"/>
          <p:cNvSpPr/>
          <p:nvPr/>
        </p:nvSpPr>
        <p:spPr>
          <a:xfrm>
            <a:off x="957263" y="3959275"/>
            <a:ext cx="544264" cy="436215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0" name="Shape 398"/>
          <p:cNvSpPr/>
          <p:nvPr/>
        </p:nvSpPr>
        <p:spPr>
          <a:xfrm>
            <a:off x="957263" y="3964037"/>
            <a:ext cx="544264" cy="9144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401" name="Shape 399"/>
          <p:cNvSpPr/>
          <p:nvPr/>
        </p:nvSpPr>
        <p:spPr>
          <a:xfrm>
            <a:off x="1496764" y="3959275"/>
            <a:ext cx="9144" cy="436215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402" name="Shape 400"/>
          <p:cNvSpPr/>
          <p:nvPr/>
        </p:nvSpPr>
        <p:spPr>
          <a:xfrm>
            <a:off x="957263" y="4390727"/>
            <a:ext cx="544264" cy="9144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403" name="Shape 401"/>
          <p:cNvSpPr/>
          <p:nvPr/>
        </p:nvSpPr>
        <p:spPr>
          <a:xfrm>
            <a:off x="962025" y="3959275"/>
            <a:ext cx="9144" cy="436215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404" name="Text 402"/>
          <p:cNvSpPr/>
          <p:nvPr/>
        </p:nvSpPr>
        <p:spPr>
          <a:xfrm>
            <a:off x="957263" y="3959275"/>
            <a:ext cx="555150" cy="436215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975" dirty="0"/>
          </a:p>
        </p:txBody>
      </p:sp>
      <p:sp>
        <p:nvSpPr>
          <p:cNvPr id="405" name="Text 403"/>
          <p:cNvSpPr/>
          <p:nvPr/>
        </p:nvSpPr>
        <p:spPr>
          <a:xfrm>
            <a:off x="1501527" y="3959275"/>
            <a:ext cx="2579489" cy="436215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6" name="Shape 404"/>
          <p:cNvSpPr/>
          <p:nvPr/>
        </p:nvSpPr>
        <p:spPr>
          <a:xfrm>
            <a:off x="1501527" y="3964037"/>
            <a:ext cx="2579489" cy="9144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407" name="Shape 405"/>
          <p:cNvSpPr/>
          <p:nvPr/>
        </p:nvSpPr>
        <p:spPr>
          <a:xfrm>
            <a:off x="4076254" y="3959275"/>
            <a:ext cx="9144" cy="436215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408" name="Shape 406"/>
          <p:cNvSpPr/>
          <p:nvPr/>
        </p:nvSpPr>
        <p:spPr>
          <a:xfrm>
            <a:off x="1501527" y="4390727"/>
            <a:ext cx="2579489" cy="9144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409" name="Shape 407"/>
          <p:cNvSpPr/>
          <p:nvPr/>
        </p:nvSpPr>
        <p:spPr>
          <a:xfrm>
            <a:off x="1506289" y="3959275"/>
            <a:ext cx="9144" cy="436215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410" name="Text 408"/>
          <p:cNvSpPr/>
          <p:nvPr/>
        </p:nvSpPr>
        <p:spPr>
          <a:xfrm>
            <a:off x="1501527" y="3959275"/>
            <a:ext cx="2631079" cy="436215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阿里集团</a:t>
            </a:r>
            <a:endParaRPr lang="en-US" sz="975" dirty="0"/>
          </a:p>
        </p:txBody>
      </p:sp>
      <p:sp>
        <p:nvSpPr>
          <p:cNvPr id="411" name="Text 409"/>
          <p:cNvSpPr/>
          <p:nvPr/>
        </p:nvSpPr>
        <p:spPr>
          <a:xfrm>
            <a:off x="4081016" y="3959275"/>
            <a:ext cx="2395686" cy="436215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2" name="Shape 410"/>
          <p:cNvSpPr/>
          <p:nvPr/>
        </p:nvSpPr>
        <p:spPr>
          <a:xfrm>
            <a:off x="4081016" y="3964037"/>
            <a:ext cx="2395686" cy="9144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413" name="Shape 411"/>
          <p:cNvSpPr/>
          <p:nvPr/>
        </p:nvSpPr>
        <p:spPr>
          <a:xfrm>
            <a:off x="6471940" y="3959275"/>
            <a:ext cx="9144" cy="436215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414" name="Shape 412"/>
          <p:cNvSpPr/>
          <p:nvPr/>
        </p:nvSpPr>
        <p:spPr>
          <a:xfrm>
            <a:off x="4081016" y="4390727"/>
            <a:ext cx="2395686" cy="9144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415" name="Shape 413"/>
          <p:cNvSpPr/>
          <p:nvPr/>
        </p:nvSpPr>
        <p:spPr>
          <a:xfrm>
            <a:off x="4085779" y="3959275"/>
            <a:ext cx="9144" cy="436215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416" name="Text 414"/>
          <p:cNvSpPr/>
          <p:nvPr/>
        </p:nvSpPr>
        <p:spPr>
          <a:xfrm>
            <a:off x="4081016" y="3959275"/>
            <a:ext cx="2443600" cy="436215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web前端开发工程师</a:t>
            </a:r>
            <a:endParaRPr lang="en-US" sz="975" dirty="0"/>
          </a:p>
        </p:txBody>
      </p:sp>
      <p:sp>
        <p:nvSpPr>
          <p:cNvPr id="417" name="Text 415"/>
          <p:cNvSpPr/>
          <p:nvPr/>
        </p:nvSpPr>
        <p:spPr>
          <a:xfrm>
            <a:off x="6476702" y="3959275"/>
            <a:ext cx="1104751" cy="436215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8" name="Shape 416"/>
          <p:cNvSpPr/>
          <p:nvPr/>
        </p:nvSpPr>
        <p:spPr>
          <a:xfrm>
            <a:off x="6476702" y="3964037"/>
            <a:ext cx="1104751" cy="9144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419" name="Shape 417"/>
          <p:cNvSpPr/>
          <p:nvPr/>
        </p:nvSpPr>
        <p:spPr>
          <a:xfrm>
            <a:off x="7576691" y="3959275"/>
            <a:ext cx="9144" cy="436215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420" name="Shape 418"/>
          <p:cNvSpPr/>
          <p:nvPr/>
        </p:nvSpPr>
        <p:spPr>
          <a:xfrm>
            <a:off x="6476702" y="4390727"/>
            <a:ext cx="1104751" cy="9144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421" name="Shape 419"/>
          <p:cNvSpPr/>
          <p:nvPr/>
        </p:nvSpPr>
        <p:spPr>
          <a:xfrm>
            <a:off x="6481465" y="3959275"/>
            <a:ext cx="9144" cy="436215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422" name="Text 420"/>
          <p:cNvSpPr/>
          <p:nvPr/>
        </p:nvSpPr>
        <p:spPr>
          <a:xfrm>
            <a:off x="6476702" y="3959275"/>
            <a:ext cx="1126846" cy="436215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未说明</a:t>
            </a:r>
            <a:endParaRPr lang="en-US" sz="975" dirty="0"/>
          </a:p>
        </p:txBody>
      </p:sp>
      <p:sp>
        <p:nvSpPr>
          <p:cNvPr id="423" name="Text 421"/>
          <p:cNvSpPr/>
          <p:nvPr/>
        </p:nvSpPr>
        <p:spPr>
          <a:xfrm>
            <a:off x="7581454" y="3959275"/>
            <a:ext cx="960537" cy="436215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4" name="Shape 422"/>
          <p:cNvSpPr/>
          <p:nvPr/>
        </p:nvSpPr>
        <p:spPr>
          <a:xfrm>
            <a:off x="7581454" y="3964037"/>
            <a:ext cx="960537" cy="9144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425" name="Shape 423"/>
          <p:cNvSpPr/>
          <p:nvPr/>
        </p:nvSpPr>
        <p:spPr>
          <a:xfrm>
            <a:off x="8537228" y="3959275"/>
            <a:ext cx="9144" cy="436215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426" name="Shape 424"/>
          <p:cNvSpPr/>
          <p:nvPr/>
        </p:nvSpPr>
        <p:spPr>
          <a:xfrm>
            <a:off x="7581454" y="4390727"/>
            <a:ext cx="960537" cy="9144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427" name="Shape 425"/>
          <p:cNvSpPr/>
          <p:nvPr/>
        </p:nvSpPr>
        <p:spPr>
          <a:xfrm>
            <a:off x="7586216" y="3959275"/>
            <a:ext cx="9144" cy="436215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428" name="Text 426"/>
          <p:cNvSpPr/>
          <p:nvPr/>
        </p:nvSpPr>
        <p:spPr>
          <a:xfrm>
            <a:off x="7581454" y="3959275"/>
            <a:ext cx="979747" cy="436215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1-3年</a:t>
            </a:r>
            <a:endParaRPr lang="en-US" sz="975" dirty="0"/>
          </a:p>
        </p:txBody>
      </p:sp>
      <p:sp>
        <p:nvSpPr>
          <p:cNvPr id="429" name="Text 427"/>
          <p:cNvSpPr/>
          <p:nvPr/>
        </p:nvSpPr>
        <p:spPr>
          <a:xfrm>
            <a:off x="8541990" y="3959275"/>
            <a:ext cx="544264" cy="436215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0" name="Shape 428"/>
          <p:cNvSpPr/>
          <p:nvPr/>
        </p:nvSpPr>
        <p:spPr>
          <a:xfrm>
            <a:off x="8541990" y="3964037"/>
            <a:ext cx="544264" cy="9144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431" name="Shape 429"/>
          <p:cNvSpPr/>
          <p:nvPr/>
        </p:nvSpPr>
        <p:spPr>
          <a:xfrm>
            <a:off x="9081492" y="3959275"/>
            <a:ext cx="9144" cy="436215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432" name="Shape 430"/>
          <p:cNvSpPr/>
          <p:nvPr/>
        </p:nvSpPr>
        <p:spPr>
          <a:xfrm>
            <a:off x="8541990" y="4390727"/>
            <a:ext cx="544264" cy="9144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433" name="Shape 431"/>
          <p:cNvSpPr/>
          <p:nvPr/>
        </p:nvSpPr>
        <p:spPr>
          <a:xfrm>
            <a:off x="8546753" y="3959275"/>
            <a:ext cx="9144" cy="436215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434" name="Text 432"/>
          <p:cNvSpPr/>
          <p:nvPr/>
        </p:nvSpPr>
        <p:spPr>
          <a:xfrm>
            <a:off x="8541990" y="3959275"/>
            <a:ext cx="555150" cy="436215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本科</a:t>
            </a:r>
            <a:endParaRPr lang="en-US" sz="975" dirty="0"/>
          </a:p>
        </p:txBody>
      </p:sp>
      <p:sp>
        <p:nvSpPr>
          <p:cNvPr id="435" name="Text 433"/>
          <p:cNvSpPr/>
          <p:nvPr/>
        </p:nvSpPr>
        <p:spPr>
          <a:xfrm>
            <a:off x="9086255" y="3959275"/>
            <a:ext cx="920204" cy="436215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6" name="Shape 434"/>
          <p:cNvSpPr/>
          <p:nvPr/>
        </p:nvSpPr>
        <p:spPr>
          <a:xfrm>
            <a:off x="9086255" y="3964037"/>
            <a:ext cx="920204" cy="9144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437" name="Shape 435"/>
          <p:cNvSpPr/>
          <p:nvPr/>
        </p:nvSpPr>
        <p:spPr>
          <a:xfrm>
            <a:off x="10001696" y="3959275"/>
            <a:ext cx="9144" cy="436215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438" name="Shape 436"/>
          <p:cNvSpPr/>
          <p:nvPr/>
        </p:nvSpPr>
        <p:spPr>
          <a:xfrm>
            <a:off x="9086255" y="4390727"/>
            <a:ext cx="920204" cy="9144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439" name="Shape 437"/>
          <p:cNvSpPr/>
          <p:nvPr/>
        </p:nvSpPr>
        <p:spPr>
          <a:xfrm>
            <a:off x="9091017" y="3959275"/>
            <a:ext cx="9144" cy="436215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440" name="Text 438"/>
          <p:cNvSpPr/>
          <p:nvPr/>
        </p:nvSpPr>
        <p:spPr>
          <a:xfrm>
            <a:off x="9086255" y="3959275"/>
            <a:ext cx="938608" cy="436215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BOSS直聘</a:t>
            </a:r>
            <a:endParaRPr lang="en-US" sz="975" dirty="0"/>
          </a:p>
        </p:txBody>
      </p:sp>
      <p:sp>
        <p:nvSpPr>
          <p:cNvPr id="441" name="Text 439"/>
          <p:cNvSpPr/>
          <p:nvPr/>
        </p:nvSpPr>
        <p:spPr>
          <a:xfrm>
            <a:off x="10006459" y="3959275"/>
            <a:ext cx="683121" cy="436215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2" name="Shape 440"/>
          <p:cNvSpPr/>
          <p:nvPr/>
        </p:nvSpPr>
        <p:spPr>
          <a:xfrm>
            <a:off x="10006459" y="3964037"/>
            <a:ext cx="683121" cy="9144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443" name="Shape 441"/>
          <p:cNvSpPr/>
          <p:nvPr/>
        </p:nvSpPr>
        <p:spPr>
          <a:xfrm>
            <a:off x="10684818" y="3959275"/>
            <a:ext cx="9144" cy="436215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444" name="Shape 442"/>
          <p:cNvSpPr/>
          <p:nvPr/>
        </p:nvSpPr>
        <p:spPr>
          <a:xfrm>
            <a:off x="10006459" y="4390727"/>
            <a:ext cx="683121" cy="9144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445" name="Shape 443"/>
          <p:cNvSpPr/>
          <p:nvPr/>
        </p:nvSpPr>
        <p:spPr>
          <a:xfrm>
            <a:off x="10011221" y="3959275"/>
            <a:ext cx="9144" cy="436215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446" name="Text 444"/>
          <p:cNvSpPr/>
          <p:nvPr/>
        </p:nvSpPr>
        <p:spPr>
          <a:xfrm>
            <a:off x="10006459" y="3959275"/>
            <a:ext cx="696784" cy="436215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F39C12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80</a:t>
            </a:r>
            <a:endParaRPr lang="en-US" sz="975" dirty="0"/>
          </a:p>
        </p:txBody>
      </p:sp>
      <p:sp>
        <p:nvSpPr>
          <p:cNvPr id="447" name="Text 445"/>
          <p:cNvSpPr/>
          <p:nvPr/>
        </p:nvSpPr>
        <p:spPr>
          <a:xfrm>
            <a:off x="10689580" y="3959275"/>
            <a:ext cx="545157" cy="436215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8" name="Shape 446"/>
          <p:cNvSpPr/>
          <p:nvPr/>
        </p:nvSpPr>
        <p:spPr>
          <a:xfrm>
            <a:off x="10689580" y="3964037"/>
            <a:ext cx="545157" cy="9144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449" name="Shape 447"/>
          <p:cNvSpPr/>
          <p:nvPr/>
        </p:nvSpPr>
        <p:spPr>
          <a:xfrm>
            <a:off x="11229975" y="3959275"/>
            <a:ext cx="9144" cy="436215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450" name="Shape 448"/>
          <p:cNvSpPr/>
          <p:nvPr/>
        </p:nvSpPr>
        <p:spPr>
          <a:xfrm>
            <a:off x="10689580" y="4390727"/>
            <a:ext cx="545157" cy="9144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451" name="Shape 449"/>
          <p:cNvSpPr/>
          <p:nvPr/>
        </p:nvSpPr>
        <p:spPr>
          <a:xfrm>
            <a:off x="10694343" y="3959275"/>
            <a:ext cx="9144" cy="436215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452" name="Text 450"/>
          <p:cNvSpPr/>
          <p:nvPr/>
        </p:nvSpPr>
        <p:spPr>
          <a:xfrm>
            <a:off x="10689580" y="3959275"/>
            <a:ext cx="556061" cy="436215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链接</a:t>
            </a:r>
            <a:endParaRPr lang="en-US" sz="975" dirty="0"/>
          </a:p>
        </p:txBody>
      </p:sp>
      <p:sp>
        <p:nvSpPr>
          <p:cNvPr id="453" name="Shape 451"/>
          <p:cNvSpPr/>
          <p:nvPr/>
        </p:nvSpPr>
        <p:spPr>
          <a:xfrm>
            <a:off x="957263" y="4400252"/>
            <a:ext cx="544264" cy="9144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454" name="Shape 452"/>
          <p:cNvSpPr/>
          <p:nvPr/>
        </p:nvSpPr>
        <p:spPr>
          <a:xfrm>
            <a:off x="1496764" y="4395490"/>
            <a:ext cx="9144" cy="436215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455" name="Shape 453"/>
          <p:cNvSpPr/>
          <p:nvPr/>
        </p:nvSpPr>
        <p:spPr>
          <a:xfrm>
            <a:off x="957263" y="4826943"/>
            <a:ext cx="544264" cy="9144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456" name="Shape 454"/>
          <p:cNvSpPr/>
          <p:nvPr/>
        </p:nvSpPr>
        <p:spPr>
          <a:xfrm>
            <a:off x="962025" y="4395490"/>
            <a:ext cx="9144" cy="436215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457" name="Text 455"/>
          <p:cNvSpPr/>
          <p:nvPr/>
        </p:nvSpPr>
        <p:spPr>
          <a:xfrm>
            <a:off x="957263" y="4395490"/>
            <a:ext cx="555150" cy="436215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975" dirty="0"/>
          </a:p>
        </p:txBody>
      </p:sp>
      <p:sp>
        <p:nvSpPr>
          <p:cNvPr id="458" name="Shape 456"/>
          <p:cNvSpPr/>
          <p:nvPr/>
        </p:nvSpPr>
        <p:spPr>
          <a:xfrm>
            <a:off x="1501527" y="4400252"/>
            <a:ext cx="2579489" cy="9144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459" name="Shape 457"/>
          <p:cNvSpPr/>
          <p:nvPr/>
        </p:nvSpPr>
        <p:spPr>
          <a:xfrm>
            <a:off x="4076254" y="4395490"/>
            <a:ext cx="9144" cy="436215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460" name="Shape 458"/>
          <p:cNvSpPr/>
          <p:nvPr/>
        </p:nvSpPr>
        <p:spPr>
          <a:xfrm>
            <a:off x="1501527" y="4826943"/>
            <a:ext cx="2579489" cy="9144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461" name="Shape 459"/>
          <p:cNvSpPr/>
          <p:nvPr/>
        </p:nvSpPr>
        <p:spPr>
          <a:xfrm>
            <a:off x="1506289" y="4395490"/>
            <a:ext cx="9144" cy="436215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462" name="Text 460"/>
          <p:cNvSpPr/>
          <p:nvPr/>
        </p:nvSpPr>
        <p:spPr>
          <a:xfrm>
            <a:off x="1501527" y="4395490"/>
            <a:ext cx="2631079" cy="436215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顺丰速运有限公司</a:t>
            </a:r>
            <a:endParaRPr lang="en-US" sz="975" dirty="0"/>
          </a:p>
        </p:txBody>
      </p:sp>
      <p:sp>
        <p:nvSpPr>
          <p:cNvPr id="463" name="Shape 461"/>
          <p:cNvSpPr/>
          <p:nvPr/>
        </p:nvSpPr>
        <p:spPr>
          <a:xfrm>
            <a:off x="4081016" y="4400252"/>
            <a:ext cx="2395686" cy="9144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464" name="Shape 462"/>
          <p:cNvSpPr/>
          <p:nvPr/>
        </p:nvSpPr>
        <p:spPr>
          <a:xfrm>
            <a:off x="6471940" y="4395490"/>
            <a:ext cx="9144" cy="436215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465" name="Shape 463"/>
          <p:cNvSpPr/>
          <p:nvPr/>
        </p:nvSpPr>
        <p:spPr>
          <a:xfrm>
            <a:off x="4081016" y="4826943"/>
            <a:ext cx="2395686" cy="9144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466" name="Shape 464"/>
          <p:cNvSpPr/>
          <p:nvPr/>
        </p:nvSpPr>
        <p:spPr>
          <a:xfrm>
            <a:off x="4085779" y="4395490"/>
            <a:ext cx="9144" cy="436215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467" name="Text 465"/>
          <p:cNvSpPr/>
          <p:nvPr/>
        </p:nvSpPr>
        <p:spPr>
          <a:xfrm>
            <a:off x="4081016" y="4395490"/>
            <a:ext cx="2443600" cy="436215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WEB前端开发工程师</a:t>
            </a:r>
            <a:endParaRPr lang="en-US" sz="975" dirty="0"/>
          </a:p>
        </p:txBody>
      </p:sp>
      <p:sp>
        <p:nvSpPr>
          <p:cNvPr id="468" name="Shape 466"/>
          <p:cNvSpPr/>
          <p:nvPr/>
        </p:nvSpPr>
        <p:spPr>
          <a:xfrm>
            <a:off x="6476702" y="4400252"/>
            <a:ext cx="1104751" cy="9144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469" name="Shape 467"/>
          <p:cNvSpPr/>
          <p:nvPr/>
        </p:nvSpPr>
        <p:spPr>
          <a:xfrm>
            <a:off x="7576691" y="4395490"/>
            <a:ext cx="9144" cy="436215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470" name="Shape 468"/>
          <p:cNvSpPr/>
          <p:nvPr/>
        </p:nvSpPr>
        <p:spPr>
          <a:xfrm>
            <a:off x="6476702" y="4826943"/>
            <a:ext cx="1104751" cy="9144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471" name="Shape 469"/>
          <p:cNvSpPr/>
          <p:nvPr/>
        </p:nvSpPr>
        <p:spPr>
          <a:xfrm>
            <a:off x="6481465" y="4395490"/>
            <a:ext cx="9144" cy="436215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472" name="Text 470"/>
          <p:cNvSpPr/>
          <p:nvPr/>
        </p:nvSpPr>
        <p:spPr>
          <a:xfrm>
            <a:off x="6476702" y="4395490"/>
            <a:ext cx="1126846" cy="436215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未说明</a:t>
            </a:r>
            <a:endParaRPr lang="en-US" sz="975" dirty="0"/>
          </a:p>
        </p:txBody>
      </p:sp>
      <p:sp>
        <p:nvSpPr>
          <p:cNvPr id="473" name="Shape 471"/>
          <p:cNvSpPr/>
          <p:nvPr/>
        </p:nvSpPr>
        <p:spPr>
          <a:xfrm>
            <a:off x="7581454" y="4400252"/>
            <a:ext cx="960537" cy="9144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474" name="Shape 472"/>
          <p:cNvSpPr/>
          <p:nvPr/>
        </p:nvSpPr>
        <p:spPr>
          <a:xfrm>
            <a:off x="8537228" y="4395490"/>
            <a:ext cx="9144" cy="436215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475" name="Shape 473"/>
          <p:cNvSpPr/>
          <p:nvPr/>
        </p:nvSpPr>
        <p:spPr>
          <a:xfrm>
            <a:off x="7581454" y="4826943"/>
            <a:ext cx="960537" cy="9144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476" name="Shape 474"/>
          <p:cNvSpPr/>
          <p:nvPr/>
        </p:nvSpPr>
        <p:spPr>
          <a:xfrm>
            <a:off x="7586216" y="4395490"/>
            <a:ext cx="9144" cy="436215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477" name="Text 475"/>
          <p:cNvSpPr/>
          <p:nvPr/>
        </p:nvSpPr>
        <p:spPr>
          <a:xfrm>
            <a:off x="7581454" y="4395490"/>
            <a:ext cx="979747" cy="436215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1-3年</a:t>
            </a:r>
            <a:endParaRPr lang="en-US" sz="975" dirty="0"/>
          </a:p>
        </p:txBody>
      </p:sp>
      <p:sp>
        <p:nvSpPr>
          <p:cNvPr id="478" name="Shape 476"/>
          <p:cNvSpPr/>
          <p:nvPr/>
        </p:nvSpPr>
        <p:spPr>
          <a:xfrm>
            <a:off x="8541990" y="4400252"/>
            <a:ext cx="544264" cy="9144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479" name="Shape 477"/>
          <p:cNvSpPr/>
          <p:nvPr/>
        </p:nvSpPr>
        <p:spPr>
          <a:xfrm>
            <a:off x="9081492" y="4395490"/>
            <a:ext cx="9144" cy="436215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480" name="Shape 478"/>
          <p:cNvSpPr/>
          <p:nvPr/>
        </p:nvSpPr>
        <p:spPr>
          <a:xfrm>
            <a:off x="8541990" y="4826943"/>
            <a:ext cx="544264" cy="9144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481" name="Shape 479"/>
          <p:cNvSpPr/>
          <p:nvPr/>
        </p:nvSpPr>
        <p:spPr>
          <a:xfrm>
            <a:off x="8546753" y="4395490"/>
            <a:ext cx="9144" cy="436215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482" name="Text 480"/>
          <p:cNvSpPr/>
          <p:nvPr/>
        </p:nvSpPr>
        <p:spPr>
          <a:xfrm>
            <a:off x="8541990" y="4395490"/>
            <a:ext cx="555150" cy="436215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本科</a:t>
            </a:r>
            <a:endParaRPr lang="en-US" sz="975" dirty="0"/>
          </a:p>
        </p:txBody>
      </p:sp>
      <p:sp>
        <p:nvSpPr>
          <p:cNvPr id="483" name="Shape 481"/>
          <p:cNvSpPr/>
          <p:nvPr/>
        </p:nvSpPr>
        <p:spPr>
          <a:xfrm>
            <a:off x="9086255" y="4400252"/>
            <a:ext cx="920204" cy="9144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484" name="Shape 482"/>
          <p:cNvSpPr/>
          <p:nvPr/>
        </p:nvSpPr>
        <p:spPr>
          <a:xfrm>
            <a:off x="10001696" y="4395490"/>
            <a:ext cx="9144" cy="436215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485" name="Shape 483"/>
          <p:cNvSpPr/>
          <p:nvPr/>
        </p:nvSpPr>
        <p:spPr>
          <a:xfrm>
            <a:off x="9086255" y="4826943"/>
            <a:ext cx="920204" cy="9144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486" name="Shape 484"/>
          <p:cNvSpPr/>
          <p:nvPr/>
        </p:nvSpPr>
        <p:spPr>
          <a:xfrm>
            <a:off x="9091017" y="4395490"/>
            <a:ext cx="9144" cy="436215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487" name="Text 485"/>
          <p:cNvSpPr/>
          <p:nvPr/>
        </p:nvSpPr>
        <p:spPr>
          <a:xfrm>
            <a:off x="9086255" y="4395490"/>
            <a:ext cx="938608" cy="436215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BOSS直聘</a:t>
            </a:r>
            <a:endParaRPr lang="en-US" sz="975" dirty="0"/>
          </a:p>
        </p:txBody>
      </p:sp>
      <p:sp>
        <p:nvSpPr>
          <p:cNvPr id="488" name="Shape 486"/>
          <p:cNvSpPr/>
          <p:nvPr/>
        </p:nvSpPr>
        <p:spPr>
          <a:xfrm>
            <a:off x="10006459" y="4400252"/>
            <a:ext cx="683121" cy="9144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489" name="Shape 487"/>
          <p:cNvSpPr/>
          <p:nvPr/>
        </p:nvSpPr>
        <p:spPr>
          <a:xfrm>
            <a:off x="10684818" y="4395490"/>
            <a:ext cx="9144" cy="436215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490" name="Shape 488"/>
          <p:cNvSpPr/>
          <p:nvPr/>
        </p:nvSpPr>
        <p:spPr>
          <a:xfrm>
            <a:off x="10006459" y="4826943"/>
            <a:ext cx="683121" cy="9144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491" name="Shape 489"/>
          <p:cNvSpPr/>
          <p:nvPr/>
        </p:nvSpPr>
        <p:spPr>
          <a:xfrm>
            <a:off x="10011221" y="4395490"/>
            <a:ext cx="9144" cy="436215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492" name="Text 490"/>
          <p:cNvSpPr/>
          <p:nvPr/>
        </p:nvSpPr>
        <p:spPr>
          <a:xfrm>
            <a:off x="10006459" y="4395490"/>
            <a:ext cx="696784" cy="436215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F39C12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78</a:t>
            </a:r>
            <a:endParaRPr lang="en-US" sz="975" dirty="0"/>
          </a:p>
        </p:txBody>
      </p:sp>
      <p:sp>
        <p:nvSpPr>
          <p:cNvPr id="493" name="Shape 491"/>
          <p:cNvSpPr/>
          <p:nvPr/>
        </p:nvSpPr>
        <p:spPr>
          <a:xfrm>
            <a:off x="10689580" y="4400252"/>
            <a:ext cx="545157" cy="9144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494" name="Shape 492"/>
          <p:cNvSpPr/>
          <p:nvPr/>
        </p:nvSpPr>
        <p:spPr>
          <a:xfrm>
            <a:off x="11229975" y="4395490"/>
            <a:ext cx="9144" cy="436215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495" name="Shape 493"/>
          <p:cNvSpPr/>
          <p:nvPr/>
        </p:nvSpPr>
        <p:spPr>
          <a:xfrm>
            <a:off x="10689580" y="4826943"/>
            <a:ext cx="545157" cy="9144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496" name="Shape 494"/>
          <p:cNvSpPr/>
          <p:nvPr/>
        </p:nvSpPr>
        <p:spPr>
          <a:xfrm>
            <a:off x="10694343" y="4395490"/>
            <a:ext cx="9144" cy="436215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497" name="Text 495"/>
          <p:cNvSpPr/>
          <p:nvPr/>
        </p:nvSpPr>
        <p:spPr>
          <a:xfrm>
            <a:off x="10689580" y="4395490"/>
            <a:ext cx="556061" cy="436215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链接</a:t>
            </a:r>
            <a:endParaRPr lang="en-US" sz="975" dirty="0"/>
          </a:p>
        </p:txBody>
      </p:sp>
      <p:sp>
        <p:nvSpPr>
          <p:cNvPr id="498" name="Text 496"/>
          <p:cNvSpPr/>
          <p:nvPr/>
        </p:nvSpPr>
        <p:spPr>
          <a:xfrm>
            <a:off x="957263" y="4831705"/>
            <a:ext cx="544264" cy="436215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9" name="Shape 497"/>
          <p:cNvSpPr/>
          <p:nvPr/>
        </p:nvSpPr>
        <p:spPr>
          <a:xfrm>
            <a:off x="957263" y="4836468"/>
            <a:ext cx="544264" cy="9144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500" name="Shape 498"/>
          <p:cNvSpPr/>
          <p:nvPr/>
        </p:nvSpPr>
        <p:spPr>
          <a:xfrm>
            <a:off x="1496764" y="4831705"/>
            <a:ext cx="9144" cy="436215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501" name="Shape 499"/>
          <p:cNvSpPr/>
          <p:nvPr/>
        </p:nvSpPr>
        <p:spPr>
          <a:xfrm>
            <a:off x="957263" y="5263158"/>
            <a:ext cx="544264" cy="9144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502" name="Shape 500"/>
          <p:cNvSpPr/>
          <p:nvPr/>
        </p:nvSpPr>
        <p:spPr>
          <a:xfrm>
            <a:off x="962025" y="4831705"/>
            <a:ext cx="9144" cy="436215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503" name="Text 501"/>
          <p:cNvSpPr/>
          <p:nvPr/>
        </p:nvSpPr>
        <p:spPr>
          <a:xfrm>
            <a:off x="957263" y="4831705"/>
            <a:ext cx="555150" cy="436215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975" dirty="0"/>
          </a:p>
        </p:txBody>
      </p:sp>
      <p:sp>
        <p:nvSpPr>
          <p:cNvPr id="504" name="Text 502"/>
          <p:cNvSpPr/>
          <p:nvPr/>
        </p:nvSpPr>
        <p:spPr>
          <a:xfrm>
            <a:off x="1501527" y="4831705"/>
            <a:ext cx="2579489" cy="436215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5" name="Shape 503"/>
          <p:cNvSpPr/>
          <p:nvPr/>
        </p:nvSpPr>
        <p:spPr>
          <a:xfrm>
            <a:off x="1501527" y="4836468"/>
            <a:ext cx="2579489" cy="9144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506" name="Shape 504"/>
          <p:cNvSpPr/>
          <p:nvPr/>
        </p:nvSpPr>
        <p:spPr>
          <a:xfrm>
            <a:off x="4076254" y="4831705"/>
            <a:ext cx="9144" cy="436215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507" name="Shape 505"/>
          <p:cNvSpPr/>
          <p:nvPr/>
        </p:nvSpPr>
        <p:spPr>
          <a:xfrm>
            <a:off x="1501527" y="5263158"/>
            <a:ext cx="2579489" cy="9144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508" name="Shape 506"/>
          <p:cNvSpPr/>
          <p:nvPr/>
        </p:nvSpPr>
        <p:spPr>
          <a:xfrm>
            <a:off x="1506289" y="4831705"/>
            <a:ext cx="9144" cy="436215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509" name="Text 507"/>
          <p:cNvSpPr/>
          <p:nvPr/>
        </p:nvSpPr>
        <p:spPr>
          <a:xfrm>
            <a:off x="1501527" y="4831705"/>
            <a:ext cx="2631079" cy="436215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蚂蚁集团</a:t>
            </a:r>
            <a:endParaRPr lang="en-US" sz="975" dirty="0"/>
          </a:p>
        </p:txBody>
      </p:sp>
      <p:sp>
        <p:nvSpPr>
          <p:cNvPr id="510" name="Text 508"/>
          <p:cNvSpPr/>
          <p:nvPr/>
        </p:nvSpPr>
        <p:spPr>
          <a:xfrm>
            <a:off x="4081016" y="4831705"/>
            <a:ext cx="2395686" cy="436215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1" name="Shape 509"/>
          <p:cNvSpPr/>
          <p:nvPr/>
        </p:nvSpPr>
        <p:spPr>
          <a:xfrm>
            <a:off x="4081016" y="4836468"/>
            <a:ext cx="2395686" cy="9144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512" name="Shape 510"/>
          <p:cNvSpPr/>
          <p:nvPr/>
        </p:nvSpPr>
        <p:spPr>
          <a:xfrm>
            <a:off x="6471940" y="4831705"/>
            <a:ext cx="9144" cy="436215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513" name="Shape 511"/>
          <p:cNvSpPr/>
          <p:nvPr/>
        </p:nvSpPr>
        <p:spPr>
          <a:xfrm>
            <a:off x="4081016" y="5263158"/>
            <a:ext cx="2395686" cy="9144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514" name="Shape 512"/>
          <p:cNvSpPr/>
          <p:nvPr/>
        </p:nvSpPr>
        <p:spPr>
          <a:xfrm>
            <a:off x="4085779" y="4831705"/>
            <a:ext cx="9144" cy="436215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515" name="Text 513"/>
          <p:cNvSpPr/>
          <p:nvPr/>
        </p:nvSpPr>
        <p:spPr>
          <a:xfrm>
            <a:off x="4081016" y="4831705"/>
            <a:ext cx="2443600" cy="436215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web前端</a:t>
            </a:r>
            <a:endParaRPr lang="en-US" sz="975" dirty="0"/>
          </a:p>
        </p:txBody>
      </p:sp>
      <p:sp>
        <p:nvSpPr>
          <p:cNvPr id="516" name="Text 514"/>
          <p:cNvSpPr/>
          <p:nvPr/>
        </p:nvSpPr>
        <p:spPr>
          <a:xfrm>
            <a:off x="6476702" y="4831705"/>
            <a:ext cx="1104751" cy="436215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7" name="Shape 515"/>
          <p:cNvSpPr/>
          <p:nvPr/>
        </p:nvSpPr>
        <p:spPr>
          <a:xfrm>
            <a:off x="6476702" y="4836468"/>
            <a:ext cx="1104751" cy="9144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518" name="Shape 516"/>
          <p:cNvSpPr/>
          <p:nvPr/>
        </p:nvSpPr>
        <p:spPr>
          <a:xfrm>
            <a:off x="7576691" y="4831705"/>
            <a:ext cx="9144" cy="436215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519" name="Shape 517"/>
          <p:cNvSpPr/>
          <p:nvPr/>
        </p:nvSpPr>
        <p:spPr>
          <a:xfrm>
            <a:off x="6476702" y="5263158"/>
            <a:ext cx="1104751" cy="9144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520" name="Shape 518"/>
          <p:cNvSpPr/>
          <p:nvPr/>
        </p:nvSpPr>
        <p:spPr>
          <a:xfrm>
            <a:off x="6481465" y="4831705"/>
            <a:ext cx="9144" cy="436215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521" name="Text 519"/>
          <p:cNvSpPr/>
          <p:nvPr/>
        </p:nvSpPr>
        <p:spPr>
          <a:xfrm>
            <a:off x="6476702" y="4831705"/>
            <a:ext cx="1126846" cy="436215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未说明</a:t>
            </a:r>
            <a:endParaRPr lang="en-US" sz="975" dirty="0"/>
          </a:p>
        </p:txBody>
      </p:sp>
      <p:sp>
        <p:nvSpPr>
          <p:cNvPr id="522" name="Text 520"/>
          <p:cNvSpPr/>
          <p:nvPr/>
        </p:nvSpPr>
        <p:spPr>
          <a:xfrm>
            <a:off x="7581454" y="4831705"/>
            <a:ext cx="960537" cy="436215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3" name="Shape 521"/>
          <p:cNvSpPr/>
          <p:nvPr/>
        </p:nvSpPr>
        <p:spPr>
          <a:xfrm>
            <a:off x="7581454" y="4836468"/>
            <a:ext cx="960537" cy="9144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524" name="Shape 522"/>
          <p:cNvSpPr/>
          <p:nvPr/>
        </p:nvSpPr>
        <p:spPr>
          <a:xfrm>
            <a:off x="8537228" y="4831705"/>
            <a:ext cx="9144" cy="436215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525" name="Shape 523"/>
          <p:cNvSpPr/>
          <p:nvPr/>
        </p:nvSpPr>
        <p:spPr>
          <a:xfrm>
            <a:off x="7581454" y="5263158"/>
            <a:ext cx="960537" cy="9144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526" name="Shape 524"/>
          <p:cNvSpPr/>
          <p:nvPr/>
        </p:nvSpPr>
        <p:spPr>
          <a:xfrm>
            <a:off x="7586216" y="4831705"/>
            <a:ext cx="9144" cy="436215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527" name="Text 525"/>
          <p:cNvSpPr/>
          <p:nvPr/>
        </p:nvSpPr>
        <p:spPr>
          <a:xfrm>
            <a:off x="7581454" y="4831705"/>
            <a:ext cx="979747" cy="436215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经验不限</a:t>
            </a:r>
            <a:endParaRPr lang="en-US" sz="975" dirty="0"/>
          </a:p>
        </p:txBody>
      </p:sp>
      <p:sp>
        <p:nvSpPr>
          <p:cNvPr id="528" name="Text 526"/>
          <p:cNvSpPr/>
          <p:nvPr/>
        </p:nvSpPr>
        <p:spPr>
          <a:xfrm>
            <a:off x="8541990" y="4831705"/>
            <a:ext cx="544264" cy="436215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9" name="Shape 527"/>
          <p:cNvSpPr/>
          <p:nvPr/>
        </p:nvSpPr>
        <p:spPr>
          <a:xfrm>
            <a:off x="8541990" y="4836468"/>
            <a:ext cx="544264" cy="9144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530" name="Shape 528"/>
          <p:cNvSpPr/>
          <p:nvPr/>
        </p:nvSpPr>
        <p:spPr>
          <a:xfrm>
            <a:off x="9081492" y="4831705"/>
            <a:ext cx="9144" cy="436215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531" name="Shape 529"/>
          <p:cNvSpPr/>
          <p:nvPr/>
        </p:nvSpPr>
        <p:spPr>
          <a:xfrm>
            <a:off x="8541990" y="5263158"/>
            <a:ext cx="544264" cy="9144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532" name="Shape 530"/>
          <p:cNvSpPr/>
          <p:nvPr/>
        </p:nvSpPr>
        <p:spPr>
          <a:xfrm>
            <a:off x="8546753" y="4831705"/>
            <a:ext cx="9144" cy="436215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533" name="Text 531"/>
          <p:cNvSpPr/>
          <p:nvPr/>
        </p:nvSpPr>
        <p:spPr>
          <a:xfrm>
            <a:off x="8541990" y="4831705"/>
            <a:ext cx="555150" cy="436215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本科</a:t>
            </a:r>
            <a:endParaRPr lang="en-US" sz="975" dirty="0"/>
          </a:p>
        </p:txBody>
      </p:sp>
      <p:sp>
        <p:nvSpPr>
          <p:cNvPr id="534" name="Text 532"/>
          <p:cNvSpPr/>
          <p:nvPr/>
        </p:nvSpPr>
        <p:spPr>
          <a:xfrm>
            <a:off x="9086255" y="4831705"/>
            <a:ext cx="920204" cy="436215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5" name="Shape 533"/>
          <p:cNvSpPr/>
          <p:nvPr/>
        </p:nvSpPr>
        <p:spPr>
          <a:xfrm>
            <a:off x="9086255" y="4836468"/>
            <a:ext cx="920204" cy="9144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536" name="Shape 534"/>
          <p:cNvSpPr/>
          <p:nvPr/>
        </p:nvSpPr>
        <p:spPr>
          <a:xfrm>
            <a:off x="10001696" y="4831705"/>
            <a:ext cx="9144" cy="436215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537" name="Shape 535"/>
          <p:cNvSpPr/>
          <p:nvPr/>
        </p:nvSpPr>
        <p:spPr>
          <a:xfrm>
            <a:off x="9086255" y="5263158"/>
            <a:ext cx="920204" cy="9144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538" name="Shape 536"/>
          <p:cNvSpPr/>
          <p:nvPr/>
        </p:nvSpPr>
        <p:spPr>
          <a:xfrm>
            <a:off x="9091017" y="4831705"/>
            <a:ext cx="9144" cy="436215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539" name="Text 537"/>
          <p:cNvSpPr/>
          <p:nvPr/>
        </p:nvSpPr>
        <p:spPr>
          <a:xfrm>
            <a:off x="9086255" y="4831705"/>
            <a:ext cx="938608" cy="436215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BOSS直聘</a:t>
            </a:r>
            <a:endParaRPr lang="en-US" sz="975" dirty="0"/>
          </a:p>
        </p:txBody>
      </p:sp>
      <p:sp>
        <p:nvSpPr>
          <p:cNvPr id="540" name="Text 538"/>
          <p:cNvSpPr/>
          <p:nvPr/>
        </p:nvSpPr>
        <p:spPr>
          <a:xfrm>
            <a:off x="10006459" y="4831705"/>
            <a:ext cx="683121" cy="436215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1" name="Shape 539"/>
          <p:cNvSpPr/>
          <p:nvPr/>
        </p:nvSpPr>
        <p:spPr>
          <a:xfrm>
            <a:off x="10006459" y="4836468"/>
            <a:ext cx="683121" cy="9144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542" name="Shape 540"/>
          <p:cNvSpPr/>
          <p:nvPr/>
        </p:nvSpPr>
        <p:spPr>
          <a:xfrm>
            <a:off x="10684818" y="4831705"/>
            <a:ext cx="9144" cy="436215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543" name="Shape 541"/>
          <p:cNvSpPr/>
          <p:nvPr/>
        </p:nvSpPr>
        <p:spPr>
          <a:xfrm>
            <a:off x="10006459" y="5263158"/>
            <a:ext cx="683121" cy="9144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544" name="Shape 542"/>
          <p:cNvSpPr/>
          <p:nvPr/>
        </p:nvSpPr>
        <p:spPr>
          <a:xfrm>
            <a:off x="10011221" y="4831705"/>
            <a:ext cx="9144" cy="436215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545" name="Text 543"/>
          <p:cNvSpPr/>
          <p:nvPr/>
        </p:nvSpPr>
        <p:spPr>
          <a:xfrm>
            <a:off x="10006459" y="4831705"/>
            <a:ext cx="696784" cy="436215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F39C12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78</a:t>
            </a:r>
            <a:endParaRPr lang="en-US" sz="975" dirty="0"/>
          </a:p>
        </p:txBody>
      </p:sp>
      <p:sp>
        <p:nvSpPr>
          <p:cNvPr id="546" name="Text 544"/>
          <p:cNvSpPr/>
          <p:nvPr/>
        </p:nvSpPr>
        <p:spPr>
          <a:xfrm>
            <a:off x="10689580" y="4831705"/>
            <a:ext cx="545157" cy="436215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7" name="Shape 545"/>
          <p:cNvSpPr/>
          <p:nvPr/>
        </p:nvSpPr>
        <p:spPr>
          <a:xfrm>
            <a:off x="10689580" y="4836468"/>
            <a:ext cx="545157" cy="9144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548" name="Shape 546"/>
          <p:cNvSpPr/>
          <p:nvPr/>
        </p:nvSpPr>
        <p:spPr>
          <a:xfrm>
            <a:off x="11229975" y="4831705"/>
            <a:ext cx="9144" cy="436215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549" name="Shape 547"/>
          <p:cNvSpPr/>
          <p:nvPr/>
        </p:nvSpPr>
        <p:spPr>
          <a:xfrm>
            <a:off x="10689580" y="5263158"/>
            <a:ext cx="545157" cy="9144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550" name="Shape 548"/>
          <p:cNvSpPr/>
          <p:nvPr/>
        </p:nvSpPr>
        <p:spPr>
          <a:xfrm>
            <a:off x="10694343" y="4831705"/>
            <a:ext cx="9144" cy="436215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551" name="Text 549"/>
          <p:cNvSpPr/>
          <p:nvPr/>
        </p:nvSpPr>
        <p:spPr>
          <a:xfrm>
            <a:off x="10689580" y="4831705"/>
            <a:ext cx="556061" cy="436215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链接</a:t>
            </a:r>
            <a:endParaRPr lang="en-US" sz="975" dirty="0"/>
          </a:p>
        </p:txBody>
      </p:sp>
      <p:sp>
        <p:nvSpPr>
          <p:cNvPr id="552" name="Text 550"/>
          <p:cNvSpPr/>
          <p:nvPr/>
        </p:nvSpPr>
        <p:spPr>
          <a:xfrm>
            <a:off x="952500" y="5558433"/>
            <a:ext cx="1049274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2250"/>
              </a:spcBef>
              <a:spcAft>
                <a:spcPts val="1125"/>
              </a:spcAft>
              <a:buNone/>
            </a:pPr>
            <a:r>
              <a:rPr lang="en-US" sz="1350" dirty="0">
                <a:solidFill>
                  <a:srgbClr val="2C3E50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4.2 匹配度分析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0"/>
            <a:ext cx="10492740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主要匹配点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52500" y="253305"/>
            <a:ext cx="104927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技能匹配度高：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90625" y="497086"/>
            <a:ext cx="1024985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React基础技能与80%+岗位需求吻合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90625" y="836116"/>
            <a:ext cx="1024985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JavaScript、HTML/CSS基础扎实，符合前端开发核心要求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90625" y="1175147"/>
            <a:ext cx="1024985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Java技能匹配部分全栈岗位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90625" y="1514177"/>
            <a:ext cx="1024985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有Spring Boot项目经验，适合前后端结合的岗位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52500" y="1853208"/>
            <a:ext cx="104927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经验要求匹配：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90625" y="2096988"/>
            <a:ext cx="1024985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校招、实习岗位与应届生身份完美匹配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90625" y="2436019"/>
            <a:ext cx="1024985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3个"经验不限"岗位提供了更多选择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90625" y="2775049"/>
            <a:ext cx="1024985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1-3年经验岗位可以尝试投递，有实习经历作为加分项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52500" y="3114080"/>
            <a:ext cx="104927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城市匹配度：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所有检索岗位均在杭州，完全符合目标城市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0"/>
            <a:ext cx="10492740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主要差距与补齐建议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52500" y="253305"/>
            <a:ext cx="104927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经验差距：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90625" y="497086"/>
            <a:ext cx="1024985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大部分优质岗位要求1-3年及以上经验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90625" y="836116"/>
            <a:ext cx="1024985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建议：优先投递校招和实习岗位，积累经验后再考虑跳槽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52500" y="1175147"/>
            <a:ext cx="104927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技能缺口：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90625" y="1418927"/>
            <a:ext cx="1024985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TypeScript：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60%以上岗位要求，但候选人未掌握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90625" y="1757958"/>
            <a:ext cx="1024985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Node.js深度使用：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40%岗位要求，仅了解基础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90625" y="2096988"/>
            <a:ext cx="1024985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前端工程化：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webpack/vite等工具实战经验不足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90625" y="2436019"/>
            <a:ext cx="1024985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React Native：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部分移动端岗位要求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90625" y="2775049"/>
            <a:ext cx="1024985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Vue框架：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30%岗位要求Vue，候选人主要掌握React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52500" y="3114080"/>
            <a:ext cx="104927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补齐建议：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90625" y="3357860"/>
            <a:ext cx="1024985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短期（1个月内）：学习TypeScript基础，完成小项目练习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90625" y="3696891"/>
            <a:ext cx="1024985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中期（2-3个月）：深入学习前端工程化工具（webpack/vite）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90625" y="4035921"/>
            <a:ext cx="1024985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长期（3-6个月）：补充Vue框架知识，考虑学习Node.js后端开发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52500" y="4651177"/>
            <a:ext cx="10492740" cy="335161"/>
          </a:xfrm>
          <a:prstGeom prst="rect">
            <a:avLst/>
          </a:prstGeom>
          <a:noFill/>
          <a:ln/>
        </p:spPr>
        <p:txBody>
          <a:bodyPr wrap="square" lIns="142875" tIns="0" rIns="0" bIns="0" rtlCol="0" anchor="t"/>
          <a:lstStyle/>
          <a:p>
            <a:pPr algn="l" indent="0" marL="0">
              <a:lnSpc>
                <a:spcPts val="2640"/>
              </a:lnSpc>
              <a:spcBef>
                <a:spcPts val="3000"/>
              </a:spcBef>
              <a:spcAft>
                <a:spcPts val="1500"/>
              </a:spcAft>
              <a:buNone/>
            </a:pPr>
            <a:r>
              <a:rPr lang="en-US" sz="1650" dirty="0">
                <a:solidFill>
                  <a:srgbClr val="34495E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五、图表分析</a:t>
            </a:r>
            <a:endParaRPr lang="en-US" sz="1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0"/>
            <a:ext cx="1049274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2250"/>
              </a:spcBef>
              <a:spcAft>
                <a:spcPts val="1125"/>
              </a:spcAft>
              <a:buNone/>
            </a:pPr>
            <a:r>
              <a:rPr lang="en-US" sz="1350" dirty="0">
                <a:solidFill>
                  <a:srgbClr val="2C3E50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5.1 薪资范围对比图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952500" y="464790"/>
            <a:ext cx="10287000" cy="1043880"/>
          </a:xfrm>
          <a:prstGeom prst="roundRect">
            <a:avLst>
              <a:gd name="adj" fmla="val 7300"/>
            </a:avLst>
          </a:prstGeom>
          <a:solidFill>
            <a:srgbClr val="F8F9FA"/>
          </a:solidFill>
          <a:ln w="19050">
            <a:solidFill>
              <a:srgbClr val="DDDD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849630" y="464790"/>
            <a:ext cx="10492740" cy="1043880"/>
          </a:xfrm>
          <a:prstGeom prst="rect">
            <a:avLst/>
          </a:prstGeom>
          <a:noFill/>
          <a:ln/>
        </p:spPr>
        <p:txBody>
          <a:bodyPr wrap="square" lIns="381000" tIns="381000" rIns="381000" bIns="381000" rtlCol="0" anchor="t"/>
          <a:lstStyle/>
          <a:p>
            <a:pPr algn="ctr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[图表：薪资范围对比 - 请查看 charts/salary_range.png]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52500" y="1699171"/>
            <a:ext cx="10492740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spcAft>
                <a:spcPts val="75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分析：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90625" y="2047726"/>
            <a:ext cx="1024985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高端岗位（18k-35k）主要面向3-5年+经验的开发者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90625" y="2386757"/>
            <a:ext cx="1024985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应届生合理薪资区间为8k-11k（经验不限）或实习300-400元/天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90625" y="2725787"/>
            <a:ext cx="1024985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中等薪资区间（12k-18k）对应1-3年经验，可作为中期目标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52500" y="3245793"/>
            <a:ext cx="1049274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2250"/>
              </a:spcBef>
              <a:spcAft>
                <a:spcPts val="1125"/>
              </a:spcAft>
              <a:buNone/>
            </a:pPr>
            <a:r>
              <a:rPr lang="en-US" sz="1350" dirty="0">
                <a:solidFill>
                  <a:srgbClr val="2C3E50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5.2 经验要求分布图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952500" y="3710583"/>
            <a:ext cx="10287000" cy="1043880"/>
          </a:xfrm>
          <a:prstGeom prst="roundRect">
            <a:avLst>
              <a:gd name="adj" fmla="val 7300"/>
            </a:avLst>
          </a:prstGeom>
          <a:solidFill>
            <a:srgbClr val="F8F9FA"/>
          </a:solidFill>
          <a:ln w="19050">
            <a:solidFill>
              <a:srgbClr val="DDDD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849630" y="3710583"/>
            <a:ext cx="10492740" cy="1043880"/>
          </a:xfrm>
          <a:prstGeom prst="rect">
            <a:avLst/>
          </a:prstGeom>
          <a:noFill/>
          <a:ln/>
        </p:spPr>
        <p:txBody>
          <a:bodyPr wrap="square" lIns="381000" tIns="381000" rIns="381000" bIns="381000" rtlCol="0" anchor="t"/>
          <a:lstStyle/>
          <a:p>
            <a:pPr algn="ctr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[图表：经验要求分布 - 请查看 charts/experience_distribution.png]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52500" y="4944963"/>
            <a:ext cx="10492740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spcAft>
                <a:spcPts val="75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分析：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90625" y="5293519"/>
            <a:ext cx="1024985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3-5年经验岗位占比最高（37%），但应届生无法直接匹配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90625" y="5632549"/>
            <a:ext cx="1024985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应届生可投递岗位：校招（2个，6%）、经验不限（3个，9%）、实习（1个，3%）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90625" y="5971580"/>
            <a:ext cx="1024985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1-3年经验岗位（8个，23%）可以尝试投递，但有竞争压力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90625" y="6310610"/>
            <a:ext cx="1024985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建议关注春招、秋招等校招专场活动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0"/>
            <a:ext cx="1049274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2250"/>
              </a:spcBef>
              <a:spcAft>
                <a:spcPts val="1125"/>
              </a:spcAft>
              <a:buNone/>
            </a:pPr>
            <a:r>
              <a:rPr lang="en-US" sz="1350" dirty="0">
                <a:solidFill>
                  <a:srgbClr val="2C3E50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5.3 平台岗位数量对比图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952500" y="464790"/>
            <a:ext cx="10287000" cy="1043880"/>
          </a:xfrm>
          <a:prstGeom prst="roundRect">
            <a:avLst>
              <a:gd name="adj" fmla="val 7300"/>
            </a:avLst>
          </a:prstGeom>
          <a:solidFill>
            <a:srgbClr val="F8F9FA"/>
          </a:solidFill>
          <a:ln w="19050">
            <a:solidFill>
              <a:srgbClr val="DDDD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849630" y="464790"/>
            <a:ext cx="10492740" cy="1043880"/>
          </a:xfrm>
          <a:prstGeom prst="rect">
            <a:avLst/>
          </a:prstGeom>
          <a:noFill/>
          <a:ln/>
        </p:spPr>
        <p:txBody>
          <a:bodyPr wrap="square" lIns="381000" tIns="381000" rIns="381000" bIns="381000" rtlCol="0" anchor="t"/>
          <a:lstStyle/>
          <a:p>
            <a:pPr algn="ctr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[图表：平台岗位数量对比 - 请查看 charts/platform_comparison.png]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52500" y="1699171"/>
            <a:ext cx="10492740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spcAft>
                <a:spcPts val="75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分析：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90625" y="2047726"/>
            <a:ext cx="1024985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Boss直聘岗位数量略多于智联招聘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90625" y="2386757"/>
            <a:ext cx="1024985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两个平台各有优势，建议同时关注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90625" y="2725787"/>
            <a:ext cx="1024985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Boss直聘：大厂岗位更多（阿里、网易、蚂蚁、天猫）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90625" y="3064818"/>
            <a:ext cx="1024985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智联招聘：中型企业岗位丰富，薪资范围明确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0"/>
            <a:ext cx="1049274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2250"/>
              </a:spcBef>
              <a:spcAft>
                <a:spcPts val="1125"/>
              </a:spcAft>
              <a:buNone/>
            </a:pPr>
            <a:r>
              <a:rPr lang="en-US" sz="1350" dirty="0">
                <a:solidFill>
                  <a:srgbClr val="2C3E50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5.4 匹配度排名图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952500" y="464790"/>
            <a:ext cx="10287000" cy="1043880"/>
          </a:xfrm>
          <a:prstGeom prst="roundRect">
            <a:avLst>
              <a:gd name="adj" fmla="val 7300"/>
            </a:avLst>
          </a:prstGeom>
          <a:solidFill>
            <a:srgbClr val="F8F9FA"/>
          </a:solidFill>
          <a:ln w="19050">
            <a:solidFill>
              <a:srgbClr val="DDDD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849630" y="464790"/>
            <a:ext cx="10492740" cy="1043880"/>
          </a:xfrm>
          <a:prstGeom prst="rect">
            <a:avLst/>
          </a:prstGeom>
          <a:noFill/>
          <a:ln/>
        </p:spPr>
        <p:txBody>
          <a:bodyPr wrap="square" lIns="381000" tIns="381000" rIns="381000" bIns="381000" rtlCol="0" anchor="t"/>
          <a:lstStyle/>
          <a:p>
            <a:pPr algn="ctr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[图表：匹配度排名 - 请查看 charts/match_ranking.png]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52500" y="1699171"/>
            <a:ext cx="10492740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spcAft>
                <a:spcPts val="75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分析：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90625" y="2047726"/>
            <a:ext cx="1024985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高匹配度（≥80）岗位：8个，占总数23%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90625" y="2386757"/>
            <a:ext cx="1024985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中等匹配度（60-79）岗位：12个，占总数34%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90625" y="2725787"/>
            <a:ext cx="1024985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低匹配度（&lt;60）岗位：15个，占总数43%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90625" y="3064818"/>
            <a:ext cx="1024985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应届生应重点关注高匹配度岗位，中等匹配度岗位可尝试投递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52500" y="3680073"/>
            <a:ext cx="10492740" cy="335161"/>
          </a:xfrm>
          <a:prstGeom prst="rect">
            <a:avLst/>
          </a:prstGeom>
          <a:noFill/>
          <a:ln/>
        </p:spPr>
        <p:txBody>
          <a:bodyPr wrap="square" lIns="142875" tIns="0" rIns="0" bIns="0" rtlCol="0" anchor="t"/>
          <a:lstStyle/>
          <a:p>
            <a:pPr algn="l" indent="0" marL="0">
              <a:lnSpc>
                <a:spcPts val="2640"/>
              </a:lnSpc>
              <a:spcBef>
                <a:spcPts val="3000"/>
              </a:spcBef>
              <a:spcAft>
                <a:spcPts val="1500"/>
              </a:spcAft>
              <a:buNone/>
            </a:pPr>
            <a:r>
              <a:rPr lang="en-US" sz="1650" dirty="0">
                <a:solidFill>
                  <a:srgbClr val="34495E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六、行动建议</a:t>
            </a:r>
            <a:endParaRPr lang="en-US" sz="16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0"/>
            <a:ext cx="1049274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2250"/>
              </a:spcBef>
              <a:spcAft>
                <a:spcPts val="1125"/>
              </a:spcAft>
              <a:buNone/>
            </a:pPr>
            <a:r>
              <a:rPr lang="en-US" sz="1350" dirty="0">
                <a:solidFill>
                  <a:srgbClr val="2C3E50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6.1 近期优先投递岗位（按优先级排序）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952500" y="417165"/>
            <a:ext cx="10287000" cy="2468463"/>
          </a:xfrm>
          <a:prstGeom prst="roundRect">
            <a:avLst>
              <a:gd name="adj" fmla="val 1929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095375" y="560040"/>
            <a:ext cx="10201275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spcAft>
                <a:spcPts val="750"/>
              </a:spcAft>
              <a:buNone/>
            </a:pPr>
            <a:r>
              <a:rPr lang="en-US" sz="1200" dirty="0">
                <a:solidFill>
                  <a:srgbClr val="2C3E50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第1优先级（强烈推荐）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95375" y="908596"/>
            <a:ext cx="1020127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海康威视 - 研究院-Web前端开发工程师(校招) [匹配度92]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333500" y="1152376"/>
            <a:ext cx="995838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理由：校招岗位，与应届生身份完美匹配，大厂平台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33500" y="1491407"/>
            <a:ext cx="995838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行动：立即投递，准备技术面（React、前端基础、算法）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95375" y="1830437"/>
            <a:ext cx="1020127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浙江天猫技术有限公司 - web前端开发工程师（实习） [匹配度90]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33500" y="2074218"/>
            <a:ext cx="995838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理由：暑期实习，可转正，300-400元/天待遇优厚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333500" y="2413248"/>
            <a:ext cx="995838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行动：确认实习时间，准备React和JavaScript面试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52500" y="3028504"/>
            <a:ext cx="10287000" cy="3390305"/>
          </a:xfrm>
          <a:prstGeom prst="roundRect">
            <a:avLst>
              <a:gd name="adj" fmla="val 1405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5375" y="0"/>
            <a:ext cx="10201275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spcAft>
                <a:spcPts val="750"/>
              </a:spcAft>
              <a:buNone/>
            </a:pPr>
            <a:r>
              <a:rPr lang="en-US" sz="1200" dirty="0">
                <a:solidFill>
                  <a:srgbClr val="2C3E50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第2优先级（重点投递）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95375" y="348555"/>
            <a:ext cx="1020127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浙江数维科技有限公司 - 前端开发工程师 [匹配度88]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333500" y="592336"/>
            <a:ext cx="995838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理由：经验不限，薪资8k-11k合理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333500" y="931366"/>
            <a:ext cx="995838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行动：投递简历，重点关注前端基础面试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95375" y="1270397"/>
            <a:ext cx="1020127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外企德科数字技术有限公司 - 软件研发工程师 [匹配度85]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33500" y="1514177"/>
            <a:ext cx="995838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理由：经验不限，涵盖前后端，Java、Python、web技能匹配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33500" y="1853208"/>
            <a:ext cx="995838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行动：了解具体项目，准备Java和前端相关面试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95375" y="2192238"/>
            <a:ext cx="1020127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杭州城市大脑有限公司 - 初级前端开发工程师 [匹配度85]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333500" y="2436019"/>
            <a:ext cx="995838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理由：1年以内岗位，React技能匹配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333500" y="2775049"/>
            <a:ext cx="995838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行动：投递简历，准备React相关项目展示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52500" y="3390305"/>
            <a:ext cx="10287000" cy="2319933"/>
          </a:xfrm>
          <a:prstGeom prst="roundRect">
            <a:avLst>
              <a:gd name="adj" fmla="val 2053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095375" y="3533180"/>
            <a:ext cx="10201275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spcAft>
                <a:spcPts val="750"/>
              </a:spcAft>
              <a:buNone/>
            </a:pPr>
            <a:r>
              <a:rPr lang="en-US" sz="1200" dirty="0">
                <a:solidFill>
                  <a:srgbClr val="2C3E50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第3优先级（尝试投递）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95375" y="3881735"/>
            <a:ext cx="1020127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浙江宇视科技有限公司 - WEB前端开发工程师 [匹配度82]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95375" y="4220766"/>
            <a:ext cx="1020127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软通动力信息技术(集团)股份有限公司 - Java开发 [匹配度80]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95375" y="4559796"/>
            <a:ext cx="1020127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阿里集团 - web前端开发工程师 [匹配度80]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95375" y="4898827"/>
            <a:ext cx="1020127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顺丰速运有限公司 - WEB前端开发工程师 [匹配度78]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95375" y="5237857"/>
            <a:ext cx="1020127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蚂蚁集团 - web前端 [匹配度78]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0"/>
            <a:ext cx="1049274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2250"/>
              </a:spcBef>
              <a:spcAft>
                <a:spcPts val="1125"/>
              </a:spcAft>
              <a:buNone/>
            </a:pPr>
            <a:r>
              <a:rPr lang="en-US" sz="1350" dirty="0">
                <a:solidFill>
                  <a:srgbClr val="2C3E50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6.2 简历优化建议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952500" y="426690"/>
            <a:ext cx="104927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突出前端项目经验：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90625" y="670471"/>
            <a:ext cx="1024985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将"电商平台原型开发"置顶，强调Spring Boot + React + MySQL技术栈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90625" y="1009501"/>
            <a:ext cx="1024985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补充项目中的前端技术细节（组件封装、状态管理、性能优化等）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52500" y="1348532"/>
            <a:ext cx="104927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补充技能描述：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90625" y="1592312"/>
            <a:ext cx="1024985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JavaScript：补充ES6+特性使用经验（箭头函数、Promise、async/await等）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90625" y="1931343"/>
            <a:ext cx="1024985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React：补充组件生命周期、Hooks使用经验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90625" y="2270373"/>
            <a:ext cx="1024985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工具：补充Git工作流经验（分支管理、代码review等）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52500" y="2609404"/>
            <a:ext cx="104927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实习经历量化：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90625" y="2853184"/>
            <a:ext cx="1024985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XX软件公司实习：补充具体修复Bug数量、参与模块、技术栈使用等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52500" y="3192214"/>
            <a:ext cx="104927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增加开源/个人项目：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90625" y="3435995"/>
            <a:ext cx="1024985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建议在GitHub上补充2-3个前端个人项目，展示React实战能力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0"/>
            <a:ext cx="1049274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2250"/>
              </a:spcBef>
              <a:spcAft>
                <a:spcPts val="1125"/>
              </a:spcAft>
              <a:buNone/>
            </a:pPr>
            <a:r>
              <a:rPr lang="en-US" sz="1350" dirty="0">
                <a:solidFill>
                  <a:srgbClr val="2C3E50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6.3 技能补齐建议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952500" y="417165"/>
            <a:ext cx="10492740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spcAft>
                <a:spcPts val="75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短期学习计划（1个月内）：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90625" y="765721"/>
            <a:ext cx="1024985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TypeScript：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学习基础语法、类型系统，完成TypeScript + React小项目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90625" y="1104751"/>
            <a:ext cx="1024985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前端工程化：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学习webpack/vite基础配置，理解构建流程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52500" y="1434257"/>
            <a:ext cx="10492740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spcAft>
                <a:spcPts val="75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中期学习计划（2-3个月）：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90625" y="1782812"/>
            <a:ext cx="1024985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Vue框架：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学习Vue3基础，对比React，拓宽技术栈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90625" y="2121843"/>
            <a:ext cx="1024985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前端性能优化：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学习网络优化、渲染优化、代码分割等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52500" y="2451348"/>
            <a:ext cx="10492740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spcAft>
                <a:spcPts val="75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长期学习计划（3-6个月）：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90625" y="2799904"/>
            <a:ext cx="1024985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Node.js后端开发：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学习Express/Koa，掌握服务端开发能力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90625" y="3138934"/>
            <a:ext cx="1024985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全栈开发：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结合Java和Node.js，提升全栈能力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90625" y="3477964"/>
            <a:ext cx="1024985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面试准备：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系统复习前端基础、算法、数据结构，准备大厂面试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52500" y="3997970"/>
            <a:ext cx="1049274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2250"/>
              </a:spcBef>
              <a:spcAft>
                <a:spcPts val="1125"/>
              </a:spcAft>
              <a:buNone/>
            </a:pPr>
            <a:r>
              <a:rPr lang="en-US" sz="1350" dirty="0">
                <a:solidFill>
                  <a:srgbClr val="2C3E50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6.4 求职策略建议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952500" y="4424660"/>
            <a:ext cx="104927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投递策略：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90625" y="4668441"/>
            <a:ext cx="1024985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优先投递校招、实习、经验不限岗位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90625" y="5007471"/>
            <a:ext cx="1024985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大厂岗位（阿里、网易、蚂蚁、海康威视）重点准备，可同时投递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90625" y="5346502"/>
            <a:ext cx="1024985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中型企业岗位广撒网，积累面试经验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52500" y="5685532"/>
            <a:ext cx="104927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时间安排：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90625" y="5929313"/>
            <a:ext cx="1024985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前2周：投递高匹配度岗位（前5名）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90625" y="6268343"/>
            <a:ext cx="1024985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第3-4周：投递中等匹配度岗位（第6-10名），同时准备面试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90625" y="6607373"/>
            <a:ext cx="1024985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第5-8周：根据面试反馈调整策略，持续投递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0"/>
            <a:ext cx="104927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备选方案：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90625" y="243780"/>
            <a:ext cx="1024985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如果校招竞争激烈，可考虑实习转正路径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90625" y="582811"/>
            <a:ext cx="1024985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关注春招、秋招等校招专场活动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90625" y="921841"/>
            <a:ext cx="1024985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准备校招笔试、面试（算法、数据结构、前端基础）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52500" y="1260872"/>
            <a:ext cx="104927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心态调整：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90625" y="1504652"/>
            <a:ext cx="1024985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应届生求职需要耐心，接受被拒的可能性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90625" y="1843683"/>
            <a:ext cx="1024985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面试失败是常态，总结经验，持续提升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90625" y="2182713"/>
            <a:ext cx="1024985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平时多刷LeetCode，保持技术敏感度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52500" y="2797969"/>
            <a:ext cx="10287000" cy="2843957"/>
          </a:xfrm>
          <a:prstGeom prst="roundRect">
            <a:avLst>
              <a:gd name="adj" fmla="val 1675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0"/>
            <a:ext cx="1010412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Aft>
                <a:spcPts val="1125"/>
              </a:spcAft>
              <a:buNone/>
            </a:pPr>
            <a:r>
              <a:rPr lang="en-US" sz="1350" dirty="0">
                <a:solidFill>
                  <a:srgbClr val="2C3E50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附录：检索过程文件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1381125" y="426690"/>
            <a:ext cx="986123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候选人档案：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1920"/>
              </a:lnSpc>
              <a:buNone/>
            </a:pPr>
            <a:r>
              <a:rPr lang="en-US" sz="975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input/candidate_profile.md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381125" y="767655"/>
            <a:ext cx="986123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简历文本：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1920"/>
              </a:lnSpc>
              <a:buNone/>
            </a:pPr>
            <a:r>
              <a:rPr lang="en-US" sz="975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input/resume_text.txt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381125" y="1108621"/>
            <a:ext cx="986123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Boss直聘岗位信息：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1920"/>
              </a:lnSpc>
              <a:buNone/>
            </a:pPr>
            <a:r>
              <a:rPr lang="en-US" sz="975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infos/boss_jobs.md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381125" y="1449586"/>
            <a:ext cx="986123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智联招聘岗位信息：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1920"/>
              </a:lnSpc>
              <a:buNone/>
            </a:pPr>
            <a:r>
              <a:rPr lang="en-US" sz="975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infos/zhilian_jobs.md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81125" y="1790551"/>
            <a:ext cx="986123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结构化岗位数据：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1920"/>
              </a:lnSpc>
              <a:buNone/>
            </a:pPr>
            <a:r>
              <a:rPr lang="en-US" sz="975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analysis/jobs_data.json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81125" y="2131516"/>
            <a:ext cx="986123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图表文件：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1920"/>
              </a:lnSpc>
              <a:buNone/>
            </a:pPr>
            <a:r>
              <a:rPr lang="en-US" sz="975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charts/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目录下4张图表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52500" y="3039219"/>
            <a:ext cx="10287000" cy="9144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52500" y="3234482"/>
            <a:ext cx="10492740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Aft>
                <a:spcPts val="750"/>
              </a:spcAft>
              <a:buNone/>
            </a:pPr>
            <a:r>
              <a:rPr lang="en-US" sz="900" dirty="0">
                <a:solidFill>
                  <a:srgbClr val="999999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报告生成时间：</a:t>
            </a:r>
            <a:pPr algn="l" indent="0" marL="0">
              <a:lnSpc>
                <a:spcPts val="1440"/>
              </a:lnSpc>
              <a:spcAft>
                <a:spcPts val="750"/>
              </a:spcAft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2026-01-07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52500" y="3512493"/>
            <a:ext cx="10492740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Aft>
                <a:spcPts val="750"/>
              </a:spcAft>
              <a:buNone/>
            </a:pPr>
            <a:r>
              <a:rPr lang="en-US" sz="900" dirty="0">
                <a:solidFill>
                  <a:srgbClr val="999999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数据来源：</a:t>
            </a:r>
            <a:pPr algn="l" indent="0" marL="0">
              <a:lnSpc>
                <a:spcPts val="1440"/>
              </a:lnSpc>
              <a:spcAft>
                <a:spcPts val="750"/>
              </a:spcAft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Boss直聘、智联招聘（通过Coze Search API检索）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952500" y="3790504"/>
            <a:ext cx="10492740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Aft>
                <a:spcPts val="750"/>
              </a:spcAft>
              <a:buNone/>
            </a:pPr>
            <a:r>
              <a:rPr lang="en-US" sz="900" dirty="0">
                <a:solidFill>
                  <a:srgbClr val="999999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工具支持：</a:t>
            </a:r>
            <a:pPr algn="l" indent="0" marL="0">
              <a:lnSpc>
                <a:spcPts val="1440"/>
              </a:lnSpc>
              <a:spcAft>
                <a:spcPts val="750"/>
              </a:spcAft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job-search-report技能（简历提取、岗位检索、数据分析、图表生成）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2026-01-08T09:23:48Z</dcterms:created>
  <dcterms:modified xsi:type="dcterms:W3CDTF">2026-01-08T09:23:48Z</dcterms:modified>
</cp:coreProperties>
</file>
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36065" cy="51206400"/>
  <p:notesSz cx="51206400" cy="68360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627" y="106814"/>
            <a:ext cx="6408811" cy="50994943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2725" dist="1068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7254" y="320441"/>
            <a:ext cx="6101188" cy="308674"/>
          </a:xfrm>
          <a:prstGeom prst="rect">
            <a:avLst/>
          </a:prstGeom>
          <a:noFill/>
          <a:ln/>
        </p:spPr>
        <p:txBody>
          <a:bodyPr wrap="square" lIns="0" tIns="0" rIns="0" bIns="53407" rtlCol="0" anchor="t"/>
          <a:lstStyle/>
          <a:p>
            <a:pPr algn="l" indent="0" marL="0">
              <a:lnSpc>
                <a:spcPts val="1884"/>
              </a:lnSpc>
              <a:spcAft>
                <a:spcPts val="421"/>
              </a:spcAft>
              <a:buNone/>
            </a:pPr>
            <a:r>
              <a:rPr lang="en-US" sz="117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WEB工程师岗位检索与匹配分析报告</a:t>
            </a:r>
            <a:endParaRPr lang="en-US" sz="1177" dirty="0"/>
          </a:p>
        </p:txBody>
      </p:sp>
      <p:sp>
        <p:nvSpPr>
          <p:cNvPr id="4" name="Text 2"/>
          <p:cNvSpPr/>
          <p:nvPr/>
        </p:nvSpPr>
        <p:spPr>
          <a:xfrm>
            <a:off x="427254" y="682522"/>
            <a:ext cx="5981557" cy="758126"/>
          </a:xfrm>
          <a:prstGeom prst="roundRect">
            <a:avLst>
              <a:gd name="adj" fmla="val 352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364" y="762632"/>
            <a:ext cx="5937763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2"/>
              </a:lnSpc>
              <a:buNone/>
            </a:pPr>
            <a:r>
              <a:rPr lang="en-US" sz="589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报告日期：</a:t>
            </a:r>
            <a:pPr algn="l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2026年1月7日</a:t>
            </a:r>
            <a:endParaRPr lang="en-US" sz="589" dirty="0"/>
          </a:p>
        </p:txBody>
      </p:sp>
      <p:sp>
        <p:nvSpPr>
          <p:cNvPr id="6" name="Text 4"/>
          <p:cNvSpPr/>
          <p:nvPr/>
        </p:nvSpPr>
        <p:spPr>
          <a:xfrm>
            <a:off x="507364" y="882213"/>
            <a:ext cx="5937763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2"/>
              </a:lnSpc>
              <a:buNone/>
            </a:pPr>
            <a:r>
              <a:rPr lang="en-US" sz="589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候选人：</a:t>
            </a:r>
            <a:pPr algn="l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张明（温州大学·计算机科学与技术·2026届本科毕业生）</a:t>
            </a:r>
            <a:endParaRPr lang="en-US" sz="589" dirty="0"/>
          </a:p>
        </p:txBody>
      </p:sp>
      <p:sp>
        <p:nvSpPr>
          <p:cNvPr id="7" name="Text 5"/>
          <p:cNvSpPr/>
          <p:nvPr/>
        </p:nvSpPr>
        <p:spPr>
          <a:xfrm>
            <a:off x="507364" y="1001794"/>
            <a:ext cx="5937763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2"/>
              </a:lnSpc>
              <a:buNone/>
            </a:pPr>
            <a:r>
              <a:rPr lang="en-US" sz="589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目标岗位：</a:t>
            </a:r>
            <a:pPr algn="l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WEB工程师 / WEB工程师助理</a:t>
            </a:r>
            <a:endParaRPr lang="en-US" sz="589" dirty="0"/>
          </a:p>
        </p:txBody>
      </p:sp>
      <p:sp>
        <p:nvSpPr>
          <p:cNvPr id="8" name="Text 6"/>
          <p:cNvSpPr/>
          <p:nvPr/>
        </p:nvSpPr>
        <p:spPr>
          <a:xfrm>
            <a:off x="507364" y="1121375"/>
            <a:ext cx="5937763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2"/>
              </a:lnSpc>
              <a:buNone/>
            </a:pPr>
            <a:r>
              <a:rPr lang="en-US" sz="589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目标城市：</a:t>
            </a:r>
            <a:pPr algn="l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</a:t>
            </a:r>
            <a:endParaRPr lang="en-US" sz="589" dirty="0"/>
          </a:p>
        </p:txBody>
      </p:sp>
      <p:sp>
        <p:nvSpPr>
          <p:cNvPr id="9" name="Text 7"/>
          <p:cNvSpPr/>
          <p:nvPr/>
        </p:nvSpPr>
        <p:spPr>
          <a:xfrm>
            <a:off x="507364" y="1240956"/>
            <a:ext cx="5937763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2"/>
              </a:lnSpc>
              <a:buNone/>
            </a:pPr>
            <a:r>
              <a:rPr lang="en-US" sz="589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pPr algn="l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Boss直聘、智联招聘（通过Coze Search API检索）</a:t>
            </a:r>
            <a:endParaRPr lang="en-US" sz="589" dirty="0"/>
          </a:p>
        </p:txBody>
      </p:sp>
      <p:pic>
        <p:nvPicPr>
          <p:cNvPr id="10" name="Image 0" descr="/var/folders/hv/ysg5ztb12gn806jvggm0qf3w0000gn/T/html2pptx-bg-bg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254" y="1600868"/>
            <a:ext cx="5981557" cy="12613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0771" y="1734384"/>
            <a:ext cx="582881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631"/>
              </a:spcAft>
              <a:buNone/>
            </a:pPr>
            <a:r>
              <a:rPr lang="en-US" sz="7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757" dirty="0"/>
          </a:p>
        </p:txBody>
      </p:sp>
      <p:sp>
        <p:nvSpPr>
          <p:cNvPr id="12" name="Text 9"/>
          <p:cNvSpPr/>
          <p:nvPr/>
        </p:nvSpPr>
        <p:spPr>
          <a:xfrm>
            <a:off x="667584" y="1984311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检索岗位总数：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16个（Boss直聘10个，智联招聘6个）</a:t>
            </a:r>
            <a:endParaRPr lang="en-US" sz="673" dirty="0"/>
          </a:p>
        </p:txBody>
      </p:sp>
      <p:sp>
        <p:nvSpPr>
          <p:cNvPr id="13" name="Text 10"/>
          <p:cNvSpPr/>
          <p:nvPr/>
        </p:nvSpPr>
        <p:spPr>
          <a:xfrm>
            <a:off x="667584" y="2174406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高匹配度岗位（≥80分）：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6个（占比37.5%）</a:t>
            </a:r>
            <a:endParaRPr lang="en-US" sz="673" dirty="0"/>
          </a:p>
        </p:txBody>
      </p:sp>
      <p:sp>
        <p:nvSpPr>
          <p:cNvPr id="14" name="Text 11"/>
          <p:cNvSpPr/>
          <p:nvPr/>
        </p:nvSpPr>
        <p:spPr>
          <a:xfrm>
            <a:off x="667584" y="2364501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应届生可投递岗位：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7个（含校招、实习、经验不限）</a:t>
            </a:r>
            <a:endParaRPr lang="en-US" sz="673" dirty="0"/>
          </a:p>
        </p:txBody>
      </p:sp>
      <p:sp>
        <p:nvSpPr>
          <p:cNvPr id="15" name="Text 12"/>
          <p:cNvSpPr/>
          <p:nvPr/>
        </p:nvSpPr>
        <p:spPr>
          <a:xfrm>
            <a:off x="667584" y="2554595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大部分岗位要求1-3年及以上经验，缺少TypeScript、前端工程化等高级技能</a:t>
            </a:r>
            <a:endParaRPr lang="en-US" sz="673" dirty="0"/>
          </a:p>
        </p:txBody>
      </p:sp>
      <p:sp>
        <p:nvSpPr>
          <p:cNvPr id="16" name="Text 13"/>
          <p:cNvSpPr/>
          <p:nvPr/>
        </p:nvSpPr>
        <p:spPr>
          <a:xfrm>
            <a:off x="427254" y="3075812"/>
            <a:ext cx="6101188" cy="187925"/>
          </a:xfrm>
          <a:prstGeom prst="rect">
            <a:avLst/>
          </a:prstGeom>
          <a:noFill/>
          <a:ln/>
        </p:spPr>
        <p:txBody>
          <a:bodyPr wrap="square" lIns="80110" tIns="0" rIns="0" bIns="0" rtlCol="0" anchor="t"/>
          <a:lstStyle/>
          <a:p>
            <a:pPr algn="l" indent="0" marL="0">
              <a:lnSpc>
                <a:spcPts val="1480"/>
              </a:lnSpc>
              <a:spcBef>
                <a:spcPts val="1682"/>
              </a:spcBef>
              <a:spcAft>
                <a:spcPts val="841"/>
              </a:spcAft>
              <a:buNone/>
            </a:pPr>
            <a:r>
              <a:rPr lang="en-US" sz="925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一、统计数据概览</a:t>
            </a:r>
            <a:endParaRPr lang="en-US" sz="925" dirty="0"/>
          </a:p>
        </p:txBody>
      </p:sp>
      <p:sp>
        <p:nvSpPr>
          <p:cNvPr id="17" name="Text 14"/>
          <p:cNvSpPr/>
          <p:nvPr/>
        </p:nvSpPr>
        <p:spPr>
          <a:xfrm>
            <a:off x="427254" y="3370551"/>
            <a:ext cx="1922643" cy="758293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22425" y="3536112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14" dirty="0"/>
          </a:p>
        </p:txBody>
      </p:sp>
      <p:sp>
        <p:nvSpPr>
          <p:cNvPr id="19" name="Text 16"/>
          <p:cNvSpPr/>
          <p:nvPr/>
        </p:nvSpPr>
        <p:spPr>
          <a:xfrm>
            <a:off x="522425" y="3897108"/>
            <a:ext cx="1732302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检索岗位总数</a:t>
            </a:r>
            <a:endParaRPr lang="en-US" sz="589" dirty="0"/>
          </a:p>
        </p:txBody>
      </p:sp>
      <p:sp>
        <p:nvSpPr>
          <p:cNvPr id="20" name="Text 17"/>
          <p:cNvSpPr/>
          <p:nvPr/>
        </p:nvSpPr>
        <p:spPr>
          <a:xfrm>
            <a:off x="2456711" y="3370551"/>
            <a:ext cx="1922643" cy="758293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551882" y="3536112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14" dirty="0"/>
          </a:p>
        </p:txBody>
      </p:sp>
      <p:sp>
        <p:nvSpPr>
          <p:cNvPr id="22" name="Text 19"/>
          <p:cNvSpPr/>
          <p:nvPr/>
        </p:nvSpPr>
        <p:spPr>
          <a:xfrm>
            <a:off x="2551882" y="3897108"/>
            <a:ext cx="1732302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高匹配度岗位</a:t>
            </a:r>
            <a:endParaRPr lang="en-US" sz="589" dirty="0"/>
          </a:p>
        </p:txBody>
      </p:sp>
      <p:sp>
        <p:nvSpPr>
          <p:cNvPr id="23" name="Text 20"/>
          <p:cNvSpPr/>
          <p:nvPr/>
        </p:nvSpPr>
        <p:spPr>
          <a:xfrm>
            <a:off x="4486168" y="3370551"/>
            <a:ext cx="1922643" cy="758293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581339" y="3536112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14" dirty="0"/>
          </a:p>
        </p:txBody>
      </p:sp>
      <p:sp>
        <p:nvSpPr>
          <p:cNvPr id="25" name="Text 22"/>
          <p:cNvSpPr/>
          <p:nvPr/>
        </p:nvSpPr>
        <p:spPr>
          <a:xfrm>
            <a:off x="4581339" y="3897108"/>
            <a:ext cx="1732302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应届生可投递</a:t>
            </a:r>
            <a:endParaRPr lang="en-US" sz="589" dirty="0"/>
          </a:p>
        </p:txBody>
      </p:sp>
      <p:sp>
        <p:nvSpPr>
          <p:cNvPr id="26" name="Text 23"/>
          <p:cNvSpPr/>
          <p:nvPr/>
        </p:nvSpPr>
        <p:spPr>
          <a:xfrm>
            <a:off x="427254" y="4235657"/>
            <a:ext cx="1922643" cy="758293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22425" y="4401218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514" dirty="0"/>
          </a:p>
        </p:txBody>
      </p:sp>
      <p:sp>
        <p:nvSpPr>
          <p:cNvPr id="28" name="Text 25"/>
          <p:cNvSpPr/>
          <p:nvPr/>
        </p:nvSpPr>
        <p:spPr>
          <a:xfrm>
            <a:off x="522425" y="4762214"/>
            <a:ext cx="1732302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平均匹配度</a:t>
            </a:r>
            <a:endParaRPr lang="en-US" sz="589" dirty="0"/>
          </a:p>
        </p:txBody>
      </p:sp>
      <p:sp>
        <p:nvSpPr>
          <p:cNvPr id="29" name="Text 26"/>
          <p:cNvSpPr/>
          <p:nvPr/>
        </p:nvSpPr>
        <p:spPr>
          <a:xfrm>
            <a:off x="427254" y="5207576"/>
            <a:ext cx="6101188" cy="187925"/>
          </a:xfrm>
          <a:prstGeom prst="rect">
            <a:avLst/>
          </a:prstGeom>
          <a:noFill/>
          <a:ln/>
        </p:spPr>
        <p:txBody>
          <a:bodyPr wrap="square" lIns="80110" tIns="0" rIns="0" bIns="0" rtlCol="0" anchor="t"/>
          <a:lstStyle/>
          <a:p>
            <a:pPr algn="l" indent="0" marL="0">
              <a:lnSpc>
                <a:spcPts val="1480"/>
              </a:lnSpc>
              <a:spcBef>
                <a:spcPts val="1682"/>
              </a:spcBef>
              <a:spcAft>
                <a:spcPts val="841"/>
              </a:spcAft>
              <a:buNone/>
            </a:pPr>
            <a:r>
              <a:rPr lang="en-US" sz="925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二、岗位检索概况</a:t>
            </a:r>
            <a:endParaRPr lang="en-US" sz="925" dirty="0"/>
          </a:p>
        </p:txBody>
      </p:sp>
      <p:sp>
        <p:nvSpPr>
          <p:cNvPr id="30" name="Text 27"/>
          <p:cNvSpPr/>
          <p:nvPr/>
        </p:nvSpPr>
        <p:spPr>
          <a:xfrm>
            <a:off x="427254" y="5555721"/>
            <a:ext cx="5981557" cy="4974255"/>
          </a:xfrm>
          <a:prstGeom prst="roundRect">
            <a:avLst>
              <a:gd name="adj" fmla="val 8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6388" y="5822755"/>
            <a:ext cx="588328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spcBef>
                <a:spcPts val="1262"/>
              </a:spcBef>
              <a:spcAft>
                <a:spcPts val="631"/>
              </a:spcAft>
              <a:buNone/>
            </a:pPr>
            <a:r>
              <a:rPr lang="en-US" sz="75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经验要求分布</a:t>
            </a:r>
            <a:endParaRPr lang="en-US" sz="757" dirty="0"/>
          </a:p>
        </p:txBody>
      </p:sp>
      <p:pic>
        <p:nvPicPr>
          <p:cNvPr id="32" name="Image 1" descr="/Users/double/vsproject/deepagents/scripts/codex/charts/experience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68" y="6056660"/>
            <a:ext cx="5767930" cy="4325947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27254" y="10690197"/>
            <a:ext cx="5981557" cy="193716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6022" dist="534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427254" y="10690197"/>
            <a:ext cx="1698418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27254" y="10690197"/>
            <a:ext cx="1732387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经验要求</a:t>
            </a:r>
            <a:endParaRPr lang="en-US" sz="673" dirty="0"/>
          </a:p>
        </p:txBody>
      </p:sp>
      <p:sp>
        <p:nvSpPr>
          <p:cNvPr id="36" name="Text 32"/>
          <p:cNvSpPr/>
          <p:nvPr/>
        </p:nvSpPr>
        <p:spPr>
          <a:xfrm>
            <a:off x="2125672" y="10690197"/>
            <a:ext cx="1027496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2125672" y="10690197"/>
            <a:ext cx="1048046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</a:t>
            </a:r>
            <a:endParaRPr lang="en-US" sz="673" dirty="0"/>
          </a:p>
        </p:txBody>
      </p:sp>
      <p:sp>
        <p:nvSpPr>
          <p:cNvPr id="38" name="Text 34"/>
          <p:cNvSpPr/>
          <p:nvPr/>
        </p:nvSpPr>
        <p:spPr>
          <a:xfrm>
            <a:off x="3153168" y="10690197"/>
            <a:ext cx="1053615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5"/>
          <p:cNvSpPr/>
          <p:nvPr/>
        </p:nvSpPr>
        <p:spPr>
          <a:xfrm>
            <a:off x="3153168" y="10690197"/>
            <a:ext cx="1074688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673" dirty="0"/>
          </a:p>
        </p:txBody>
      </p:sp>
      <p:sp>
        <p:nvSpPr>
          <p:cNvPr id="40" name="Text 36"/>
          <p:cNvSpPr/>
          <p:nvPr/>
        </p:nvSpPr>
        <p:spPr>
          <a:xfrm>
            <a:off x="4206784" y="10690197"/>
            <a:ext cx="2202027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206784" y="10690197"/>
            <a:ext cx="2246068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应届生可投递</a:t>
            </a:r>
            <a:endParaRPr lang="en-US" sz="673" dirty="0"/>
          </a:p>
        </p:txBody>
      </p:sp>
      <p:sp>
        <p:nvSpPr>
          <p:cNvPr id="42" name="Text 38"/>
          <p:cNvSpPr/>
          <p:nvPr/>
        </p:nvSpPr>
        <p:spPr>
          <a:xfrm>
            <a:off x="427254" y="10955061"/>
            <a:ext cx="1698418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39"/>
          <p:cNvSpPr/>
          <p:nvPr/>
        </p:nvSpPr>
        <p:spPr>
          <a:xfrm>
            <a:off x="427254" y="11228437"/>
            <a:ext cx="169841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427254" y="10955061"/>
            <a:ext cx="1732387" cy="276046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在校/应届</a:t>
            </a:r>
            <a:endParaRPr lang="en-US" sz="673" dirty="0"/>
          </a:p>
        </p:txBody>
      </p:sp>
      <p:sp>
        <p:nvSpPr>
          <p:cNvPr id="45" name="Text 41"/>
          <p:cNvSpPr/>
          <p:nvPr/>
        </p:nvSpPr>
        <p:spPr>
          <a:xfrm>
            <a:off x="2125672" y="10955061"/>
            <a:ext cx="1027496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2"/>
          <p:cNvSpPr/>
          <p:nvPr/>
        </p:nvSpPr>
        <p:spPr>
          <a:xfrm>
            <a:off x="2125672" y="11228437"/>
            <a:ext cx="1027496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2125672" y="10955061"/>
            <a:ext cx="1048046" cy="276046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3" dirty="0"/>
          </a:p>
        </p:txBody>
      </p:sp>
      <p:sp>
        <p:nvSpPr>
          <p:cNvPr id="48" name="Text 44"/>
          <p:cNvSpPr/>
          <p:nvPr/>
        </p:nvSpPr>
        <p:spPr>
          <a:xfrm>
            <a:off x="3153168" y="10955061"/>
            <a:ext cx="1053615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5"/>
          <p:cNvSpPr/>
          <p:nvPr/>
        </p:nvSpPr>
        <p:spPr>
          <a:xfrm>
            <a:off x="3153168" y="11228437"/>
            <a:ext cx="105361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3153168" y="10955061"/>
            <a:ext cx="1074688" cy="276046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73" dirty="0"/>
          </a:p>
        </p:txBody>
      </p:sp>
      <p:sp>
        <p:nvSpPr>
          <p:cNvPr id="51" name="Text 47"/>
          <p:cNvSpPr/>
          <p:nvPr/>
        </p:nvSpPr>
        <p:spPr>
          <a:xfrm>
            <a:off x="4206784" y="10955061"/>
            <a:ext cx="2202027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48"/>
          <p:cNvSpPr/>
          <p:nvPr/>
        </p:nvSpPr>
        <p:spPr>
          <a:xfrm>
            <a:off x="4206784" y="11228437"/>
            <a:ext cx="2202027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270872" y="11019149"/>
            <a:ext cx="289398" cy="145200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4267978" y="11019149"/>
            <a:ext cx="29518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505" dirty="0"/>
          </a:p>
        </p:txBody>
      </p:sp>
      <p:sp>
        <p:nvSpPr>
          <p:cNvPr id="55" name="Text 51"/>
          <p:cNvSpPr/>
          <p:nvPr/>
        </p:nvSpPr>
        <p:spPr>
          <a:xfrm>
            <a:off x="427254" y="11231108"/>
            <a:ext cx="1698418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2"/>
          <p:cNvSpPr/>
          <p:nvPr/>
        </p:nvSpPr>
        <p:spPr>
          <a:xfrm>
            <a:off x="427254" y="11507154"/>
            <a:ext cx="169841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27254" y="11231108"/>
            <a:ext cx="17323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</a:t>
            </a:r>
            <a:endParaRPr lang="en-US" sz="673" dirty="0"/>
          </a:p>
        </p:txBody>
      </p:sp>
      <p:sp>
        <p:nvSpPr>
          <p:cNvPr id="58" name="Text 54"/>
          <p:cNvSpPr/>
          <p:nvPr/>
        </p:nvSpPr>
        <p:spPr>
          <a:xfrm>
            <a:off x="2125672" y="11231108"/>
            <a:ext cx="1027496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5"/>
          <p:cNvSpPr/>
          <p:nvPr/>
        </p:nvSpPr>
        <p:spPr>
          <a:xfrm>
            <a:off x="2125672" y="11507154"/>
            <a:ext cx="1027496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2125672" y="11231108"/>
            <a:ext cx="1048046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73" dirty="0"/>
          </a:p>
        </p:txBody>
      </p:sp>
      <p:sp>
        <p:nvSpPr>
          <p:cNvPr id="61" name="Text 57"/>
          <p:cNvSpPr/>
          <p:nvPr/>
        </p:nvSpPr>
        <p:spPr>
          <a:xfrm>
            <a:off x="3153168" y="11231108"/>
            <a:ext cx="1053615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58"/>
          <p:cNvSpPr/>
          <p:nvPr/>
        </p:nvSpPr>
        <p:spPr>
          <a:xfrm>
            <a:off x="3153168" y="11507154"/>
            <a:ext cx="105361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3153168" y="11231108"/>
            <a:ext cx="107468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673" dirty="0"/>
          </a:p>
        </p:txBody>
      </p:sp>
      <p:sp>
        <p:nvSpPr>
          <p:cNvPr id="64" name="Text 60"/>
          <p:cNvSpPr/>
          <p:nvPr/>
        </p:nvSpPr>
        <p:spPr>
          <a:xfrm>
            <a:off x="4206784" y="11231108"/>
            <a:ext cx="2202027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1"/>
          <p:cNvSpPr/>
          <p:nvPr/>
        </p:nvSpPr>
        <p:spPr>
          <a:xfrm>
            <a:off x="4206784" y="11507154"/>
            <a:ext cx="2202027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4270872" y="11297866"/>
            <a:ext cx="289398" cy="145200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3"/>
          <p:cNvSpPr/>
          <p:nvPr/>
        </p:nvSpPr>
        <p:spPr>
          <a:xfrm>
            <a:off x="4267978" y="11297866"/>
            <a:ext cx="29518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505" dirty="0"/>
          </a:p>
        </p:txBody>
      </p:sp>
      <p:sp>
        <p:nvSpPr>
          <p:cNvPr id="68" name="Text 64"/>
          <p:cNvSpPr/>
          <p:nvPr/>
        </p:nvSpPr>
        <p:spPr>
          <a:xfrm>
            <a:off x="427254" y="11509824"/>
            <a:ext cx="1698418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5"/>
          <p:cNvSpPr/>
          <p:nvPr/>
        </p:nvSpPr>
        <p:spPr>
          <a:xfrm>
            <a:off x="427254" y="11785870"/>
            <a:ext cx="169841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427254" y="11509824"/>
            <a:ext cx="17323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1年以内</a:t>
            </a:r>
            <a:endParaRPr lang="en-US" sz="673" dirty="0"/>
          </a:p>
        </p:txBody>
      </p:sp>
      <p:sp>
        <p:nvSpPr>
          <p:cNvPr id="71" name="Text 67"/>
          <p:cNvSpPr/>
          <p:nvPr/>
        </p:nvSpPr>
        <p:spPr>
          <a:xfrm>
            <a:off x="2125672" y="11509824"/>
            <a:ext cx="1027496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68"/>
          <p:cNvSpPr/>
          <p:nvPr/>
        </p:nvSpPr>
        <p:spPr>
          <a:xfrm>
            <a:off x="2125672" y="11785870"/>
            <a:ext cx="1027496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2125672" y="11509824"/>
            <a:ext cx="1048046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73" dirty="0"/>
          </a:p>
        </p:txBody>
      </p:sp>
      <p:sp>
        <p:nvSpPr>
          <p:cNvPr id="74" name="Text 70"/>
          <p:cNvSpPr/>
          <p:nvPr/>
        </p:nvSpPr>
        <p:spPr>
          <a:xfrm>
            <a:off x="3153168" y="11509824"/>
            <a:ext cx="1053615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1"/>
          <p:cNvSpPr/>
          <p:nvPr/>
        </p:nvSpPr>
        <p:spPr>
          <a:xfrm>
            <a:off x="3153168" y="11785870"/>
            <a:ext cx="105361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76" name="Text 72"/>
          <p:cNvSpPr/>
          <p:nvPr/>
        </p:nvSpPr>
        <p:spPr>
          <a:xfrm>
            <a:off x="3153168" y="11509824"/>
            <a:ext cx="107468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673" dirty="0"/>
          </a:p>
        </p:txBody>
      </p:sp>
      <p:sp>
        <p:nvSpPr>
          <p:cNvPr id="77" name="Text 73"/>
          <p:cNvSpPr/>
          <p:nvPr/>
        </p:nvSpPr>
        <p:spPr>
          <a:xfrm>
            <a:off x="4206784" y="11509824"/>
            <a:ext cx="2202027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4"/>
          <p:cNvSpPr/>
          <p:nvPr/>
        </p:nvSpPr>
        <p:spPr>
          <a:xfrm>
            <a:off x="4206784" y="11785870"/>
            <a:ext cx="2202027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79" name="Text 75"/>
          <p:cNvSpPr/>
          <p:nvPr/>
        </p:nvSpPr>
        <p:spPr>
          <a:xfrm>
            <a:off x="4270872" y="11576582"/>
            <a:ext cx="289398" cy="145200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6"/>
          <p:cNvSpPr/>
          <p:nvPr/>
        </p:nvSpPr>
        <p:spPr>
          <a:xfrm>
            <a:off x="4267978" y="11576582"/>
            <a:ext cx="29518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505" dirty="0"/>
          </a:p>
        </p:txBody>
      </p:sp>
      <p:sp>
        <p:nvSpPr>
          <p:cNvPr id="81" name="Text 77"/>
          <p:cNvSpPr/>
          <p:nvPr/>
        </p:nvSpPr>
        <p:spPr>
          <a:xfrm>
            <a:off x="427254" y="11788541"/>
            <a:ext cx="1698418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78"/>
          <p:cNvSpPr/>
          <p:nvPr/>
        </p:nvSpPr>
        <p:spPr>
          <a:xfrm>
            <a:off x="427254" y="12064587"/>
            <a:ext cx="169841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83" name="Text 79"/>
          <p:cNvSpPr/>
          <p:nvPr/>
        </p:nvSpPr>
        <p:spPr>
          <a:xfrm>
            <a:off x="427254" y="11788541"/>
            <a:ext cx="17323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1-3年</a:t>
            </a:r>
            <a:endParaRPr lang="en-US" sz="673" dirty="0"/>
          </a:p>
        </p:txBody>
      </p:sp>
      <p:sp>
        <p:nvSpPr>
          <p:cNvPr id="84" name="Text 80"/>
          <p:cNvSpPr/>
          <p:nvPr/>
        </p:nvSpPr>
        <p:spPr>
          <a:xfrm>
            <a:off x="2125672" y="11788541"/>
            <a:ext cx="1027496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Shape 81"/>
          <p:cNvSpPr/>
          <p:nvPr/>
        </p:nvSpPr>
        <p:spPr>
          <a:xfrm>
            <a:off x="2125672" y="12064587"/>
            <a:ext cx="1027496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2125672" y="11788541"/>
            <a:ext cx="1048046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73" dirty="0"/>
          </a:p>
        </p:txBody>
      </p:sp>
      <p:sp>
        <p:nvSpPr>
          <p:cNvPr id="87" name="Text 83"/>
          <p:cNvSpPr/>
          <p:nvPr/>
        </p:nvSpPr>
        <p:spPr>
          <a:xfrm>
            <a:off x="3153168" y="11788541"/>
            <a:ext cx="1053615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Shape 84"/>
          <p:cNvSpPr/>
          <p:nvPr/>
        </p:nvSpPr>
        <p:spPr>
          <a:xfrm>
            <a:off x="3153168" y="12064587"/>
            <a:ext cx="105361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89" name="Text 85"/>
          <p:cNvSpPr/>
          <p:nvPr/>
        </p:nvSpPr>
        <p:spPr>
          <a:xfrm>
            <a:off x="3153168" y="11788541"/>
            <a:ext cx="107468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673" dirty="0"/>
          </a:p>
        </p:txBody>
      </p:sp>
      <p:sp>
        <p:nvSpPr>
          <p:cNvPr id="90" name="Text 86"/>
          <p:cNvSpPr/>
          <p:nvPr/>
        </p:nvSpPr>
        <p:spPr>
          <a:xfrm>
            <a:off x="4206784" y="11788541"/>
            <a:ext cx="2202027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7"/>
          <p:cNvSpPr/>
          <p:nvPr/>
        </p:nvSpPr>
        <p:spPr>
          <a:xfrm>
            <a:off x="4206784" y="12064587"/>
            <a:ext cx="2202027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92" name="Text 88"/>
          <p:cNvSpPr/>
          <p:nvPr/>
        </p:nvSpPr>
        <p:spPr>
          <a:xfrm>
            <a:off x="4270872" y="11855299"/>
            <a:ext cx="417574" cy="145200"/>
          </a:xfrm>
          <a:prstGeom prst="roundRect">
            <a:avLst>
              <a:gd name="adj" fmla="val 4413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89"/>
          <p:cNvSpPr/>
          <p:nvPr/>
        </p:nvSpPr>
        <p:spPr>
          <a:xfrm>
            <a:off x="4266696" y="11855299"/>
            <a:ext cx="42592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可尝试</a:t>
            </a:r>
            <a:endParaRPr lang="en-US" sz="505" dirty="0"/>
          </a:p>
        </p:txBody>
      </p:sp>
      <p:sp>
        <p:nvSpPr>
          <p:cNvPr id="94" name="Text 90"/>
          <p:cNvSpPr/>
          <p:nvPr/>
        </p:nvSpPr>
        <p:spPr>
          <a:xfrm>
            <a:off x="427254" y="12067257"/>
            <a:ext cx="1698418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Shape 91"/>
          <p:cNvSpPr/>
          <p:nvPr/>
        </p:nvSpPr>
        <p:spPr>
          <a:xfrm>
            <a:off x="427254" y="12343303"/>
            <a:ext cx="169841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96" name="Text 92"/>
          <p:cNvSpPr/>
          <p:nvPr/>
        </p:nvSpPr>
        <p:spPr>
          <a:xfrm>
            <a:off x="427254" y="12067257"/>
            <a:ext cx="17323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3-5年</a:t>
            </a:r>
            <a:endParaRPr lang="en-US" sz="673" dirty="0"/>
          </a:p>
        </p:txBody>
      </p:sp>
      <p:sp>
        <p:nvSpPr>
          <p:cNvPr id="97" name="Text 93"/>
          <p:cNvSpPr/>
          <p:nvPr/>
        </p:nvSpPr>
        <p:spPr>
          <a:xfrm>
            <a:off x="2125672" y="12067257"/>
            <a:ext cx="1027496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Shape 94"/>
          <p:cNvSpPr/>
          <p:nvPr/>
        </p:nvSpPr>
        <p:spPr>
          <a:xfrm>
            <a:off x="2125672" y="12343303"/>
            <a:ext cx="1027496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99" name="Text 95"/>
          <p:cNvSpPr/>
          <p:nvPr/>
        </p:nvSpPr>
        <p:spPr>
          <a:xfrm>
            <a:off x="2125672" y="12067257"/>
            <a:ext cx="1048046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73" dirty="0"/>
          </a:p>
        </p:txBody>
      </p:sp>
      <p:sp>
        <p:nvSpPr>
          <p:cNvPr id="100" name="Text 96"/>
          <p:cNvSpPr/>
          <p:nvPr/>
        </p:nvSpPr>
        <p:spPr>
          <a:xfrm>
            <a:off x="3153168" y="12067257"/>
            <a:ext cx="1053615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Shape 97"/>
          <p:cNvSpPr/>
          <p:nvPr/>
        </p:nvSpPr>
        <p:spPr>
          <a:xfrm>
            <a:off x="3153168" y="12343303"/>
            <a:ext cx="105361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02" name="Text 98"/>
          <p:cNvSpPr/>
          <p:nvPr/>
        </p:nvSpPr>
        <p:spPr>
          <a:xfrm>
            <a:off x="3153168" y="12067257"/>
            <a:ext cx="107468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73" dirty="0"/>
          </a:p>
        </p:txBody>
      </p:sp>
      <p:sp>
        <p:nvSpPr>
          <p:cNvPr id="103" name="Text 99"/>
          <p:cNvSpPr/>
          <p:nvPr/>
        </p:nvSpPr>
        <p:spPr>
          <a:xfrm>
            <a:off x="4206784" y="12067257"/>
            <a:ext cx="2202027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Shape 100"/>
          <p:cNvSpPr/>
          <p:nvPr/>
        </p:nvSpPr>
        <p:spPr>
          <a:xfrm>
            <a:off x="4206784" y="12343303"/>
            <a:ext cx="2202027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05" name="Text 101"/>
          <p:cNvSpPr/>
          <p:nvPr/>
        </p:nvSpPr>
        <p:spPr>
          <a:xfrm>
            <a:off x="4270872" y="12134016"/>
            <a:ext cx="417574" cy="145200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6" name="Text 102"/>
          <p:cNvSpPr/>
          <p:nvPr/>
        </p:nvSpPr>
        <p:spPr>
          <a:xfrm>
            <a:off x="4266696" y="12134016"/>
            <a:ext cx="42592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不推荐</a:t>
            </a:r>
            <a:endParaRPr lang="en-US" sz="505" dirty="0"/>
          </a:p>
        </p:txBody>
      </p:sp>
      <p:sp>
        <p:nvSpPr>
          <p:cNvPr id="107" name="Text 103"/>
          <p:cNvSpPr/>
          <p:nvPr/>
        </p:nvSpPr>
        <p:spPr>
          <a:xfrm>
            <a:off x="427254" y="12345974"/>
            <a:ext cx="1698418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Shape 104"/>
          <p:cNvSpPr/>
          <p:nvPr/>
        </p:nvSpPr>
        <p:spPr>
          <a:xfrm>
            <a:off x="427254" y="12622020"/>
            <a:ext cx="169841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09" name="Text 105"/>
          <p:cNvSpPr/>
          <p:nvPr/>
        </p:nvSpPr>
        <p:spPr>
          <a:xfrm>
            <a:off x="427254" y="12345974"/>
            <a:ext cx="17323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673" dirty="0"/>
          </a:p>
        </p:txBody>
      </p:sp>
      <p:sp>
        <p:nvSpPr>
          <p:cNvPr id="110" name="Text 106"/>
          <p:cNvSpPr/>
          <p:nvPr/>
        </p:nvSpPr>
        <p:spPr>
          <a:xfrm>
            <a:off x="2125672" y="12345974"/>
            <a:ext cx="1027496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Shape 107"/>
          <p:cNvSpPr/>
          <p:nvPr/>
        </p:nvSpPr>
        <p:spPr>
          <a:xfrm>
            <a:off x="2125672" y="12622020"/>
            <a:ext cx="1027496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2125672" y="12345974"/>
            <a:ext cx="1048046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73" dirty="0"/>
          </a:p>
        </p:txBody>
      </p:sp>
      <p:sp>
        <p:nvSpPr>
          <p:cNvPr id="113" name="Text 109"/>
          <p:cNvSpPr/>
          <p:nvPr/>
        </p:nvSpPr>
        <p:spPr>
          <a:xfrm>
            <a:off x="3153168" y="12345974"/>
            <a:ext cx="1053615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4" name="Shape 110"/>
          <p:cNvSpPr/>
          <p:nvPr/>
        </p:nvSpPr>
        <p:spPr>
          <a:xfrm>
            <a:off x="3153168" y="12622020"/>
            <a:ext cx="105361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15" name="Text 111"/>
          <p:cNvSpPr/>
          <p:nvPr/>
        </p:nvSpPr>
        <p:spPr>
          <a:xfrm>
            <a:off x="3153168" y="12345974"/>
            <a:ext cx="107468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673" dirty="0"/>
          </a:p>
        </p:txBody>
      </p:sp>
      <p:sp>
        <p:nvSpPr>
          <p:cNvPr id="116" name="Text 112"/>
          <p:cNvSpPr/>
          <p:nvPr/>
        </p:nvSpPr>
        <p:spPr>
          <a:xfrm>
            <a:off x="4206784" y="12345974"/>
            <a:ext cx="2202027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Shape 113"/>
          <p:cNvSpPr/>
          <p:nvPr/>
        </p:nvSpPr>
        <p:spPr>
          <a:xfrm>
            <a:off x="4206784" y="12622020"/>
            <a:ext cx="2202027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18" name="Text 114"/>
          <p:cNvSpPr/>
          <p:nvPr/>
        </p:nvSpPr>
        <p:spPr>
          <a:xfrm>
            <a:off x="4270872" y="12412732"/>
            <a:ext cx="289398" cy="145200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Text 115"/>
          <p:cNvSpPr/>
          <p:nvPr/>
        </p:nvSpPr>
        <p:spPr>
          <a:xfrm>
            <a:off x="4267978" y="12412732"/>
            <a:ext cx="29518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505" dirty="0"/>
          </a:p>
        </p:txBody>
      </p:sp>
      <p:sp>
        <p:nvSpPr>
          <p:cNvPr id="120" name="Text 116"/>
          <p:cNvSpPr/>
          <p:nvPr/>
        </p:nvSpPr>
        <p:spPr>
          <a:xfrm>
            <a:off x="427254" y="12787581"/>
            <a:ext cx="5981557" cy="4253264"/>
          </a:xfrm>
          <a:prstGeom prst="roundRect">
            <a:avLst>
              <a:gd name="adj" fmla="val 10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Text 117"/>
          <p:cNvSpPr/>
          <p:nvPr/>
        </p:nvSpPr>
        <p:spPr>
          <a:xfrm>
            <a:off x="476388" y="13054615"/>
            <a:ext cx="588328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spcBef>
                <a:spcPts val="1262"/>
              </a:spcBef>
              <a:spcAft>
                <a:spcPts val="631"/>
              </a:spcAft>
              <a:buNone/>
            </a:pPr>
            <a:r>
              <a:rPr lang="en-US" sz="75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平台岗位数量对比</a:t>
            </a:r>
            <a:endParaRPr lang="en-US" sz="757" dirty="0"/>
          </a:p>
        </p:txBody>
      </p:sp>
      <p:pic>
        <p:nvPicPr>
          <p:cNvPr id="122" name="Image 2" descr="/Users/double/vsproject/deepagents/scripts/codex/charts/platform_comparis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68" y="13288519"/>
            <a:ext cx="5767930" cy="3604956"/>
          </a:xfrm>
          <a:prstGeom prst="rect">
            <a:avLst/>
          </a:prstGeom>
        </p:spPr>
      </p:pic>
      <p:sp>
        <p:nvSpPr>
          <p:cNvPr id="123" name="Text 118"/>
          <p:cNvSpPr/>
          <p:nvPr/>
        </p:nvSpPr>
        <p:spPr>
          <a:xfrm>
            <a:off x="427254" y="17201065"/>
            <a:ext cx="5981557" cy="107547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6022" dist="534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4" name="Text 119"/>
          <p:cNvSpPr/>
          <p:nvPr/>
        </p:nvSpPr>
        <p:spPr>
          <a:xfrm>
            <a:off x="427254" y="17201065"/>
            <a:ext cx="1421788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Text 120"/>
          <p:cNvSpPr/>
          <p:nvPr/>
        </p:nvSpPr>
        <p:spPr>
          <a:xfrm>
            <a:off x="427254" y="17201065"/>
            <a:ext cx="1450224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673" dirty="0"/>
          </a:p>
        </p:txBody>
      </p:sp>
      <p:sp>
        <p:nvSpPr>
          <p:cNvPr id="126" name="Text 121"/>
          <p:cNvSpPr/>
          <p:nvPr/>
        </p:nvSpPr>
        <p:spPr>
          <a:xfrm>
            <a:off x="1849042" y="17201065"/>
            <a:ext cx="1121125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Text 122"/>
          <p:cNvSpPr/>
          <p:nvPr/>
        </p:nvSpPr>
        <p:spPr>
          <a:xfrm>
            <a:off x="1849042" y="17201065"/>
            <a:ext cx="1143547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岗位数</a:t>
            </a:r>
            <a:endParaRPr lang="en-US" sz="673" dirty="0"/>
          </a:p>
        </p:txBody>
      </p:sp>
      <p:sp>
        <p:nvSpPr>
          <p:cNvPr id="128" name="Text 123"/>
          <p:cNvSpPr/>
          <p:nvPr/>
        </p:nvSpPr>
        <p:spPr>
          <a:xfrm>
            <a:off x="2970167" y="17201065"/>
            <a:ext cx="1819084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Text 124"/>
          <p:cNvSpPr/>
          <p:nvPr/>
        </p:nvSpPr>
        <p:spPr>
          <a:xfrm>
            <a:off x="2970167" y="17201065"/>
            <a:ext cx="1855466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适合应届生</a:t>
            </a:r>
            <a:endParaRPr lang="en-US" sz="673" dirty="0"/>
          </a:p>
        </p:txBody>
      </p:sp>
      <p:sp>
        <p:nvSpPr>
          <p:cNvPr id="130" name="Text 125"/>
          <p:cNvSpPr/>
          <p:nvPr/>
        </p:nvSpPr>
        <p:spPr>
          <a:xfrm>
            <a:off x="4789251" y="17201065"/>
            <a:ext cx="1619560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Text 126"/>
          <p:cNvSpPr/>
          <p:nvPr/>
        </p:nvSpPr>
        <p:spPr>
          <a:xfrm>
            <a:off x="4789251" y="17201065"/>
            <a:ext cx="1651951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平均匹配度</a:t>
            </a:r>
            <a:endParaRPr lang="en-US" sz="673" dirty="0"/>
          </a:p>
        </p:txBody>
      </p:sp>
      <p:sp>
        <p:nvSpPr>
          <p:cNvPr id="132" name="Text 127"/>
          <p:cNvSpPr/>
          <p:nvPr/>
        </p:nvSpPr>
        <p:spPr>
          <a:xfrm>
            <a:off x="427254" y="17465929"/>
            <a:ext cx="1421788" cy="2675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Shape 128"/>
          <p:cNvSpPr/>
          <p:nvPr/>
        </p:nvSpPr>
        <p:spPr>
          <a:xfrm>
            <a:off x="427254" y="17730793"/>
            <a:ext cx="142178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427254" y="17465929"/>
            <a:ext cx="1450224" cy="26753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673" dirty="0"/>
          </a:p>
        </p:txBody>
      </p:sp>
      <p:sp>
        <p:nvSpPr>
          <p:cNvPr id="135" name="Text 130"/>
          <p:cNvSpPr/>
          <p:nvPr/>
        </p:nvSpPr>
        <p:spPr>
          <a:xfrm>
            <a:off x="1849042" y="17465929"/>
            <a:ext cx="1121125" cy="2675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6" name="Shape 131"/>
          <p:cNvSpPr/>
          <p:nvPr/>
        </p:nvSpPr>
        <p:spPr>
          <a:xfrm>
            <a:off x="1849042" y="17730793"/>
            <a:ext cx="112112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37" name="Text 132"/>
          <p:cNvSpPr/>
          <p:nvPr/>
        </p:nvSpPr>
        <p:spPr>
          <a:xfrm>
            <a:off x="1849042" y="17465929"/>
            <a:ext cx="1143547" cy="26753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73" dirty="0"/>
          </a:p>
        </p:txBody>
      </p:sp>
      <p:sp>
        <p:nvSpPr>
          <p:cNvPr id="138" name="Text 133"/>
          <p:cNvSpPr/>
          <p:nvPr/>
        </p:nvSpPr>
        <p:spPr>
          <a:xfrm>
            <a:off x="2970167" y="17465929"/>
            <a:ext cx="1819084" cy="2675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Shape 134"/>
          <p:cNvSpPr/>
          <p:nvPr/>
        </p:nvSpPr>
        <p:spPr>
          <a:xfrm>
            <a:off x="2970167" y="17730793"/>
            <a:ext cx="181908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40" name="Text 135"/>
          <p:cNvSpPr/>
          <p:nvPr/>
        </p:nvSpPr>
        <p:spPr>
          <a:xfrm>
            <a:off x="2970167" y="17465929"/>
            <a:ext cx="1855466" cy="26753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4个（40%）</a:t>
            </a:r>
            <a:endParaRPr lang="en-US" sz="673" dirty="0"/>
          </a:p>
        </p:txBody>
      </p:sp>
      <p:sp>
        <p:nvSpPr>
          <p:cNvPr id="141" name="Text 136"/>
          <p:cNvSpPr/>
          <p:nvPr/>
        </p:nvSpPr>
        <p:spPr>
          <a:xfrm>
            <a:off x="4789251" y="17465929"/>
            <a:ext cx="1619560" cy="26753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2" name="Shape 137"/>
          <p:cNvSpPr/>
          <p:nvPr/>
        </p:nvSpPr>
        <p:spPr>
          <a:xfrm>
            <a:off x="4789251" y="17730793"/>
            <a:ext cx="1619560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43" name="Text 138"/>
          <p:cNvSpPr/>
          <p:nvPr/>
        </p:nvSpPr>
        <p:spPr>
          <a:xfrm>
            <a:off x="4789251" y="17465929"/>
            <a:ext cx="1651951" cy="26753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</a:t>
            </a:r>
            <a:endParaRPr lang="en-US" sz="673" dirty="0"/>
          </a:p>
        </p:txBody>
      </p:sp>
      <p:sp>
        <p:nvSpPr>
          <p:cNvPr id="144" name="Text 139"/>
          <p:cNvSpPr/>
          <p:nvPr/>
        </p:nvSpPr>
        <p:spPr>
          <a:xfrm>
            <a:off x="427254" y="17733464"/>
            <a:ext cx="1421788" cy="2702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Shape 140"/>
          <p:cNvSpPr/>
          <p:nvPr/>
        </p:nvSpPr>
        <p:spPr>
          <a:xfrm>
            <a:off x="427254" y="18000998"/>
            <a:ext cx="142178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46" name="Text 141"/>
          <p:cNvSpPr/>
          <p:nvPr/>
        </p:nvSpPr>
        <p:spPr>
          <a:xfrm>
            <a:off x="427254" y="17733464"/>
            <a:ext cx="1450224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智联招聘</a:t>
            </a:r>
            <a:endParaRPr lang="en-US" sz="673" dirty="0"/>
          </a:p>
        </p:txBody>
      </p:sp>
      <p:sp>
        <p:nvSpPr>
          <p:cNvPr id="147" name="Text 142"/>
          <p:cNvSpPr/>
          <p:nvPr/>
        </p:nvSpPr>
        <p:spPr>
          <a:xfrm>
            <a:off x="1849042" y="17733464"/>
            <a:ext cx="1121125" cy="2702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8" name="Shape 143"/>
          <p:cNvSpPr/>
          <p:nvPr/>
        </p:nvSpPr>
        <p:spPr>
          <a:xfrm>
            <a:off x="1849042" y="18000998"/>
            <a:ext cx="112112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49" name="Text 144"/>
          <p:cNvSpPr/>
          <p:nvPr/>
        </p:nvSpPr>
        <p:spPr>
          <a:xfrm>
            <a:off x="1849042" y="17733464"/>
            <a:ext cx="1143547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73" dirty="0"/>
          </a:p>
        </p:txBody>
      </p:sp>
      <p:sp>
        <p:nvSpPr>
          <p:cNvPr id="150" name="Text 145"/>
          <p:cNvSpPr/>
          <p:nvPr/>
        </p:nvSpPr>
        <p:spPr>
          <a:xfrm>
            <a:off x="2970167" y="17733464"/>
            <a:ext cx="1819084" cy="2702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Shape 146"/>
          <p:cNvSpPr/>
          <p:nvPr/>
        </p:nvSpPr>
        <p:spPr>
          <a:xfrm>
            <a:off x="2970167" y="18000998"/>
            <a:ext cx="181908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52" name="Text 147"/>
          <p:cNvSpPr/>
          <p:nvPr/>
        </p:nvSpPr>
        <p:spPr>
          <a:xfrm>
            <a:off x="2970167" y="17733464"/>
            <a:ext cx="1855466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1个（17%）</a:t>
            </a:r>
            <a:endParaRPr lang="en-US" sz="673" dirty="0"/>
          </a:p>
        </p:txBody>
      </p:sp>
      <p:sp>
        <p:nvSpPr>
          <p:cNvPr id="153" name="Text 148"/>
          <p:cNvSpPr/>
          <p:nvPr/>
        </p:nvSpPr>
        <p:spPr>
          <a:xfrm>
            <a:off x="4789251" y="17733464"/>
            <a:ext cx="1619560" cy="2702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4" name="Shape 149"/>
          <p:cNvSpPr/>
          <p:nvPr/>
        </p:nvSpPr>
        <p:spPr>
          <a:xfrm>
            <a:off x="4789251" y="18000998"/>
            <a:ext cx="1619560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55" name="Text 150"/>
          <p:cNvSpPr/>
          <p:nvPr/>
        </p:nvSpPr>
        <p:spPr>
          <a:xfrm>
            <a:off x="4789251" y="17733464"/>
            <a:ext cx="1651951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60.8</a:t>
            </a:r>
            <a:endParaRPr lang="en-US" sz="673" dirty="0"/>
          </a:p>
        </p:txBody>
      </p:sp>
      <p:sp>
        <p:nvSpPr>
          <p:cNvPr id="156" name="Text 151"/>
          <p:cNvSpPr/>
          <p:nvPr/>
        </p:nvSpPr>
        <p:spPr>
          <a:xfrm>
            <a:off x="427254" y="18003669"/>
            <a:ext cx="1421788" cy="2702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Shape 152"/>
          <p:cNvSpPr/>
          <p:nvPr/>
        </p:nvSpPr>
        <p:spPr>
          <a:xfrm>
            <a:off x="427254" y="18271203"/>
            <a:ext cx="1421788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58" name="Text 153"/>
          <p:cNvSpPr/>
          <p:nvPr/>
        </p:nvSpPr>
        <p:spPr>
          <a:xfrm>
            <a:off x="427254" y="18003669"/>
            <a:ext cx="1450224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</a:t>
            </a:r>
            <a:endParaRPr lang="en-US" sz="673" dirty="0"/>
          </a:p>
        </p:txBody>
      </p:sp>
      <p:sp>
        <p:nvSpPr>
          <p:cNvPr id="159" name="Text 154"/>
          <p:cNvSpPr/>
          <p:nvPr/>
        </p:nvSpPr>
        <p:spPr>
          <a:xfrm>
            <a:off x="1849042" y="18003669"/>
            <a:ext cx="1121125" cy="2702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0" name="Shape 155"/>
          <p:cNvSpPr/>
          <p:nvPr/>
        </p:nvSpPr>
        <p:spPr>
          <a:xfrm>
            <a:off x="1849042" y="18271203"/>
            <a:ext cx="1121125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61" name="Text 156"/>
          <p:cNvSpPr/>
          <p:nvPr/>
        </p:nvSpPr>
        <p:spPr>
          <a:xfrm>
            <a:off x="1849042" y="18003669"/>
            <a:ext cx="1143547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673" dirty="0"/>
          </a:p>
        </p:txBody>
      </p:sp>
      <p:sp>
        <p:nvSpPr>
          <p:cNvPr id="162" name="Text 157"/>
          <p:cNvSpPr/>
          <p:nvPr/>
        </p:nvSpPr>
        <p:spPr>
          <a:xfrm>
            <a:off x="2970167" y="18003669"/>
            <a:ext cx="1819084" cy="2702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Shape 158"/>
          <p:cNvSpPr/>
          <p:nvPr/>
        </p:nvSpPr>
        <p:spPr>
          <a:xfrm>
            <a:off x="2970167" y="18271203"/>
            <a:ext cx="181908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64" name="Text 159"/>
          <p:cNvSpPr/>
          <p:nvPr/>
        </p:nvSpPr>
        <p:spPr>
          <a:xfrm>
            <a:off x="2970167" y="18003669"/>
            <a:ext cx="1855466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5个（31%）</a:t>
            </a:r>
            <a:endParaRPr lang="en-US" sz="673" dirty="0"/>
          </a:p>
        </p:txBody>
      </p:sp>
      <p:sp>
        <p:nvSpPr>
          <p:cNvPr id="165" name="Text 160"/>
          <p:cNvSpPr/>
          <p:nvPr/>
        </p:nvSpPr>
        <p:spPr>
          <a:xfrm>
            <a:off x="4789251" y="18003669"/>
            <a:ext cx="1619560" cy="2702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6" name="Shape 161"/>
          <p:cNvSpPr/>
          <p:nvPr/>
        </p:nvSpPr>
        <p:spPr>
          <a:xfrm>
            <a:off x="4789251" y="18271203"/>
            <a:ext cx="1619560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167" name="Text 162"/>
          <p:cNvSpPr/>
          <p:nvPr/>
        </p:nvSpPr>
        <p:spPr>
          <a:xfrm>
            <a:off x="4789251" y="18003669"/>
            <a:ext cx="1651951" cy="270205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673" dirty="0"/>
          </a:p>
        </p:txBody>
      </p:sp>
      <p:sp>
        <p:nvSpPr>
          <p:cNvPr id="168" name="Text 163"/>
          <p:cNvSpPr/>
          <p:nvPr/>
        </p:nvSpPr>
        <p:spPr>
          <a:xfrm>
            <a:off x="427254" y="18490171"/>
            <a:ext cx="6101188" cy="187925"/>
          </a:xfrm>
          <a:prstGeom prst="rect">
            <a:avLst/>
          </a:prstGeom>
          <a:noFill/>
          <a:ln/>
        </p:spPr>
        <p:txBody>
          <a:bodyPr wrap="square" lIns="80110" tIns="0" rIns="0" bIns="0" rtlCol="0" anchor="t"/>
          <a:lstStyle/>
          <a:p>
            <a:pPr algn="l" indent="0" marL="0">
              <a:lnSpc>
                <a:spcPts val="1480"/>
              </a:lnSpc>
              <a:spcBef>
                <a:spcPts val="1682"/>
              </a:spcBef>
              <a:spcAft>
                <a:spcPts val="841"/>
              </a:spcAft>
              <a:buNone/>
            </a:pPr>
            <a:r>
              <a:rPr lang="en-US" sz="925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三、高匹配度岗位推荐（Top 6）</a:t>
            </a:r>
            <a:endParaRPr lang="en-US" sz="925" dirty="0"/>
          </a:p>
        </p:txBody>
      </p:sp>
      <p:sp>
        <p:nvSpPr>
          <p:cNvPr id="169" name="Text 164"/>
          <p:cNvSpPr/>
          <p:nvPr/>
        </p:nvSpPr>
        <p:spPr>
          <a:xfrm>
            <a:off x="427254" y="18784909"/>
            <a:ext cx="5981557" cy="226311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0" name="Text 165"/>
          <p:cNvSpPr/>
          <p:nvPr/>
        </p:nvSpPr>
        <p:spPr>
          <a:xfrm>
            <a:off x="5940250" y="18897064"/>
            <a:ext cx="356407" cy="190095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Text 166"/>
          <p:cNvSpPr/>
          <p:nvPr/>
        </p:nvSpPr>
        <p:spPr>
          <a:xfrm>
            <a:off x="5936686" y="18897064"/>
            <a:ext cx="363535" cy="19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90分</a:t>
            </a:r>
            <a:endParaRPr lang="en-US" sz="673" dirty="0"/>
          </a:p>
        </p:txBody>
      </p:sp>
      <p:sp>
        <p:nvSpPr>
          <p:cNvPr id="172" name="Text 167"/>
          <p:cNvSpPr/>
          <p:nvPr/>
        </p:nvSpPr>
        <p:spPr>
          <a:xfrm>
            <a:off x="539408" y="18897064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第1名：淘宝 - 前端开发工程师</a:t>
            </a:r>
            <a:endParaRPr lang="en-US" sz="757" dirty="0"/>
          </a:p>
        </p:txBody>
      </p:sp>
      <p:sp>
        <p:nvSpPr>
          <p:cNvPr id="173" name="Text 168"/>
          <p:cNvSpPr/>
          <p:nvPr/>
        </p:nvSpPr>
        <p:spPr>
          <a:xfrm>
            <a:off x="539408" y="19104265"/>
            <a:ext cx="5757249" cy="11106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4" name="Text 169"/>
          <p:cNvSpPr/>
          <p:nvPr/>
        </p:nvSpPr>
        <p:spPr>
          <a:xfrm>
            <a:off x="539408" y="19104265"/>
            <a:ext cx="166620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Text 170"/>
          <p:cNvSpPr/>
          <p:nvPr/>
        </p:nvSpPr>
        <p:spPr>
          <a:xfrm>
            <a:off x="539408" y="19104265"/>
            <a:ext cx="169953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673" dirty="0"/>
          </a:p>
        </p:txBody>
      </p:sp>
      <p:sp>
        <p:nvSpPr>
          <p:cNvPr id="176" name="Text 171"/>
          <p:cNvSpPr/>
          <p:nvPr/>
        </p:nvSpPr>
        <p:spPr>
          <a:xfrm>
            <a:off x="2205616" y="19104265"/>
            <a:ext cx="4091041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Text 172"/>
          <p:cNvSpPr/>
          <p:nvPr/>
        </p:nvSpPr>
        <p:spPr>
          <a:xfrm>
            <a:off x="2205616" y="19104265"/>
            <a:ext cx="417286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未说明（校招岗位）</a:t>
            </a:r>
            <a:endParaRPr lang="en-US" sz="673" dirty="0"/>
          </a:p>
        </p:txBody>
      </p:sp>
      <p:sp>
        <p:nvSpPr>
          <p:cNvPr id="178" name="Text 173"/>
          <p:cNvSpPr/>
          <p:nvPr/>
        </p:nvSpPr>
        <p:spPr>
          <a:xfrm>
            <a:off x="539408" y="19326404"/>
            <a:ext cx="166620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Text 174"/>
          <p:cNvSpPr/>
          <p:nvPr/>
        </p:nvSpPr>
        <p:spPr>
          <a:xfrm>
            <a:off x="539408" y="19326404"/>
            <a:ext cx="169953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673" dirty="0"/>
          </a:p>
        </p:txBody>
      </p:sp>
      <p:sp>
        <p:nvSpPr>
          <p:cNvPr id="180" name="Text 175"/>
          <p:cNvSpPr/>
          <p:nvPr/>
        </p:nvSpPr>
        <p:spPr>
          <a:xfrm>
            <a:off x="2205616" y="19326404"/>
            <a:ext cx="4091041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Text 176"/>
          <p:cNvSpPr/>
          <p:nvPr/>
        </p:nvSpPr>
        <p:spPr>
          <a:xfrm>
            <a:off x="2205616" y="19326404"/>
            <a:ext cx="417286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在校/应届</a:t>
            </a:r>
            <a:endParaRPr lang="en-US" sz="673" dirty="0"/>
          </a:p>
        </p:txBody>
      </p:sp>
      <p:sp>
        <p:nvSpPr>
          <p:cNvPr id="182" name="Text 177"/>
          <p:cNvSpPr/>
          <p:nvPr/>
        </p:nvSpPr>
        <p:spPr>
          <a:xfrm>
            <a:off x="539408" y="19548543"/>
            <a:ext cx="166620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Text 178"/>
          <p:cNvSpPr/>
          <p:nvPr/>
        </p:nvSpPr>
        <p:spPr>
          <a:xfrm>
            <a:off x="539408" y="19548543"/>
            <a:ext cx="169953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673" dirty="0"/>
          </a:p>
        </p:txBody>
      </p:sp>
      <p:sp>
        <p:nvSpPr>
          <p:cNvPr id="184" name="Text 179"/>
          <p:cNvSpPr/>
          <p:nvPr/>
        </p:nvSpPr>
        <p:spPr>
          <a:xfrm>
            <a:off x="2205616" y="19548543"/>
            <a:ext cx="4091041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Text 180"/>
          <p:cNvSpPr/>
          <p:nvPr/>
        </p:nvSpPr>
        <p:spPr>
          <a:xfrm>
            <a:off x="2205616" y="19548543"/>
            <a:ext cx="417286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673" dirty="0"/>
          </a:p>
        </p:txBody>
      </p:sp>
      <p:sp>
        <p:nvSpPr>
          <p:cNvPr id="186" name="Text 181"/>
          <p:cNvSpPr/>
          <p:nvPr/>
        </p:nvSpPr>
        <p:spPr>
          <a:xfrm>
            <a:off x="539408" y="19770681"/>
            <a:ext cx="166620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Text 182"/>
          <p:cNvSpPr/>
          <p:nvPr/>
        </p:nvSpPr>
        <p:spPr>
          <a:xfrm>
            <a:off x="539408" y="19770681"/>
            <a:ext cx="169953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673" dirty="0"/>
          </a:p>
        </p:txBody>
      </p:sp>
      <p:sp>
        <p:nvSpPr>
          <p:cNvPr id="188" name="Text 183"/>
          <p:cNvSpPr/>
          <p:nvPr/>
        </p:nvSpPr>
        <p:spPr>
          <a:xfrm>
            <a:off x="2205616" y="19770681"/>
            <a:ext cx="4091041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Text 184"/>
          <p:cNvSpPr/>
          <p:nvPr/>
        </p:nvSpPr>
        <p:spPr>
          <a:xfrm>
            <a:off x="2205616" y="19770681"/>
            <a:ext cx="417286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CSS、JavaScript、React</a:t>
            </a:r>
            <a:endParaRPr lang="en-US" sz="673" dirty="0"/>
          </a:p>
        </p:txBody>
      </p:sp>
      <p:sp>
        <p:nvSpPr>
          <p:cNvPr id="190" name="Text 185"/>
          <p:cNvSpPr/>
          <p:nvPr/>
        </p:nvSpPr>
        <p:spPr>
          <a:xfrm>
            <a:off x="539408" y="19992820"/>
            <a:ext cx="166620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Text 186"/>
          <p:cNvSpPr/>
          <p:nvPr/>
        </p:nvSpPr>
        <p:spPr>
          <a:xfrm>
            <a:off x="539408" y="19992820"/>
            <a:ext cx="169953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673" dirty="0"/>
          </a:p>
        </p:txBody>
      </p:sp>
      <p:sp>
        <p:nvSpPr>
          <p:cNvPr id="192" name="Text 187"/>
          <p:cNvSpPr/>
          <p:nvPr/>
        </p:nvSpPr>
        <p:spPr>
          <a:xfrm>
            <a:off x="2205616" y="19992820"/>
            <a:ext cx="4091041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Text 188"/>
          <p:cNvSpPr/>
          <p:nvPr/>
        </p:nvSpPr>
        <p:spPr>
          <a:xfrm>
            <a:off x="2205616" y="19992820"/>
            <a:ext cx="4172862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673" dirty="0"/>
          </a:p>
        </p:txBody>
      </p:sp>
      <p:sp>
        <p:nvSpPr>
          <p:cNvPr id="194" name="Text 189"/>
          <p:cNvSpPr/>
          <p:nvPr/>
        </p:nvSpPr>
        <p:spPr>
          <a:xfrm>
            <a:off x="539408" y="20268366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673" dirty="0"/>
          </a:p>
        </p:txBody>
      </p:sp>
      <p:sp>
        <p:nvSpPr>
          <p:cNvPr id="195" name="Text 190"/>
          <p:cNvSpPr/>
          <p:nvPr/>
        </p:nvSpPr>
        <p:spPr>
          <a:xfrm>
            <a:off x="539408" y="20268366"/>
            <a:ext cx="291901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6" name="Text 191"/>
          <p:cNvSpPr/>
          <p:nvPr/>
        </p:nvSpPr>
        <p:spPr>
          <a:xfrm>
            <a:off x="536489" y="20268366"/>
            <a:ext cx="29773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547" dirty="0"/>
          </a:p>
        </p:txBody>
      </p:sp>
      <p:sp>
        <p:nvSpPr>
          <p:cNvPr id="197" name="Text 192"/>
          <p:cNvSpPr/>
          <p:nvPr/>
        </p:nvSpPr>
        <p:spPr>
          <a:xfrm>
            <a:off x="874035" y="20268366"/>
            <a:ext cx="445946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8" name="Text 193"/>
          <p:cNvSpPr/>
          <p:nvPr/>
        </p:nvSpPr>
        <p:spPr>
          <a:xfrm>
            <a:off x="869576" y="20268366"/>
            <a:ext cx="454865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547" dirty="0"/>
          </a:p>
        </p:txBody>
      </p:sp>
      <p:sp>
        <p:nvSpPr>
          <p:cNvPr id="199" name="Text 194"/>
          <p:cNvSpPr/>
          <p:nvPr/>
        </p:nvSpPr>
        <p:spPr>
          <a:xfrm>
            <a:off x="1362707" y="20268366"/>
            <a:ext cx="243835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0" name="Text 195"/>
          <p:cNvSpPr/>
          <p:nvPr/>
        </p:nvSpPr>
        <p:spPr>
          <a:xfrm>
            <a:off x="1360268" y="20268366"/>
            <a:ext cx="248712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547" dirty="0"/>
          </a:p>
        </p:txBody>
      </p:sp>
      <p:sp>
        <p:nvSpPr>
          <p:cNvPr id="201" name="Text 196"/>
          <p:cNvSpPr/>
          <p:nvPr/>
        </p:nvSpPr>
        <p:spPr>
          <a:xfrm>
            <a:off x="539408" y="20502270"/>
            <a:ext cx="5757249" cy="296908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2" name="Shape 197"/>
          <p:cNvSpPr/>
          <p:nvPr/>
        </p:nvSpPr>
        <p:spPr>
          <a:xfrm>
            <a:off x="550090" y="20502270"/>
            <a:ext cx="9144" cy="296908"/>
          </a:xfrm>
          <a:prstGeom prst="line">
            <a:avLst/>
          </a:prstGeom>
          <a:noFill/>
          <a:ln w="21363">
            <a:solidFill>
              <a:srgbClr val="28A745"/>
            </a:solidFill>
            <a:prstDash val="solid"/>
          </a:ln>
        </p:spPr>
      </p:sp>
      <p:sp>
        <p:nvSpPr>
          <p:cNvPr id="203" name="Text 198"/>
          <p:cNvSpPr/>
          <p:nvPr/>
        </p:nvSpPr>
        <p:spPr>
          <a:xfrm>
            <a:off x="539408" y="20502270"/>
            <a:ext cx="5872394" cy="296908"/>
          </a:xfrm>
          <a:prstGeom prst="rect">
            <a:avLst/>
          </a:prstGeom>
          <a:noFill/>
          <a:ln/>
        </p:spPr>
        <p:txBody>
          <a:bodyPr wrap="square" lIns="80110" tIns="80110" rIns="80110" bIns="8011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大厂平台，职业发展空间大；校招岗位，与应届生身份完美匹配；React技能匹配度100%。</a:t>
            </a:r>
            <a:endParaRPr lang="en-US" sz="673" dirty="0"/>
          </a:p>
        </p:txBody>
      </p:sp>
      <p:sp>
        <p:nvSpPr>
          <p:cNvPr id="204" name="Text 199"/>
          <p:cNvSpPr/>
          <p:nvPr/>
        </p:nvSpPr>
        <p:spPr>
          <a:xfrm>
            <a:off x="539408" y="20799179"/>
            <a:ext cx="5872394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准备前端基础知识面试（HTML/CSS/JS）；准备React相关项目展示；了解阿里技术栈和企业文化。</a:t>
            </a:r>
            <a:endParaRPr lang="en-US" sz="673" dirty="0"/>
          </a:p>
        </p:txBody>
      </p:sp>
      <p:sp>
        <p:nvSpPr>
          <p:cNvPr id="205" name="Text 200"/>
          <p:cNvSpPr/>
          <p:nvPr/>
        </p:nvSpPr>
        <p:spPr>
          <a:xfrm>
            <a:off x="427254" y="21154834"/>
            <a:ext cx="5981557" cy="226311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6" name="Text 201"/>
          <p:cNvSpPr/>
          <p:nvPr/>
        </p:nvSpPr>
        <p:spPr>
          <a:xfrm>
            <a:off x="5938915" y="21266988"/>
            <a:ext cx="357742" cy="190095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Text 202"/>
          <p:cNvSpPr/>
          <p:nvPr/>
        </p:nvSpPr>
        <p:spPr>
          <a:xfrm>
            <a:off x="5935338" y="21266988"/>
            <a:ext cx="364897" cy="19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88分</a:t>
            </a:r>
            <a:endParaRPr lang="en-US" sz="673" dirty="0"/>
          </a:p>
        </p:txBody>
      </p:sp>
      <p:sp>
        <p:nvSpPr>
          <p:cNvPr id="208" name="Text 203"/>
          <p:cNvSpPr/>
          <p:nvPr/>
        </p:nvSpPr>
        <p:spPr>
          <a:xfrm>
            <a:off x="539408" y="21266988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第2名：核盛网络 - web开发实习生(react)</a:t>
            </a:r>
            <a:endParaRPr lang="en-US" sz="757" dirty="0"/>
          </a:p>
        </p:txBody>
      </p:sp>
      <p:sp>
        <p:nvSpPr>
          <p:cNvPr id="209" name="Text 204"/>
          <p:cNvSpPr/>
          <p:nvPr/>
        </p:nvSpPr>
        <p:spPr>
          <a:xfrm>
            <a:off x="539408" y="21474190"/>
            <a:ext cx="5757249" cy="11106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0" name="Text 205"/>
          <p:cNvSpPr/>
          <p:nvPr/>
        </p:nvSpPr>
        <p:spPr>
          <a:xfrm>
            <a:off x="539408" y="21474190"/>
            <a:ext cx="261017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Text 206"/>
          <p:cNvSpPr/>
          <p:nvPr/>
        </p:nvSpPr>
        <p:spPr>
          <a:xfrm>
            <a:off x="539408" y="21474190"/>
            <a:ext cx="266237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673" dirty="0"/>
          </a:p>
        </p:txBody>
      </p:sp>
      <p:sp>
        <p:nvSpPr>
          <p:cNvPr id="212" name="Text 207"/>
          <p:cNvSpPr/>
          <p:nvPr/>
        </p:nvSpPr>
        <p:spPr>
          <a:xfrm>
            <a:off x="3149580" y="21474190"/>
            <a:ext cx="314707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Text 208"/>
          <p:cNvSpPr/>
          <p:nvPr/>
        </p:nvSpPr>
        <p:spPr>
          <a:xfrm>
            <a:off x="3149580" y="21474190"/>
            <a:ext cx="3210018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673" dirty="0"/>
          </a:p>
        </p:txBody>
      </p:sp>
      <p:sp>
        <p:nvSpPr>
          <p:cNvPr id="214" name="Text 209"/>
          <p:cNvSpPr/>
          <p:nvPr/>
        </p:nvSpPr>
        <p:spPr>
          <a:xfrm>
            <a:off x="539408" y="21696329"/>
            <a:ext cx="2610172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Text 210"/>
          <p:cNvSpPr/>
          <p:nvPr/>
        </p:nvSpPr>
        <p:spPr>
          <a:xfrm>
            <a:off x="539408" y="21696329"/>
            <a:ext cx="266237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673" dirty="0"/>
          </a:p>
        </p:txBody>
      </p:sp>
      <p:sp>
        <p:nvSpPr>
          <p:cNvPr id="216" name="Text 211"/>
          <p:cNvSpPr/>
          <p:nvPr/>
        </p:nvSpPr>
        <p:spPr>
          <a:xfrm>
            <a:off x="3149580" y="21696329"/>
            <a:ext cx="314707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Text 212"/>
          <p:cNvSpPr/>
          <p:nvPr/>
        </p:nvSpPr>
        <p:spPr>
          <a:xfrm>
            <a:off x="3149580" y="21696329"/>
            <a:ext cx="3210018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12个月实习</a:t>
            </a:r>
            <a:endParaRPr lang="en-US" sz="673" dirty="0"/>
          </a:p>
        </p:txBody>
      </p:sp>
      <p:sp>
        <p:nvSpPr>
          <p:cNvPr id="218" name="Text 213"/>
          <p:cNvSpPr/>
          <p:nvPr/>
        </p:nvSpPr>
        <p:spPr>
          <a:xfrm>
            <a:off x="539408" y="21918467"/>
            <a:ext cx="261017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Text 214"/>
          <p:cNvSpPr/>
          <p:nvPr/>
        </p:nvSpPr>
        <p:spPr>
          <a:xfrm>
            <a:off x="539408" y="21918467"/>
            <a:ext cx="266237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673" dirty="0"/>
          </a:p>
        </p:txBody>
      </p:sp>
      <p:sp>
        <p:nvSpPr>
          <p:cNvPr id="220" name="Text 215"/>
          <p:cNvSpPr/>
          <p:nvPr/>
        </p:nvSpPr>
        <p:spPr>
          <a:xfrm>
            <a:off x="3149580" y="21918467"/>
            <a:ext cx="314707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Text 216"/>
          <p:cNvSpPr/>
          <p:nvPr/>
        </p:nvSpPr>
        <p:spPr>
          <a:xfrm>
            <a:off x="3149580" y="21918467"/>
            <a:ext cx="3210018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673" dirty="0"/>
          </a:p>
        </p:txBody>
      </p:sp>
      <p:sp>
        <p:nvSpPr>
          <p:cNvPr id="222" name="Text 217"/>
          <p:cNvSpPr/>
          <p:nvPr/>
        </p:nvSpPr>
        <p:spPr>
          <a:xfrm>
            <a:off x="539408" y="22140606"/>
            <a:ext cx="2610172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Text 218"/>
          <p:cNvSpPr/>
          <p:nvPr/>
        </p:nvSpPr>
        <p:spPr>
          <a:xfrm>
            <a:off x="539408" y="22140606"/>
            <a:ext cx="266237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673" dirty="0"/>
          </a:p>
        </p:txBody>
      </p:sp>
      <p:sp>
        <p:nvSpPr>
          <p:cNvPr id="224" name="Text 219"/>
          <p:cNvSpPr/>
          <p:nvPr/>
        </p:nvSpPr>
        <p:spPr>
          <a:xfrm>
            <a:off x="3149580" y="22140606"/>
            <a:ext cx="314707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Text 220"/>
          <p:cNvSpPr/>
          <p:nvPr/>
        </p:nvSpPr>
        <p:spPr>
          <a:xfrm>
            <a:off x="3149580" y="22140606"/>
            <a:ext cx="3210018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73" dirty="0"/>
          </a:p>
        </p:txBody>
      </p:sp>
      <p:sp>
        <p:nvSpPr>
          <p:cNvPr id="226" name="Text 221"/>
          <p:cNvSpPr/>
          <p:nvPr/>
        </p:nvSpPr>
        <p:spPr>
          <a:xfrm>
            <a:off x="539408" y="22362745"/>
            <a:ext cx="261017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Text 222"/>
          <p:cNvSpPr/>
          <p:nvPr/>
        </p:nvSpPr>
        <p:spPr>
          <a:xfrm>
            <a:off x="539408" y="22362745"/>
            <a:ext cx="266237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673" dirty="0"/>
          </a:p>
        </p:txBody>
      </p:sp>
      <p:sp>
        <p:nvSpPr>
          <p:cNvPr id="228" name="Text 223"/>
          <p:cNvSpPr/>
          <p:nvPr/>
        </p:nvSpPr>
        <p:spPr>
          <a:xfrm>
            <a:off x="3149580" y="22362745"/>
            <a:ext cx="314707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Text 224"/>
          <p:cNvSpPr/>
          <p:nvPr/>
        </p:nvSpPr>
        <p:spPr>
          <a:xfrm>
            <a:off x="3149580" y="22362745"/>
            <a:ext cx="3210018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673" dirty="0"/>
          </a:p>
        </p:txBody>
      </p:sp>
      <p:sp>
        <p:nvSpPr>
          <p:cNvPr id="230" name="Text 225"/>
          <p:cNvSpPr/>
          <p:nvPr/>
        </p:nvSpPr>
        <p:spPr>
          <a:xfrm>
            <a:off x="539408" y="22638290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73" dirty="0"/>
          </a:p>
        </p:txBody>
      </p:sp>
      <p:sp>
        <p:nvSpPr>
          <p:cNvPr id="231" name="Text 226"/>
          <p:cNvSpPr/>
          <p:nvPr/>
        </p:nvSpPr>
        <p:spPr>
          <a:xfrm>
            <a:off x="539408" y="22638290"/>
            <a:ext cx="291901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2" name="Text 227"/>
          <p:cNvSpPr/>
          <p:nvPr/>
        </p:nvSpPr>
        <p:spPr>
          <a:xfrm>
            <a:off x="536489" y="22638290"/>
            <a:ext cx="29773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547" dirty="0"/>
          </a:p>
        </p:txBody>
      </p:sp>
      <p:sp>
        <p:nvSpPr>
          <p:cNvPr id="233" name="Text 228"/>
          <p:cNvSpPr/>
          <p:nvPr/>
        </p:nvSpPr>
        <p:spPr>
          <a:xfrm>
            <a:off x="539408" y="22872195"/>
            <a:ext cx="5757249" cy="296908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4" name="Shape 229"/>
          <p:cNvSpPr/>
          <p:nvPr/>
        </p:nvSpPr>
        <p:spPr>
          <a:xfrm>
            <a:off x="550090" y="22872195"/>
            <a:ext cx="9144" cy="296908"/>
          </a:xfrm>
          <a:prstGeom prst="line">
            <a:avLst/>
          </a:prstGeom>
          <a:noFill/>
          <a:ln w="21363">
            <a:solidFill>
              <a:srgbClr val="28A745"/>
            </a:solidFill>
            <a:prstDash val="solid"/>
          </a:ln>
        </p:spPr>
      </p:sp>
      <p:sp>
        <p:nvSpPr>
          <p:cNvPr id="235" name="Text 230"/>
          <p:cNvSpPr/>
          <p:nvPr/>
        </p:nvSpPr>
        <p:spPr>
          <a:xfrm>
            <a:off x="539408" y="22872195"/>
            <a:ext cx="5872394" cy="296908"/>
          </a:xfrm>
          <a:prstGeom prst="rect">
            <a:avLst/>
          </a:prstGeom>
          <a:noFill/>
          <a:ln/>
        </p:spPr>
        <p:txBody>
          <a:bodyPr wrap="square" lIns="80110" tIns="80110" rIns="80110" bIns="8011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实习岗位，可转正机会；React技能匹配；适合积累工作经验。</a:t>
            </a:r>
            <a:endParaRPr lang="en-US" sz="673" dirty="0"/>
          </a:p>
        </p:txBody>
      </p:sp>
      <p:sp>
        <p:nvSpPr>
          <p:cNvPr id="236" name="Text 231"/>
          <p:cNvSpPr/>
          <p:nvPr/>
        </p:nvSpPr>
        <p:spPr>
          <a:xfrm>
            <a:off x="539408" y="23169104"/>
            <a:ext cx="5872394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确认实习时间和转正政策；准备React基础面试；展示微信小程序项目经验。</a:t>
            </a:r>
            <a:endParaRPr lang="en-US" sz="673" dirty="0"/>
          </a:p>
        </p:txBody>
      </p:sp>
      <p:sp>
        <p:nvSpPr>
          <p:cNvPr id="237" name="Text 232"/>
          <p:cNvSpPr/>
          <p:nvPr/>
        </p:nvSpPr>
        <p:spPr>
          <a:xfrm>
            <a:off x="427254" y="23524759"/>
            <a:ext cx="5981557" cy="226311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8" name="Text 233"/>
          <p:cNvSpPr/>
          <p:nvPr/>
        </p:nvSpPr>
        <p:spPr>
          <a:xfrm>
            <a:off x="5941168" y="23636913"/>
            <a:ext cx="355489" cy="190095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Text 234"/>
          <p:cNvSpPr/>
          <p:nvPr/>
        </p:nvSpPr>
        <p:spPr>
          <a:xfrm>
            <a:off x="5937613" y="23636913"/>
            <a:ext cx="362599" cy="19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85分</a:t>
            </a:r>
            <a:endParaRPr lang="en-US" sz="673" dirty="0"/>
          </a:p>
        </p:txBody>
      </p:sp>
      <p:sp>
        <p:nvSpPr>
          <p:cNvPr id="240" name="Text 235"/>
          <p:cNvSpPr/>
          <p:nvPr/>
        </p:nvSpPr>
        <p:spPr>
          <a:xfrm>
            <a:off x="539408" y="23636913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第3名：浙江数维科技 - 前端开发工程师</a:t>
            </a:r>
            <a:endParaRPr lang="en-US" sz="757" dirty="0"/>
          </a:p>
        </p:txBody>
      </p:sp>
      <p:sp>
        <p:nvSpPr>
          <p:cNvPr id="241" name="Text 236"/>
          <p:cNvSpPr/>
          <p:nvPr/>
        </p:nvSpPr>
        <p:spPr>
          <a:xfrm>
            <a:off x="539408" y="23844115"/>
            <a:ext cx="5757249" cy="11106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2" name="Text 237"/>
          <p:cNvSpPr/>
          <p:nvPr/>
        </p:nvSpPr>
        <p:spPr>
          <a:xfrm>
            <a:off x="539408" y="23844115"/>
            <a:ext cx="228055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3" name="Text 238"/>
          <p:cNvSpPr/>
          <p:nvPr/>
        </p:nvSpPr>
        <p:spPr>
          <a:xfrm>
            <a:off x="539408" y="23844115"/>
            <a:ext cx="232616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673" dirty="0"/>
          </a:p>
        </p:txBody>
      </p:sp>
      <p:sp>
        <p:nvSpPr>
          <p:cNvPr id="244" name="Text 239"/>
          <p:cNvSpPr/>
          <p:nvPr/>
        </p:nvSpPr>
        <p:spPr>
          <a:xfrm>
            <a:off x="2819960" y="23844115"/>
            <a:ext cx="347669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5" name="Text 240"/>
          <p:cNvSpPr/>
          <p:nvPr/>
        </p:nvSpPr>
        <p:spPr>
          <a:xfrm>
            <a:off x="2819960" y="23844115"/>
            <a:ext cx="3546230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8000-11000元</a:t>
            </a:r>
            <a:endParaRPr lang="en-US" sz="673" dirty="0"/>
          </a:p>
        </p:txBody>
      </p:sp>
      <p:sp>
        <p:nvSpPr>
          <p:cNvPr id="246" name="Text 241"/>
          <p:cNvSpPr/>
          <p:nvPr/>
        </p:nvSpPr>
        <p:spPr>
          <a:xfrm>
            <a:off x="539408" y="24066254"/>
            <a:ext cx="2280552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7" name="Text 242"/>
          <p:cNvSpPr/>
          <p:nvPr/>
        </p:nvSpPr>
        <p:spPr>
          <a:xfrm>
            <a:off x="539408" y="24066254"/>
            <a:ext cx="232616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673" dirty="0"/>
          </a:p>
        </p:txBody>
      </p:sp>
      <p:sp>
        <p:nvSpPr>
          <p:cNvPr id="248" name="Text 243"/>
          <p:cNvSpPr/>
          <p:nvPr/>
        </p:nvSpPr>
        <p:spPr>
          <a:xfrm>
            <a:off x="2819960" y="24066254"/>
            <a:ext cx="347669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9" name="Text 244"/>
          <p:cNvSpPr/>
          <p:nvPr/>
        </p:nvSpPr>
        <p:spPr>
          <a:xfrm>
            <a:off x="2819960" y="24066254"/>
            <a:ext cx="3546230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</a:t>
            </a:r>
            <a:endParaRPr lang="en-US" sz="673" dirty="0"/>
          </a:p>
        </p:txBody>
      </p:sp>
      <p:sp>
        <p:nvSpPr>
          <p:cNvPr id="250" name="Text 245"/>
          <p:cNvSpPr/>
          <p:nvPr/>
        </p:nvSpPr>
        <p:spPr>
          <a:xfrm>
            <a:off x="539408" y="24288392"/>
            <a:ext cx="228055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1" name="Text 246"/>
          <p:cNvSpPr/>
          <p:nvPr/>
        </p:nvSpPr>
        <p:spPr>
          <a:xfrm>
            <a:off x="539408" y="24288392"/>
            <a:ext cx="232616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673" dirty="0"/>
          </a:p>
        </p:txBody>
      </p:sp>
      <p:sp>
        <p:nvSpPr>
          <p:cNvPr id="252" name="Text 247"/>
          <p:cNvSpPr/>
          <p:nvPr/>
        </p:nvSpPr>
        <p:spPr>
          <a:xfrm>
            <a:off x="2819960" y="24288392"/>
            <a:ext cx="347669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3" name="Text 248"/>
          <p:cNvSpPr/>
          <p:nvPr/>
        </p:nvSpPr>
        <p:spPr>
          <a:xfrm>
            <a:off x="2819960" y="24288392"/>
            <a:ext cx="3546230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673" dirty="0"/>
          </a:p>
        </p:txBody>
      </p:sp>
      <p:sp>
        <p:nvSpPr>
          <p:cNvPr id="254" name="Text 249"/>
          <p:cNvSpPr/>
          <p:nvPr/>
        </p:nvSpPr>
        <p:spPr>
          <a:xfrm>
            <a:off x="539408" y="24510531"/>
            <a:ext cx="2280552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5" name="Text 250"/>
          <p:cNvSpPr/>
          <p:nvPr/>
        </p:nvSpPr>
        <p:spPr>
          <a:xfrm>
            <a:off x="539408" y="24510531"/>
            <a:ext cx="232616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673" dirty="0"/>
          </a:p>
        </p:txBody>
      </p:sp>
      <p:sp>
        <p:nvSpPr>
          <p:cNvPr id="256" name="Text 251"/>
          <p:cNvSpPr/>
          <p:nvPr/>
        </p:nvSpPr>
        <p:spPr>
          <a:xfrm>
            <a:off x="2819960" y="24510531"/>
            <a:ext cx="347669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7" name="Text 252"/>
          <p:cNvSpPr/>
          <p:nvPr/>
        </p:nvSpPr>
        <p:spPr>
          <a:xfrm>
            <a:off x="2819960" y="24510531"/>
            <a:ext cx="3546230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673" dirty="0"/>
          </a:p>
        </p:txBody>
      </p:sp>
      <p:sp>
        <p:nvSpPr>
          <p:cNvPr id="258" name="Text 253"/>
          <p:cNvSpPr/>
          <p:nvPr/>
        </p:nvSpPr>
        <p:spPr>
          <a:xfrm>
            <a:off x="539408" y="24732670"/>
            <a:ext cx="228055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9" name="Text 254"/>
          <p:cNvSpPr/>
          <p:nvPr/>
        </p:nvSpPr>
        <p:spPr>
          <a:xfrm>
            <a:off x="539408" y="24732670"/>
            <a:ext cx="232616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673" dirty="0"/>
          </a:p>
        </p:txBody>
      </p:sp>
      <p:sp>
        <p:nvSpPr>
          <p:cNvPr id="260" name="Text 255"/>
          <p:cNvSpPr/>
          <p:nvPr/>
        </p:nvSpPr>
        <p:spPr>
          <a:xfrm>
            <a:off x="2819960" y="24732670"/>
            <a:ext cx="347669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1" name="Text 256"/>
          <p:cNvSpPr/>
          <p:nvPr/>
        </p:nvSpPr>
        <p:spPr>
          <a:xfrm>
            <a:off x="2819960" y="24732670"/>
            <a:ext cx="3546230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智联招聘</a:t>
            </a:r>
            <a:endParaRPr lang="en-US" sz="673" dirty="0"/>
          </a:p>
        </p:txBody>
      </p:sp>
      <p:sp>
        <p:nvSpPr>
          <p:cNvPr id="262" name="Text 257"/>
          <p:cNvSpPr/>
          <p:nvPr/>
        </p:nvSpPr>
        <p:spPr>
          <a:xfrm>
            <a:off x="539408" y="25008215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673" dirty="0"/>
          </a:p>
        </p:txBody>
      </p:sp>
      <p:sp>
        <p:nvSpPr>
          <p:cNvPr id="263" name="Text 258"/>
          <p:cNvSpPr/>
          <p:nvPr/>
        </p:nvSpPr>
        <p:spPr>
          <a:xfrm>
            <a:off x="539408" y="25008215"/>
            <a:ext cx="384529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4" name="Text 259"/>
          <p:cNvSpPr/>
          <p:nvPr/>
        </p:nvSpPr>
        <p:spPr>
          <a:xfrm>
            <a:off x="535563" y="25008215"/>
            <a:ext cx="39221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547" dirty="0"/>
          </a:p>
        </p:txBody>
      </p:sp>
      <p:sp>
        <p:nvSpPr>
          <p:cNvPr id="265" name="Text 260"/>
          <p:cNvSpPr/>
          <p:nvPr/>
        </p:nvSpPr>
        <p:spPr>
          <a:xfrm>
            <a:off x="966662" y="25008215"/>
            <a:ext cx="445946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6" name="Text 261"/>
          <p:cNvSpPr/>
          <p:nvPr/>
        </p:nvSpPr>
        <p:spPr>
          <a:xfrm>
            <a:off x="962203" y="25008215"/>
            <a:ext cx="454865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547" dirty="0"/>
          </a:p>
        </p:txBody>
      </p:sp>
      <p:sp>
        <p:nvSpPr>
          <p:cNvPr id="267" name="Text 262"/>
          <p:cNvSpPr/>
          <p:nvPr/>
        </p:nvSpPr>
        <p:spPr>
          <a:xfrm>
            <a:off x="1455334" y="25008215"/>
            <a:ext cx="300830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8" name="Text 263"/>
          <p:cNvSpPr/>
          <p:nvPr/>
        </p:nvSpPr>
        <p:spPr>
          <a:xfrm>
            <a:off x="1452326" y="25008215"/>
            <a:ext cx="306847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547" dirty="0"/>
          </a:p>
        </p:txBody>
      </p:sp>
      <p:sp>
        <p:nvSpPr>
          <p:cNvPr id="269" name="Text 264"/>
          <p:cNvSpPr/>
          <p:nvPr/>
        </p:nvSpPr>
        <p:spPr>
          <a:xfrm>
            <a:off x="1798890" y="25008215"/>
            <a:ext cx="243835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0" name="Text 265"/>
          <p:cNvSpPr/>
          <p:nvPr/>
        </p:nvSpPr>
        <p:spPr>
          <a:xfrm>
            <a:off x="1796451" y="25008215"/>
            <a:ext cx="248712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547" dirty="0"/>
          </a:p>
        </p:txBody>
      </p:sp>
      <p:sp>
        <p:nvSpPr>
          <p:cNvPr id="271" name="Text 266"/>
          <p:cNvSpPr/>
          <p:nvPr/>
        </p:nvSpPr>
        <p:spPr>
          <a:xfrm>
            <a:off x="539408" y="25242120"/>
            <a:ext cx="5757249" cy="296908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2" name="Shape 267"/>
          <p:cNvSpPr/>
          <p:nvPr/>
        </p:nvSpPr>
        <p:spPr>
          <a:xfrm>
            <a:off x="550090" y="25242120"/>
            <a:ext cx="9144" cy="296908"/>
          </a:xfrm>
          <a:prstGeom prst="line">
            <a:avLst/>
          </a:prstGeom>
          <a:noFill/>
          <a:ln w="21363">
            <a:solidFill>
              <a:srgbClr val="28A745"/>
            </a:solidFill>
            <a:prstDash val="solid"/>
          </a:ln>
        </p:spPr>
      </p:sp>
      <p:sp>
        <p:nvSpPr>
          <p:cNvPr id="273" name="Text 268"/>
          <p:cNvSpPr/>
          <p:nvPr/>
        </p:nvSpPr>
        <p:spPr>
          <a:xfrm>
            <a:off x="539408" y="25242120"/>
            <a:ext cx="5872394" cy="296908"/>
          </a:xfrm>
          <a:prstGeom prst="rect">
            <a:avLst/>
          </a:prstGeom>
          <a:noFill/>
          <a:ln/>
        </p:spPr>
        <p:txBody>
          <a:bodyPr wrap="square" lIns="80110" tIns="80110" rIns="80110" bIns="8011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经验不限，应届生友好；薪资合理（8k-11k）；本科学历匹配。</a:t>
            </a:r>
            <a:endParaRPr lang="en-US" sz="673" dirty="0"/>
          </a:p>
        </p:txBody>
      </p:sp>
      <p:sp>
        <p:nvSpPr>
          <p:cNvPr id="274" name="Text 269"/>
          <p:cNvSpPr/>
          <p:nvPr/>
        </p:nvSpPr>
        <p:spPr>
          <a:xfrm>
            <a:off x="539408" y="25539028"/>
            <a:ext cx="5872394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准备前端基础面试；展示React和Spring Boot项目经验；了解公司业务和技术栈。</a:t>
            </a:r>
            <a:endParaRPr lang="en-US" sz="673" dirty="0"/>
          </a:p>
        </p:txBody>
      </p:sp>
      <p:sp>
        <p:nvSpPr>
          <p:cNvPr id="275" name="Text 270"/>
          <p:cNvSpPr/>
          <p:nvPr/>
        </p:nvSpPr>
        <p:spPr>
          <a:xfrm>
            <a:off x="427254" y="25894684"/>
            <a:ext cx="5981557" cy="226311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6" name="Text 271"/>
          <p:cNvSpPr/>
          <p:nvPr/>
        </p:nvSpPr>
        <p:spPr>
          <a:xfrm>
            <a:off x="5941168" y="26006838"/>
            <a:ext cx="355489" cy="190095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7" name="Text 272"/>
          <p:cNvSpPr/>
          <p:nvPr/>
        </p:nvSpPr>
        <p:spPr>
          <a:xfrm>
            <a:off x="5937613" y="26006838"/>
            <a:ext cx="362599" cy="19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85分</a:t>
            </a:r>
            <a:endParaRPr lang="en-US" sz="673" dirty="0"/>
          </a:p>
        </p:txBody>
      </p:sp>
      <p:sp>
        <p:nvSpPr>
          <p:cNvPr id="278" name="Text 273"/>
          <p:cNvSpPr/>
          <p:nvPr/>
        </p:nvSpPr>
        <p:spPr>
          <a:xfrm>
            <a:off x="539408" y="26006838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第4名：杭州炎魂网络 - 前端开发工程师(2026届)</a:t>
            </a:r>
            <a:endParaRPr lang="en-US" sz="757" dirty="0"/>
          </a:p>
        </p:txBody>
      </p:sp>
      <p:sp>
        <p:nvSpPr>
          <p:cNvPr id="279" name="Text 274"/>
          <p:cNvSpPr/>
          <p:nvPr/>
        </p:nvSpPr>
        <p:spPr>
          <a:xfrm>
            <a:off x="539408" y="26214040"/>
            <a:ext cx="5757249" cy="11106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0" name="Text 275"/>
          <p:cNvSpPr/>
          <p:nvPr/>
        </p:nvSpPr>
        <p:spPr>
          <a:xfrm>
            <a:off x="539408" y="26214040"/>
            <a:ext cx="1761338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1" name="Text 276"/>
          <p:cNvSpPr/>
          <p:nvPr/>
        </p:nvSpPr>
        <p:spPr>
          <a:xfrm>
            <a:off x="539408" y="26214040"/>
            <a:ext cx="179656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673" dirty="0"/>
          </a:p>
        </p:txBody>
      </p:sp>
      <p:sp>
        <p:nvSpPr>
          <p:cNvPr id="282" name="Text 277"/>
          <p:cNvSpPr/>
          <p:nvPr/>
        </p:nvSpPr>
        <p:spPr>
          <a:xfrm>
            <a:off x="2300746" y="26214040"/>
            <a:ext cx="3995910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3" name="Text 278"/>
          <p:cNvSpPr/>
          <p:nvPr/>
        </p:nvSpPr>
        <p:spPr>
          <a:xfrm>
            <a:off x="2300746" y="26214040"/>
            <a:ext cx="407582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673" dirty="0"/>
          </a:p>
        </p:txBody>
      </p:sp>
      <p:sp>
        <p:nvSpPr>
          <p:cNvPr id="284" name="Text 279"/>
          <p:cNvSpPr/>
          <p:nvPr/>
        </p:nvSpPr>
        <p:spPr>
          <a:xfrm>
            <a:off x="539408" y="26436179"/>
            <a:ext cx="1761338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5" name="Text 280"/>
          <p:cNvSpPr/>
          <p:nvPr/>
        </p:nvSpPr>
        <p:spPr>
          <a:xfrm>
            <a:off x="539408" y="26436179"/>
            <a:ext cx="179656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673" dirty="0"/>
          </a:p>
        </p:txBody>
      </p:sp>
      <p:sp>
        <p:nvSpPr>
          <p:cNvPr id="286" name="Text 281"/>
          <p:cNvSpPr/>
          <p:nvPr/>
        </p:nvSpPr>
        <p:spPr>
          <a:xfrm>
            <a:off x="2300746" y="26436179"/>
            <a:ext cx="3995910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7" name="Text 282"/>
          <p:cNvSpPr/>
          <p:nvPr/>
        </p:nvSpPr>
        <p:spPr>
          <a:xfrm>
            <a:off x="2300746" y="26436179"/>
            <a:ext cx="407582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在校/应届</a:t>
            </a:r>
            <a:endParaRPr lang="en-US" sz="673" dirty="0"/>
          </a:p>
        </p:txBody>
      </p:sp>
      <p:sp>
        <p:nvSpPr>
          <p:cNvPr id="288" name="Text 283"/>
          <p:cNvSpPr/>
          <p:nvPr/>
        </p:nvSpPr>
        <p:spPr>
          <a:xfrm>
            <a:off x="539408" y="26658317"/>
            <a:ext cx="1761338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9" name="Text 284"/>
          <p:cNvSpPr/>
          <p:nvPr/>
        </p:nvSpPr>
        <p:spPr>
          <a:xfrm>
            <a:off x="539408" y="26658317"/>
            <a:ext cx="179656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673" dirty="0"/>
          </a:p>
        </p:txBody>
      </p:sp>
      <p:sp>
        <p:nvSpPr>
          <p:cNvPr id="290" name="Text 285"/>
          <p:cNvSpPr/>
          <p:nvPr/>
        </p:nvSpPr>
        <p:spPr>
          <a:xfrm>
            <a:off x="2300746" y="26658317"/>
            <a:ext cx="3995910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1" name="Text 286"/>
          <p:cNvSpPr/>
          <p:nvPr/>
        </p:nvSpPr>
        <p:spPr>
          <a:xfrm>
            <a:off x="2300746" y="26658317"/>
            <a:ext cx="407582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673" dirty="0"/>
          </a:p>
        </p:txBody>
      </p:sp>
      <p:sp>
        <p:nvSpPr>
          <p:cNvPr id="292" name="Text 287"/>
          <p:cNvSpPr/>
          <p:nvPr/>
        </p:nvSpPr>
        <p:spPr>
          <a:xfrm>
            <a:off x="539408" y="26880456"/>
            <a:ext cx="1761338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3" name="Text 288"/>
          <p:cNvSpPr/>
          <p:nvPr/>
        </p:nvSpPr>
        <p:spPr>
          <a:xfrm>
            <a:off x="539408" y="26880456"/>
            <a:ext cx="179656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673" dirty="0"/>
          </a:p>
        </p:txBody>
      </p:sp>
      <p:sp>
        <p:nvSpPr>
          <p:cNvPr id="294" name="Text 289"/>
          <p:cNvSpPr/>
          <p:nvPr/>
        </p:nvSpPr>
        <p:spPr>
          <a:xfrm>
            <a:off x="2300746" y="26880456"/>
            <a:ext cx="3995910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5" name="Text 290"/>
          <p:cNvSpPr/>
          <p:nvPr/>
        </p:nvSpPr>
        <p:spPr>
          <a:xfrm>
            <a:off x="2300746" y="26880456"/>
            <a:ext cx="407582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Vue、React、前端开发</a:t>
            </a:r>
            <a:endParaRPr lang="en-US" sz="673" dirty="0"/>
          </a:p>
        </p:txBody>
      </p:sp>
      <p:sp>
        <p:nvSpPr>
          <p:cNvPr id="296" name="Text 291"/>
          <p:cNvSpPr/>
          <p:nvPr/>
        </p:nvSpPr>
        <p:spPr>
          <a:xfrm>
            <a:off x="539408" y="27102595"/>
            <a:ext cx="1761338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7" name="Text 292"/>
          <p:cNvSpPr/>
          <p:nvPr/>
        </p:nvSpPr>
        <p:spPr>
          <a:xfrm>
            <a:off x="539408" y="27102595"/>
            <a:ext cx="179656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673" dirty="0"/>
          </a:p>
        </p:txBody>
      </p:sp>
      <p:sp>
        <p:nvSpPr>
          <p:cNvPr id="298" name="Text 293"/>
          <p:cNvSpPr/>
          <p:nvPr/>
        </p:nvSpPr>
        <p:spPr>
          <a:xfrm>
            <a:off x="2300746" y="27102595"/>
            <a:ext cx="3995910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9" name="Text 294"/>
          <p:cNvSpPr/>
          <p:nvPr/>
        </p:nvSpPr>
        <p:spPr>
          <a:xfrm>
            <a:off x="2300746" y="27102595"/>
            <a:ext cx="407582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673" dirty="0"/>
          </a:p>
        </p:txBody>
      </p:sp>
      <p:sp>
        <p:nvSpPr>
          <p:cNvPr id="300" name="Text 295"/>
          <p:cNvSpPr/>
          <p:nvPr/>
        </p:nvSpPr>
        <p:spPr>
          <a:xfrm>
            <a:off x="539408" y="27378140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673" dirty="0"/>
          </a:p>
        </p:txBody>
      </p:sp>
      <p:sp>
        <p:nvSpPr>
          <p:cNvPr id="301" name="Text 296"/>
          <p:cNvSpPr/>
          <p:nvPr/>
        </p:nvSpPr>
        <p:spPr>
          <a:xfrm>
            <a:off x="539408" y="27378140"/>
            <a:ext cx="291901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2" name="Text 297"/>
          <p:cNvSpPr/>
          <p:nvPr/>
        </p:nvSpPr>
        <p:spPr>
          <a:xfrm>
            <a:off x="536489" y="27378140"/>
            <a:ext cx="29773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547" dirty="0"/>
          </a:p>
        </p:txBody>
      </p:sp>
      <p:sp>
        <p:nvSpPr>
          <p:cNvPr id="303" name="Text 298"/>
          <p:cNvSpPr/>
          <p:nvPr/>
        </p:nvSpPr>
        <p:spPr>
          <a:xfrm>
            <a:off x="874035" y="27378140"/>
            <a:ext cx="230901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4" name="Text 299"/>
          <p:cNvSpPr/>
          <p:nvPr/>
        </p:nvSpPr>
        <p:spPr>
          <a:xfrm>
            <a:off x="871726" y="27378140"/>
            <a:ext cx="23551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547" dirty="0"/>
          </a:p>
        </p:txBody>
      </p:sp>
      <p:sp>
        <p:nvSpPr>
          <p:cNvPr id="305" name="Text 300"/>
          <p:cNvSpPr/>
          <p:nvPr/>
        </p:nvSpPr>
        <p:spPr>
          <a:xfrm>
            <a:off x="1147661" y="27378140"/>
            <a:ext cx="384529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6" name="Text 301"/>
          <p:cNvSpPr/>
          <p:nvPr/>
        </p:nvSpPr>
        <p:spPr>
          <a:xfrm>
            <a:off x="1143816" y="27378140"/>
            <a:ext cx="39221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547" dirty="0"/>
          </a:p>
        </p:txBody>
      </p:sp>
      <p:sp>
        <p:nvSpPr>
          <p:cNvPr id="307" name="Text 302"/>
          <p:cNvSpPr/>
          <p:nvPr/>
        </p:nvSpPr>
        <p:spPr>
          <a:xfrm>
            <a:off x="539408" y="27612045"/>
            <a:ext cx="5757249" cy="296908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8" name="Shape 303"/>
          <p:cNvSpPr/>
          <p:nvPr/>
        </p:nvSpPr>
        <p:spPr>
          <a:xfrm>
            <a:off x="550090" y="27612045"/>
            <a:ext cx="9144" cy="296908"/>
          </a:xfrm>
          <a:prstGeom prst="line">
            <a:avLst/>
          </a:prstGeom>
          <a:noFill/>
          <a:ln w="21363">
            <a:solidFill>
              <a:srgbClr val="28A745"/>
            </a:solidFill>
            <a:prstDash val="solid"/>
          </a:ln>
        </p:spPr>
      </p:sp>
      <p:sp>
        <p:nvSpPr>
          <p:cNvPr id="309" name="Text 304"/>
          <p:cNvSpPr/>
          <p:nvPr/>
        </p:nvSpPr>
        <p:spPr>
          <a:xfrm>
            <a:off x="539408" y="27612045"/>
            <a:ext cx="5872394" cy="296908"/>
          </a:xfrm>
          <a:prstGeom prst="rect">
            <a:avLst/>
          </a:prstGeom>
          <a:noFill/>
          <a:ln/>
        </p:spPr>
        <p:txBody>
          <a:bodyPr wrap="square" lIns="80110" tIns="80110" rIns="80110" bIns="8011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2026届校招，身份匹配；React技能匹配；可快速补充Vue知识。</a:t>
            </a:r>
            <a:endParaRPr lang="en-US" sz="673" dirty="0"/>
          </a:p>
        </p:txBody>
      </p:sp>
      <p:sp>
        <p:nvSpPr>
          <p:cNvPr id="310" name="Text 305"/>
          <p:cNvSpPr/>
          <p:nvPr/>
        </p:nvSpPr>
        <p:spPr>
          <a:xfrm>
            <a:off x="539408" y="27908953"/>
            <a:ext cx="5872394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重点准备React相关面试；简要了解Vue框架基础；展示学习能力。</a:t>
            </a:r>
            <a:endParaRPr lang="en-US" sz="673" dirty="0"/>
          </a:p>
        </p:txBody>
      </p:sp>
      <p:sp>
        <p:nvSpPr>
          <p:cNvPr id="311" name="Text 306"/>
          <p:cNvSpPr/>
          <p:nvPr/>
        </p:nvSpPr>
        <p:spPr>
          <a:xfrm>
            <a:off x="427254" y="28264609"/>
            <a:ext cx="5981557" cy="226311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2" name="Text 307"/>
          <p:cNvSpPr/>
          <p:nvPr/>
        </p:nvSpPr>
        <p:spPr>
          <a:xfrm>
            <a:off x="5942754" y="28376763"/>
            <a:ext cx="353903" cy="190095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3" name="Text 308"/>
          <p:cNvSpPr/>
          <p:nvPr/>
        </p:nvSpPr>
        <p:spPr>
          <a:xfrm>
            <a:off x="5939215" y="28376763"/>
            <a:ext cx="360981" cy="19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82分</a:t>
            </a:r>
            <a:endParaRPr lang="en-US" sz="673" dirty="0"/>
          </a:p>
        </p:txBody>
      </p:sp>
      <p:sp>
        <p:nvSpPr>
          <p:cNvPr id="314" name="Text 309"/>
          <p:cNvSpPr/>
          <p:nvPr/>
        </p:nvSpPr>
        <p:spPr>
          <a:xfrm>
            <a:off x="539408" y="28376763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第5名：杭州城市大脑 - 初级前端开发工程师(react方向)</a:t>
            </a:r>
            <a:endParaRPr lang="en-US" sz="757" dirty="0"/>
          </a:p>
        </p:txBody>
      </p:sp>
      <p:sp>
        <p:nvSpPr>
          <p:cNvPr id="315" name="Text 310"/>
          <p:cNvSpPr/>
          <p:nvPr/>
        </p:nvSpPr>
        <p:spPr>
          <a:xfrm>
            <a:off x="539408" y="28583965"/>
            <a:ext cx="5757249" cy="11106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6" name="Text 311"/>
          <p:cNvSpPr/>
          <p:nvPr/>
        </p:nvSpPr>
        <p:spPr>
          <a:xfrm>
            <a:off x="539408" y="28583965"/>
            <a:ext cx="2820211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7" name="Text 312"/>
          <p:cNvSpPr/>
          <p:nvPr/>
        </p:nvSpPr>
        <p:spPr>
          <a:xfrm>
            <a:off x="539408" y="28583965"/>
            <a:ext cx="287661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673" dirty="0"/>
          </a:p>
        </p:txBody>
      </p:sp>
      <p:sp>
        <p:nvSpPr>
          <p:cNvPr id="318" name="Text 313"/>
          <p:cNvSpPr/>
          <p:nvPr/>
        </p:nvSpPr>
        <p:spPr>
          <a:xfrm>
            <a:off x="3359619" y="28583965"/>
            <a:ext cx="2937038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9" name="Text 314"/>
          <p:cNvSpPr/>
          <p:nvPr/>
        </p:nvSpPr>
        <p:spPr>
          <a:xfrm>
            <a:off x="3359619" y="28583965"/>
            <a:ext cx="299577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673" dirty="0"/>
          </a:p>
        </p:txBody>
      </p:sp>
      <p:sp>
        <p:nvSpPr>
          <p:cNvPr id="320" name="Text 315"/>
          <p:cNvSpPr/>
          <p:nvPr/>
        </p:nvSpPr>
        <p:spPr>
          <a:xfrm>
            <a:off x="539408" y="28806103"/>
            <a:ext cx="2820211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1" name="Text 316"/>
          <p:cNvSpPr/>
          <p:nvPr/>
        </p:nvSpPr>
        <p:spPr>
          <a:xfrm>
            <a:off x="539408" y="28806103"/>
            <a:ext cx="287661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673" dirty="0"/>
          </a:p>
        </p:txBody>
      </p:sp>
      <p:sp>
        <p:nvSpPr>
          <p:cNvPr id="322" name="Text 317"/>
          <p:cNvSpPr/>
          <p:nvPr/>
        </p:nvSpPr>
        <p:spPr>
          <a:xfrm>
            <a:off x="3359619" y="28806103"/>
            <a:ext cx="2937038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3" name="Text 318"/>
          <p:cNvSpPr/>
          <p:nvPr/>
        </p:nvSpPr>
        <p:spPr>
          <a:xfrm>
            <a:off x="3359619" y="28806103"/>
            <a:ext cx="299577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1年以内</a:t>
            </a:r>
            <a:endParaRPr lang="en-US" sz="673" dirty="0"/>
          </a:p>
        </p:txBody>
      </p:sp>
      <p:sp>
        <p:nvSpPr>
          <p:cNvPr id="324" name="Text 319"/>
          <p:cNvSpPr/>
          <p:nvPr/>
        </p:nvSpPr>
        <p:spPr>
          <a:xfrm>
            <a:off x="539408" y="29028242"/>
            <a:ext cx="2820211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5" name="Text 320"/>
          <p:cNvSpPr/>
          <p:nvPr/>
        </p:nvSpPr>
        <p:spPr>
          <a:xfrm>
            <a:off x="539408" y="29028242"/>
            <a:ext cx="287661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673" dirty="0"/>
          </a:p>
        </p:txBody>
      </p:sp>
      <p:sp>
        <p:nvSpPr>
          <p:cNvPr id="326" name="Text 321"/>
          <p:cNvSpPr/>
          <p:nvPr/>
        </p:nvSpPr>
        <p:spPr>
          <a:xfrm>
            <a:off x="3359619" y="29028242"/>
            <a:ext cx="2937038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7" name="Text 322"/>
          <p:cNvSpPr/>
          <p:nvPr/>
        </p:nvSpPr>
        <p:spPr>
          <a:xfrm>
            <a:off x="3359619" y="29028242"/>
            <a:ext cx="299577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673" dirty="0"/>
          </a:p>
        </p:txBody>
      </p:sp>
      <p:sp>
        <p:nvSpPr>
          <p:cNvPr id="328" name="Text 323"/>
          <p:cNvSpPr/>
          <p:nvPr/>
        </p:nvSpPr>
        <p:spPr>
          <a:xfrm>
            <a:off x="539408" y="29250381"/>
            <a:ext cx="2820211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9" name="Text 324"/>
          <p:cNvSpPr/>
          <p:nvPr/>
        </p:nvSpPr>
        <p:spPr>
          <a:xfrm>
            <a:off x="539408" y="29250381"/>
            <a:ext cx="287661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673" dirty="0"/>
          </a:p>
        </p:txBody>
      </p:sp>
      <p:sp>
        <p:nvSpPr>
          <p:cNvPr id="330" name="Text 325"/>
          <p:cNvSpPr/>
          <p:nvPr/>
        </p:nvSpPr>
        <p:spPr>
          <a:xfrm>
            <a:off x="3359619" y="29250381"/>
            <a:ext cx="2937038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1" name="Text 326"/>
          <p:cNvSpPr/>
          <p:nvPr/>
        </p:nvSpPr>
        <p:spPr>
          <a:xfrm>
            <a:off x="3359619" y="29250381"/>
            <a:ext cx="299577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73" dirty="0"/>
          </a:p>
        </p:txBody>
      </p:sp>
      <p:sp>
        <p:nvSpPr>
          <p:cNvPr id="332" name="Text 327"/>
          <p:cNvSpPr/>
          <p:nvPr/>
        </p:nvSpPr>
        <p:spPr>
          <a:xfrm>
            <a:off x="539408" y="29472520"/>
            <a:ext cx="2820211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3" name="Text 328"/>
          <p:cNvSpPr/>
          <p:nvPr/>
        </p:nvSpPr>
        <p:spPr>
          <a:xfrm>
            <a:off x="539408" y="29472520"/>
            <a:ext cx="2876615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673" dirty="0"/>
          </a:p>
        </p:txBody>
      </p:sp>
      <p:sp>
        <p:nvSpPr>
          <p:cNvPr id="334" name="Text 329"/>
          <p:cNvSpPr/>
          <p:nvPr/>
        </p:nvSpPr>
        <p:spPr>
          <a:xfrm>
            <a:off x="3359619" y="29472520"/>
            <a:ext cx="2937038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5" name="Text 330"/>
          <p:cNvSpPr/>
          <p:nvPr/>
        </p:nvSpPr>
        <p:spPr>
          <a:xfrm>
            <a:off x="3359619" y="29472520"/>
            <a:ext cx="2995779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673" dirty="0"/>
          </a:p>
        </p:txBody>
      </p:sp>
      <p:sp>
        <p:nvSpPr>
          <p:cNvPr id="336" name="Text 331"/>
          <p:cNvSpPr/>
          <p:nvPr/>
        </p:nvSpPr>
        <p:spPr>
          <a:xfrm>
            <a:off x="539408" y="29748065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73" dirty="0"/>
          </a:p>
        </p:txBody>
      </p:sp>
      <p:sp>
        <p:nvSpPr>
          <p:cNvPr id="337" name="Text 332"/>
          <p:cNvSpPr/>
          <p:nvPr/>
        </p:nvSpPr>
        <p:spPr>
          <a:xfrm>
            <a:off x="539408" y="29748065"/>
            <a:ext cx="291901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8" name="Text 333"/>
          <p:cNvSpPr/>
          <p:nvPr/>
        </p:nvSpPr>
        <p:spPr>
          <a:xfrm>
            <a:off x="536489" y="29748065"/>
            <a:ext cx="29773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547" dirty="0"/>
          </a:p>
        </p:txBody>
      </p:sp>
      <p:sp>
        <p:nvSpPr>
          <p:cNvPr id="339" name="Text 334"/>
          <p:cNvSpPr/>
          <p:nvPr/>
        </p:nvSpPr>
        <p:spPr>
          <a:xfrm>
            <a:off x="539408" y="29981970"/>
            <a:ext cx="5757249" cy="296908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0" name="Shape 335"/>
          <p:cNvSpPr/>
          <p:nvPr/>
        </p:nvSpPr>
        <p:spPr>
          <a:xfrm>
            <a:off x="550090" y="29981970"/>
            <a:ext cx="9144" cy="296908"/>
          </a:xfrm>
          <a:prstGeom prst="line">
            <a:avLst/>
          </a:prstGeom>
          <a:noFill/>
          <a:ln w="21363">
            <a:solidFill>
              <a:srgbClr val="28A745"/>
            </a:solidFill>
            <a:prstDash val="solid"/>
          </a:ln>
        </p:spPr>
      </p:sp>
      <p:sp>
        <p:nvSpPr>
          <p:cNvPr id="341" name="Text 336"/>
          <p:cNvSpPr/>
          <p:nvPr/>
        </p:nvSpPr>
        <p:spPr>
          <a:xfrm>
            <a:off x="539408" y="29981970"/>
            <a:ext cx="5872394" cy="296908"/>
          </a:xfrm>
          <a:prstGeom prst="rect">
            <a:avLst/>
          </a:prstGeom>
          <a:noFill/>
          <a:ln/>
        </p:spPr>
        <p:txBody>
          <a:bodyPr wrap="square" lIns="80110" tIns="80110" rIns="80110" bIns="8011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1年以内岗位，应届生可尝试；React技能匹配；政府合作项目，稳定性好。</a:t>
            </a:r>
            <a:endParaRPr lang="en-US" sz="673" dirty="0"/>
          </a:p>
        </p:txBody>
      </p:sp>
      <p:sp>
        <p:nvSpPr>
          <p:cNvPr id="342" name="Text 337"/>
          <p:cNvSpPr/>
          <p:nvPr/>
        </p:nvSpPr>
        <p:spPr>
          <a:xfrm>
            <a:off x="539408" y="30278878"/>
            <a:ext cx="5872394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准备React项目和基础知识；展示实习经历和项目经验；了解政府项目特点。</a:t>
            </a:r>
            <a:endParaRPr lang="en-US" sz="673" dirty="0"/>
          </a:p>
        </p:txBody>
      </p:sp>
      <p:sp>
        <p:nvSpPr>
          <p:cNvPr id="343" name="Text 338"/>
          <p:cNvSpPr/>
          <p:nvPr/>
        </p:nvSpPr>
        <p:spPr>
          <a:xfrm>
            <a:off x="427254" y="30634534"/>
            <a:ext cx="5981557" cy="2263111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4" name="Text 339"/>
          <p:cNvSpPr/>
          <p:nvPr/>
        </p:nvSpPr>
        <p:spPr>
          <a:xfrm>
            <a:off x="5947009" y="30746688"/>
            <a:ext cx="349647" cy="190095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5" name="Text 340"/>
          <p:cNvSpPr/>
          <p:nvPr/>
        </p:nvSpPr>
        <p:spPr>
          <a:xfrm>
            <a:off x="5943513" y="30746688"/>
            <a:ext cx="356640" cy="19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78分</a:t>
            </a:r>
            <a:endParaRPr lang="en-US" sz="673" dirty="0"/>
          </a:p>
        </p:txBody>
      </p:sp>
      <p:sp>
        <p:nvSpPr>
          <p:cNvPr id="346" name="Text 341"/>
          <p:cNvSpPr/>
          <p:nvPr/>
        </p:nvSpPr>
        <p:spPr>
          <a:xfrm>
            <a:off x="539408" y="30746688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第6名：造物云 - 前端工程师(React)</a:t>
            </a:r>
            <a:endParaRPr lang="en-US" sz="757" dirty="0"/>
          </a:p>
        </p:txBody>
      </p:sp>
      <p:sp>
        <p:nvSpPr>
          <p:cNvPr id="347" name="Text 342"/>
          <p:cNvSpPr/>
          <p:nvPr/>
        </p:nvSpPr>
        <p:spPr>
          <a:xfrm>
            <a:off x="539408" y="30953890"/>
            <a:ext cx="5757249" cy="111069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8" name="Text 343"/>
          <p:cNvSpPr/>
          <p:nvPr/>
        </p:nvSpPr>
        <p:spPr>
          <a:xfrm>
            <a:off x="539408" y="30953890"/>
            <a:ext cx="155171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9" name="Text 344"/>
          <p:cNvSpPr/>
          <p:nvPr/>
        </p:nvSpPr>
        <p:spPr>
          <a:xfrm>
            <a:off x="539408" y="30953890"/>
            <a:ext cx="1582751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673" dirty="0"/>
          </a:p>
        </p:txBody>
      </p:sp>
      <p:sp>
        <p:nvSpPr>
          <p:cNvPr id="350" name="Text 345"/>
          <p:cNvSpPr/>
          <p:nvPr/>
        </p:nvSpPr>
        <p:spPr>
          <a:xfrm>
            <a:off x="2091125" y="30953890"/>
            <a:ext cx="420553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1" name="Text 346"/>
          <p:cNvSpPr/>
          <p:nvPr/>
        </p:nvSpPr>
        <p:spPr>
          <a:xfrm>
            <a:off x="2091125" y="30953890"/>
            <a:ext cx="428964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673" dirty="0"/>
          </a:p>
        </p:txBody>
      </p:sp>
      <p:sp>
        <p:nvSpPr>
          <p:cNvPr id="352" name="Text 347"/>
          <p:cNvSpPr/>
          <p:nvPr/>
        </p:nvSpPr>
        <p:spPr>
          <a:xfrm>
            <a:off x="539408" y="31176028"/>
            <a:ext cx="155171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3" name="Text 348"/>
          <p:cNvSpPr/>
          <p:nvPr/>
        </p:nvSpPr>
        <p:spPr>
          <a:xfrm>
            <a:off x="539408" y="31176028"/>
            <a:ext cx="1582751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673" dirty="0"/>
          </a:p>
        </p:txBody>
      </p:sp>
      <p:sp>
        <p:nvSpPr>
          <p:cNvPr id="354" name="Text 349"/>
          <p:cNvSpPr/>
          <p:nvPr/>
        </p:nvSpPr>
        <p:spPr>
          <a:xfrm>
            <a:off x="2091125" y="31176028"/>
            <a:ext cx="4205532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5" name="Text 350"/>
          <p:cNvSpPr/>
          <p:nvPr/>
        </p:nvSpPr>
        <p:spPr>
          <a:xfrm>
            <a:off x="2091125" y="31176028"/>
            <a:ext cx="428964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</a:t>
            </a:r>
            <a:endParaRPr lang="en-US" sz="673" dirty="0"/>
          </a:p>
        </p:txBody>
      </p:sp>
      <p:sp>
        <p:nvSpPr>
          <p:cNvPr id="356" name="Text 351"/>
          <p:cNvSpPr/>
          <p:nvPr/>
        </p:nvSpPr>
        <p:spPr>
          <a:xfrm>
            <a:off x="539408" y="31398167"/>
            <a:ext cx="155171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7" name="Text 352"/>
          <p:cNvSpPr/>
          <p:nvPr/>
        </p:nvSpPr>
        <p:spPr>
          <a:xfrm>
            <a:off x="539408" y="31398167"/>
            <a:ext cx="1582751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673" dirty="0"/>
          </a:p>
        </p:txBody>
      </p:sp>
      <p:sp>
        <p:nvSpPr>
          <p:cNvPr id="358" name="Text 353"/>
          <p:cNvSpPr/>
          <p:nvPr/>
        </p:nvSpPr>
        <p:spPr>
          <a:xfrm>
            <a:off x="2091125" y="31398167"/>
            <a:ext cx="420553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9" name="Text 354"/>
          <p:cNvSpPr/>
          <p:nvPr/>
        </p:nvSpPr>
        <p:spPr>
          <a:xfrm>
            <a:off x="2091125" y="31398167"/>
            <a:ext cx="428964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学历不限</a:t>
            </a:r>
            <a:endParaRPr lang="en-US" sz="673" dirty="0"/>
          </a:p>
        </p:txBody>
      </p:sp>
      <p:sp>
        <p:nvSpPr>
          <p:cNvPr id="360" name="Text 355"/>
          <p:cNvSpPr/>
          <p:nvPr/>
        </p:nvSpPr>
        <p:spPr>
          <a:xfrm>
            <a:off x="539408" y="31620306"/>
            <a:ext cx="1551717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1" name="Text 356"/>
          <p:cNvSpPr/>
          <p:nvPr/>
        </p:nvSpPr>
        <p:spPr>
          <a:xfrm>
            <a:off x="539408" y="31620306"/>
            <a:ext cx="1582751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673" dirty="0"/>
          </a:p>
        </p:txBody>
      </p:sp>
      <p:sp>
        <p:nvSpPr>
          <p:cNvPr id="362" name="Text 357"/>
          <p:cNvSpPr/>
          <p:nvPr/>
        </p:nvSpPr>
        <p:spPr>
          <a:xfrm>
            <a:off x="2091125" y="31620306"/>
            <a:ext cx="4205532" cy="222139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3" name="Text 358"/>
          <p:cNvSpPr/>
          <p:nvPr/>
        </p:nvSpPr>
        <p:spPr>
          <a:xfrm>
            <a:off x="2091125" y="31620306"/>
            <a:ext cx="428964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JavaScript、React、Python</a:t>
            </a:r>
            <a:endParaRPr lang="en-US" sz="673" dirty="0"/>
          </a:p>
        </p:txBody>
      </p:sp>
      <p:sp>
        <p:nvSpPr>
          <p:cNvPr id="364" name="Text 359"/>
          <p:cNvSpPr/>
          <p:nvPr/>
        </p:nvSpPr>
        <p:spPr>
          <a:xfrm>
            <a:off x="539408" y="31842445"/>
            <a:ext cx="1551717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5" name="Text 360"/>
          <p:cNvSpPr/>
          <p:nvPr/>
        </p:nvSpPr>
        <p:spPr>
          <a:xfrm>
            <a:off x="539408" y="31842445"/>
            <a:ext cx="1582751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673" dirty="0"/>
          </a:p>
        </p:txBody>
      </p:sp>
      <p:sp>
        <p:nvSpPr>
          <p:cNvPr id="366" name="Text 361"/>
          <p:cNvSpPr/>
          <p:nvPr/>
        </p:nvSpPr>
        <p:spPr>
          <a:xfrm>
            <a:off x="2091125" y="31842445"/>
            <a:ext cx="4205532" cy="222139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7" name="Text 362"/>
          <p:cNvSpPr/>
          <p:nvPr/>
        </p:nvSpPr>
        <p:spPr>
          <a:xfrm>
            <a:off x="2091125" y="31842445"/>
            <a:ext cx="4289643" cy="222139"/>
          </a:xfrm>
          <a:prstGeom prst="rect">
            <a:avLst/>
          </a:prstGeom>
          <a:noFill/>
          <a:ln/>
        </p:spPr>
        <p:txBody>
          <a:bodyPr wrap="square" lIns="42725" tIns="42725" rIns="42725" bIns="42725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673" dirty="0"/>
          </a:p>
        </p:txBody>
      </p:sp>
      <p:sp>
        <p:nvSpPr>
          <p:cNvPr id="368" name="Text 363"/>
          <p:cNvSpPr/>
          <p:nvPr/>
        </p:nvSpPr>
        <p:spPr>
          <a:xfrm>
            <a:off x="539408" y="32117990"/>
            <a:ext cx="587239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077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673" dirty="0"/>
          </a:p>
        </p:txBody>
      </p:sp>
      <p:sp>
        <p:nvSpPr>
          <p:cNvPr id="369" name="Text 364"/>
          <p:cNvSpPr/>
          <p:nvPr/>
        </p:nvSpPr>
        <p:spPr>
          <a:xfrm>
            <a:off x="539408" y="32117990"/>
            <a:ext cx="291901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0" name="Text 365"/>
          <p:cNvSpPr/>
          <p:nvPr/>
        </p:nvSpPr>
        <p:spPr>
          <a:xfrm>
            <a:off x="536489" y="32117990"/>
            <a:ext cx="29773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547" dirty="0"/>
          </a:p>
        </p:txBody>
      </p:sp>
      <p:sp>
        <p:nvSpPr>
          <p:cNvPr id="371" name="Text 366"/>
          <p:cNvSpPr/>
          <p:nvPr/>
        </p:nvSpPr>
        <p:spPr>
          <a:xfrm>
            <a:off x="874035" y="32117990"/>
            <a:ext cx="445946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2" name="Text 367"/>
          <p:cNvSpPr/>
          <p:nvPr/>
        </p:nvSpPr>
        <p:spPr>
          <a:xfrm>
            <a:off x="869576" y="32117990"/>
            <a:ext cx="454865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547" dirty="0"/>
          </a:p>
        </p:txBody>
      </p:sp>
      <p:sp>
        <p:nvSpPr>
          <p:cNvPr id="373" name="Text 368"/>
          <p:cNvSpPr/>
          <p:nvPr/>
        </p:nvSpPr>
        <p:spPr>
          <a:xfrm>
            <a:off x="1362707" y="32117990"/>
            <a:ext cx="335211" cy="153795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4" name="Text 369"/>
          <p:cNvSpPr/>
          <p:nvPr/>
        </p:nvSpPr>
        <p:spPr>
          <a:xfrm>
            <a:off x="1359355" y="32117990"/>
            <a:ext cx="341915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75"/>
              </a:lnSpc>
              <a:buNone/>
            </a:pPr>
            <a:r>
              <a:rPr lang="en-US" sz="547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547" dirty="0"/>
          </a:p>
        </p:txBody>
      </p:sp>
      <p:sp>
        <p:nvSpPr>
          <p:cNvPr id="375" name="Text 370"/>
          <p:cNvSpPr/>
          <p:nvPr/>
        </p:nvSpPr>
        <p:spPr>
          <a:xfrm>
            <a:off x="539408" y="32351895"/>
            <a:ext cx="5757249" cy="296908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6" name="Shape 371"/>
          <p:cNvSpPr/>
          <p:nvPr/>
        </p:nvSpPr>
        <p:spPr>
          <a:xfrm>
            <a:off x="550090" y="32351895"/>
            <a:ext cx="9144" cy="296908"/>
          </a:xfrm>
          <a:prstGeom prst="line">
            <a:avLst/>
          </a:prstGeom>
          <a:noFill/>
          <a:ln w="21363">
            <a:solidFill>
              <a:srgbClr val="28A745"/>
            </a:solidFill>
            <a:prstDash val="solid"/>
          </a:ln>
        </p:spPr>
      </p:sp>
      <p:sp>
        <p:nvSpPr>
          <p:cNvPr id="377" name="Text 372"/>
          <p:cNvSpPr/>
          <p:nvPr/>
        </p:nvSpPr>
        <p:spPr>
          <a:xfrm>
            <a:off x="539408" y="32351895"/>
            <a:ext cx="5872394" cy="296908"/>
          </a:xfrm>
          <a:prstGeom prst="rect">
            <a:avLst/>
          </a:prstGeom>
          <a:noFill/>
          <a:ln/>
        </p:spPr>
        <p:txBody>
          <a:bodyPr wrap="square" lIns="80110" tIns="80110" rIns="80110" bIns="8011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经验不限，学历不限；React技能匹配；Python技能可加分。</a:t>
            </a:r>
            <a:endParaRPr lang="en-US" sz="673" dirty="0"/>
          </a:p>
        </p:txBody>
      </p:sp>
      <p:sp>
        <p:nvSpPr>
          <p:cNvPr id="378" name="Text 373"/>
          <p:cNvSpPr/>
          <p:nvPr/>
        </p:nvSpPr>
        <p:spPr>
          <a:xfrm>
            <a:off x="539408" y="32648803"/>
            <a:ext cx="5872394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重点展示Python数据处理能力；准备React项目展示；了解公司产品和技术栈。</a:t>
            </a:r>
            <a:endParaRPr lang="en-US" sz="673" dirty="0"/>
          </a:p>
        </p:txBody>
      </p:sp>
      <p:sp>
        <p:nvSpPr>
          <p:cNvPr id="379" name="Text 374"/>
          <p:cNvSpPr/>
          <p:nvPr/>
        </p:nvSpPr>
        <p:spPr>
          <a:xfrm>
            <a:off x="427254" y="33057866"/>
            <a:ext cx="5981557" cy="3532273"/>
          </a:xfrm>
          <a:prstGeom prst="roundRect">
            <a:avLst>
              <a:gd name="adj" fmla="val 121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0" name="Text 375"/>
          <p:cNvSpPr/>
          <p:nvPr/>
        </p:nvSpPr>
        <p:spPr>
          <a:xfrm>
            <a:off x="476388" y="33324899"/>
            <a:ext cx="5883289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spcBef>
                <a:spcPts val="1262"/>
              </a:spcBef>
              <a:spcAft>
                <a:spcPts val="631"/>
              </a:spcAft>
              <a:buNone/>
            </a:pPr>
            <a:r>
              <a:rPr lang="en-US" sz="75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岗位匹配度排名</a:t>
            </a:r>
            <a:endParaRPr lang="en-US" sz="757" dirty="0"/>
          </a:p>
        </p:txBody>
      </p:sp>
      <p:pic>
        <p:nvPicPr>
          <p:cNvPr id="381" name="Image 3" descr="/Users/double/vsproject/deepagents/scripts/codex/charts/match_rank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68" y="33558804"/>
            <a:ext cx="5767930" cy="2883965"/>
          </a:xfrm>
          <a:prstGeom prst="rect">
            <a:avLst/>
          </a:prstGeom>
        </p:spPr>
      </p:pic>
      <p:sp>
        <p:nvSpPr>
          <p:cNvPr id="382" name="Text 376"/>
          <p:cNvSpPr/>
          <p:nvPr/>
        </p:nvSpPr>
        <p:spPr>
          <a:xfrm>
            <a:off x="427254" y="36803766"/>
            <a:ext cx="6101188" cy="187925"/>
          </a:xfrm>
          <a:prstGeom prst="rect">
            <a:avLst/>
          </a:prstGeom>
          <a:noFill/>
          <a:ln/>
        </p:spPr>
        <p:txBody>
          <a:bodyPr wrap="square" lIns="80110" tIns="0" rIns="0" bIns="0" rtlCol="0" anchor="t"/>
          <a:lstStyle/>
          <a:p>
            <a:pPr algn="l" indent="0" marL="0">
              <a:lnSpc>
                <a:spcPts val="1480"/>
              </a:lnSpc>
              <a:spcBef>
                <a:spcPts val="1682"/>
              </a:spcBef>
              <a:spcAft>
                <a:spcPts val="841"/>
              </a:spcAft>
              <a:buNone/>
            </a:pPr>
            <a:r>
              <a:rPr lang="en-US" sz="925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四、技能要求分析</a:t>
            </a:r>
            <a:endParaRPr lang="en-US" sz="925" dirty="0"/>
          </a:p>
        </p:txBody>
      </p:sp>
      <p:sp>
        <p:nvSpPr>
          <p:cNvPr id="383" name="Text 377"/>
          <p:cNvSpPr/>
          <p:nvPr/>
        </p:nvSpPr>
        <p:spPr>
          <a:xfrm>
            <a:off x="427254" y="37098504"/>
            <a:ext cx="5981557" cy="24945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6022" dist="5341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4" name="Text 378"/>
          <p:cNvSpPr/>
          <p:nvPr/>
        </p:nvSpPr>
        <p:spPr>
          <a:xfrm>
            <a:off x="427254" y="37098504"/>
            <a:ext cx="1673634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5" name="Text 379"/>
          <p:cNvSpPr/>
          <p:nvPr/>
        </p:nvSpPr>
        <p:spPr>
          <a:xfrm>
            <a:off x="427254" y="37098504"/>
            <a:ext cx="1707107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</a:t>
            </a:r>
            <a:endParaRPr lang="en-US" sz="673" dirty="0"/>
          </a:p>
        </p:txBody>
      </p:sp>
      <p:sp>
        <p:nvSpPr>
          <p:cNvPr id="386" name="Text 380"/>
          <p:cNvSpPr/>
          <p:nvPr/>
        </p:nvSpPr>
        <p:spPr>
          <a:xfrm>
            <a:off x="2100888" y="37098504"/>
            <a:ext cx="1502733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7" name="Text 381"/>
          <p:cNvSpPr/>
          <p:nvPr/>
        </p:nvSpPr>
        <p:spPr>
          <a:xfrm>
            <a:off x="2100888" y="37098504"/>
            <a:ext cx="1532787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要求岗位数</a:t>
            </a:r>
            <a:endParaRPr lang="en-US" sz="673" dirty="0"/>
          </a:p>
        </p:txBody>
      </p:sp>
      <p:sp>
        <p:nvSpPr>
          <p:cNvPr id="388" name="Text 382"/>
          <p:cNvSpPr/>
          <p:nvPr/>
        </p:nvSpPr>
        <p:spPr>
          <a:xfrm>
            <a:off x="3603621" y="37098504"/>
            <a:ext cx="839821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9" name="Text 383"/>
          <p:cNvSpPr/>
          <p:nvPr/>
        </p:nvSpPr>
        <p:spPr>
          <a:xfrm>
            <a:off x="3603621" y="37098504"/>
            <a:ext cx="856618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673" dirty="0"/>
          </a:p>
        </p:txBody>
      </p:sp>
      <p:sp>
        <p:nvSpPr>
          <p:cNvPr id="390" name="Text 384"/>
          <p:cNvSpPr/>
          <p:nvPr/>
        </p:nvSpPr>
        <p:spPr>
          <a:xfrm>
            <a:off x="4443442" y="37098504"/>
            <a:ext cx="1965369" cy="264864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1" name="Text 385"/>
          <p:cNvSpPr/>
          <p:nvPr/>
        </p:nvSpPr>
        <p:spPr>
          <a:xfrm>
            <a:off x="4443442" y="37098504"/>
            <a:ext cx="2004676" cy="264864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候选人掌握情况</a:t>
            </a:r>
            <a:endParaRPr lang="en-US" sz="673" dirty="0"/>
          </a:p>
        </p:txBody>
      </p:sp>
      <p:sp>
        <p:nvSpPr>
          <p:cNvPr id="392" name="Text 386"/>
          <p:cNvSpPr/>
          <p:nvPr/>
        </p:nvSpPr>
        <p:spPr>
          <a:xfrm>
            <a:off x="427254" y="37363368"/>
            <a:ext cx="1673634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3" name="Shape 387"/>
          <p:cNvSpPr/>
          <p:nvPr/>
        </p:nvSpPr>
        <p:spPr>
          <a:xfrm>
            <a:off x="427254" y="37636744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394" name="Text 388"/>
          <p:cNvSpPr/>
          <p:nvPr/>
        </p:nvSpPr>
        <p:spPr>
          <a:xfrm>
            <a:off x="427254" y="37363368"/>
            <a:ext cx="1707107" cy="276046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673" dirty="0"/>
          </a:p>
        </p:txBody>
      </p:sp>
      <p:sp>
        <p:nvSpPr>
          <p:cNvPr id="395" name="Text 389"/>
          <p:cNvSpPr/>
          <p:nvPr/>
        </p:nvSpPr>
        <p:spPr>
          <a:xfrm>
            <a:off x="2100888" y="37363368"/>
            <a:ext cx="1502733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6" name="Shape 390"/>
          <p:cNvSpPr/>
          <p:nvPr/>
        </p:nvSpPr>
        <p:spPr>
          <a:xfrm>
            <a:off x="2100888" y="37636744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397" name="Text 391"/>
          <p:cNvSpPr/>
          <p:nvPr/>
        </p:nvSpPr>
        <p:spPr>
          <a:xfrm>
            <a:off x="2100888" y="37363368"/>
            <a:ext cx="1532787" cy="276046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673" dirty="0"/>
          </a:p>
        </p:txBody>
      </p:sp>
      <p:sp>
        <p:nvSpPr>
          <p:cNvPr id="398" name="Text 392"/>
          <p:cNvSpPr/>
          <p:nvPr/>
        </p:nvSpPr>
        <p:spPr>
          <a:xfrm>
            <a:off x="3603621" y="37363368"/>
            <a:ext cx="839821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9" name="Shape 393"/>
          <p:cNvSpPr/>
          <p:nvPr/>
        </p:nvSpPr>
        <p:spPr>
          <a:xfrm>
            <a:off x="3603621" y="37636744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00" name="Text 394"/>
          <p:cNvSpPr/>
          <p:nvPr/>
        </p:nvSpPr>
        <p:spPr>
          <a:xfrm>
            <a:off x="3603621" y="37363368"/>
            <a:ext cx="856618" cy="276046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73" dirty="0"/>
          </a:p>
        </p:txBody>
      </p:sp>
      <p:sp>
        <p:nvSpPr>
          <p:cNvPr id="401" name="Text 395"/>
          <p:cNvSpPr/>
          <p:nvPr/>
        </p:nvSpPr>
        <p:spPr>
          <a:xfrm>
            <a:off x="4443442" y="37363368"/>
            <a:ext cx="1965369" cy="27604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2" name="Shape 396"/>
          <p:cNvSpPr/>
          <p:nvPr/>
        </p:nvSpPr>
        <p:spPr>
          <a:xfrm>
            <a:off x="4443442" y="37636744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03" name="Text 397"/>
          <p:cNvSpPr/>
          <p:nvPr/>
        </p:nvSpPr>
        <p:spPr>
          <a:xfrm>
            <a:off x="4507530" y="37427456"/>
            <a:ext cx="353486" cy="145200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4" name="Text 398"/>
          <p:cNvSpPr/>
          <p:nvPr/>
        </p:nvSpPr>
        <p:spPr>
          <a:xfrm>
            <a:off x="4503996" y="37427456"/>
            <a:ext cx="36055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基础</a:t>
            </a:r>
            <a:endParaRPr lang="en-US" sz="505" dirty="0"/>
          </a:p>
        </p:txBody>
      </p:sp>
      <p:sp>
        <p:nvSpPr>
          <p:cNvPr id="405" name="Text 399"/>
          <p:cNvSpPr/>
          <p:nvPr/>
        </p:nvSpPr>
        <p:spPr>
          <a:xfrm>
            <a:off x="427254" y="37639414"/>
            <a:ext cx="1673634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6" name="Shape 400"/>
          <p:cNvSpPr/>
          <p:nvPr/>
        </p:nvSpPr>
        <p:spPr>
          <a:xfrm>
            <a:off x="427254" y="37915461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07" name="Text 401"/>
          <p:cNvSpPr/>
          <p:nvPr/>
        </p:nvSpPr>
        <p:spPr>
          <a:xfrm>
            <a:off x="427254" y="37639414"/>
            <a:ext cx="170710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673" dirty="0"/>
          </a:p>
        </p:txBody>
      </p:sp>
      <p:sp>
        <p:nvSpPr>
          <p:cNvPr id="408" name="Text 402"/>
          <p:cNvSpPr/>
          <p:nvPr/>
        </p:nvSpPr>
        <p:spPr>
          <a:xfrm>
            <a:off x="2100888" y="37639414"/>
            <a:ext cx="1502733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9" name="Shape 403"/>
          <p:cNvSpPr/>
          <p:nvPr/>
        </p:nvSpPr>
        <p:spPr>
          <a:xfrm>
            <a:off x="2100888" y="37915461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10" name="Text 404"/>
          <p:cNvSpPr/>
          <p:nvPr/>
        </p:nvSpPr>
        <p:spPr>
          <a:xfrm>
            <a:off x="2100888" y="37639414"/>
            <a:ext cx="15327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73" dirty="0"/>
          </a:p>
        </p:txBody>
      </p:sp>
      <p:sp>
        <p:nvSpPr>
          <p:cNvPr id="411" name="Text 405"/>
          <p:cNvSpPr/>
          <p:nvPr/>
        </p:nvSpPr>
        <p:spPr>
          <a:xfrm>
            <a:off x="3603621" y="37639414"/>
            <a:ext cx="839821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2" name="Shape 406"/>
          <p:cNvSpPr/>
          <p:nvPr/>
        </p:nvSpPr>
        <p:spPr>
          <a:xfrm>
            <a:off x="3603621" y="37915461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13" name="Text 407"/>
          <p:cNvSpPr/>
          <p:nvPr/>
        </p:nvSpPr>
        <p:spPr>
          <a:xfrm>
            <a:off x="3603621" y="37639414"/>
            <a:ext cx="85661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73" dirty="0"/>
          </a:p>
        </p:txBody>
      </p:sp>
      <p:sp>
        <p:nvSpPr>
          <p:cNvPr id="414" name="Text 408"/>
          <p:cNvSpPr/>
          <p:nvPr/>
        </p:nvSpPr>
        <p:spPr>
          <a:xfrm>
            <a:off x="4443442" y="37639414"/>
            <a:ext cx="1965369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5" name="Shape 409"/>
          <p:cNvSpPr/>
          <p:nvPr/>
        </p:nvSpPr>
        <p:spPr>
          <a:xfrm>
            <a:off x="4443442" y="37915461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16" name="Text 410"/>
          <p:cNvSpPr/>
          <p:nvPr/>
        </p:nvSpPr>
        <p:spPr>
          <a:xfrm>
            <a:off x="4507530" y="37706173"/>
            <a:ext cx="353486" cy="145200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7" name="Text 411"/>
          <p:cNvSpPr/>
          <p:nvPr/>
        </p:nvSpPr>
        <p:spPr>
          <a:xfrm>
            <a:off x="4503996" y="37706173"/>
            <a:ext cx="36055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掌握</a:t>
            </a:r>
            <a:endParaRPr lang="en-US" sz="505" dirty="0"/>
          </a:p>
        </p:txBody>
      </p:sp>
      <p:sp>
        <p:nvSpPr>
          <p:cNvPr id="418" name="Text 412"/>
          <p:cNvSpPr/>
          <p:nvPr/>
        </p:nvSpPr>
        <p:spPr>
          <a:xfrm>
            <a:off x="427254" y="37918131"/>
            <a:ext cx="1673634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9" name="Shape 413"/>
          <p:cNvSpPr/>
          <p:nvPr/>
        </p:nvSpPr>
        <p:spPr>
          <a:xfrm>
            <a:off x="427254" y="38194177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20" name="Text 414"/>
          <p:cNvSpPr/>
          <p:nvPr/>
        </p:nvSpPr>
        <p:spPr>
          <a:xfrm>
            <a:off x="427254" y="37918131"/>
            <a:ext cx="170710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</a:t>
            </a:r>
            <a:endParaRPr lang="en-US" sz="673" dirty="0"/>
          </a:p>
        </p:txBody>
      </p:sp>
      <p:sp>
        <p:nvSpPr>
          <p:cNvPr id="421" name="Text 415"/>
          <p:cNvSpPr/>
          <p:nvPr/>
        </p:nvSpPr>
        <p:spPr>
          <a:xfrm>
            <a:off x="2100888" y="37918131"/>
            <a:ext cx="1502733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2" name="Shape 416"/>
          <p:cNvSpPr/>
          <p:nvPr/>
        </p:nvSpPr>
        <p:spPr>
          <a:xfrm>
            <a:off x="2100888" y="38194177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23" name="Text 417"/>
          <p:cNvSpPr/>
          <p:nvPr/>
        </p:nvSpPr>
        <p:spPr>
          <a:xfrm>
            <a:off x="2100888" y="37918131"/>
            <a:ext cx="15327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73" dirty="0"/>
          </a:p>
        </p:txBody>
      </p:sp>
      <p:sp>
        <p:nvSpPr>
          <p:cNvPr id="424" name="Text 418"/>
          <p:cNvSpPr/>
          <p:nvPr/>
        </p:nvSpPr>
        <p:spPr>
          <a:xfrm>
            <a:off x="3603621" y="37918131"/>
            <a:ext cx="839821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5" name="Shape 419"/>
          <p:cNvSpPr/>
          <p:nvPr/>
        </p:nvSpPr>
        <p:spPr>
          <a:xfrm>
            <a:off x="3603621" y="38194177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26" name="Text 420"/>
          <p:cNvSpPr/>
          <p:nvPr/>
        </p:nvSpPr>
        <p:spPr>
          <a:xfrm>
            <a:off x="3603621" y="37918131"/>
            <a:ext cx="85661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673" dirty="0"/>
          </a:p>
        </p:txBody>
      </p:sp>
      <p:sp>
        <p:nvSpPr>
          <p:cNvPr id="427" name="Text 421"/>
          <p:cNvSpPr/>
          <p:nvPr/>
        </p:nvSpPr>
        <p:spPr>
          <a:xfrm>
            <a:off x="4443442" y="37918131"/>
            <a:ext cx="1965369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8" name="Shape 422"/>
          <p:cNvSpPr/>
          <p:nvPr/>
        </p:nvSpPr>
        <p:spPr>
          <a:xfrm>
            <a:off x="4443442" y="38194177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29" name="Text 423"/>
          <p:cNvSpPr/>
          <p:nvPr/>
        </p:nvSpPr>
        <p:spPr>
          <a:xfrm>
            <a:off x="4507530" y="37984889"/>
            <a:ext cx="353486" cy="145200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0" name="Text 424"/>
          <p:cNvSpPr/>
          <p:nvPr/>
        </p:nvSpPr>
        <p:spPr>
          <a:xfrm>
            <a:off x="4503996" y="37984889"/>
            <a:ext cx="36055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掌握</a:t>
            </a:r>
            <a:endParaRPr lang="en-US" sz="505" dirty="0"/>
          </a:p>
        </p:txBody>
      </p:sp>
      <p:sp>
        <p:nvSpPr>
          <p:cNvPr id="431" name="Text 425"/>
          <p:cNvSpPr/>
          <p:nvPr/>
        </p:nvSpPr>
        <p:spPr>
          <a:xfrm>
            <a:off x="427254" y="38196847"/>
            <a:ext cx="1673634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2" name="Shape 426"/>
          <p:cNvSpPr/>
          <p:nvPr/>
        </p:nvSpPr>
        <p:spPr>
          <a:xfrm>
            <a:off x="427254" y="38472894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33" name="Text 427"/>
          <p:cNvSpPr/>
          <p:nvPr/>
        </p:nvSpPr>
        <p:spPr>
          <a:xfrm>
            <a:off x="427254" y="38196847"/>
            <a:ext cx="170710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673" dirty="0"/>
          </a:p>
        </p:txBody>
      </p:sp>
      <p:sp>
        <p:nvSpPr>
          <p:cNvPr id="434" name="Text 428"/>
          <p:cNvSpPr/>
          <p:nvPr/>
        </p:nvSpPr>
        <p:spPr>
          <a:xfrm>
            <a:off x="2100888" y="38196847"/>
            <a:ext cx="1502733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5" name="Shape 429"/>
          <p:cNvSpPr/>
          <p:nvPr/>
        </p:nvSpPr>
        <p:spPr>
          <a:xfrm>
            <a:off x="2100888" y="38472894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36" name="Text 430"/>
          <p:cNvSpPr/>
          <p:nvPr/>
        </p:nvSpPr>
        <p:spPr>
          <a:xfrm>
            <a:off x="2100888" y="38196847"/>
            <a:ext cx="15327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73" dirty="0"/>
          </a:p>
        </p:txBody>
      </p:sp>
      <p:sp>
        <p:nvSpPr>
          <p:cNvPr id="437" name="Text 431"/>
          <p:cNvSpPr/>
          <p:nvPr/>
        </p:nvSpPr>
        <p:spPr>
          <a:xfrm>
            <a:off x="3603621" y="38196847"/>
            <a:ext cx="839821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8" name="Shape 432"/>
          <p:cNvSpPr/>
          <p:nvPr/>
        </p:nvSpPr>
        <p:spPr>
          <a:xfrm>
            <a:off x="3603621" y="38472894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39" name="Text 433"/>
          <p:cNvSpPr/>
          <p:nvPr/>
        </p:nvSpPr>
        <p:spPr>
          <a:xfrm>
            <a:off x="3603621" y="38196847"/>
            <a:ext cx="85661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673" dirty="0"/>
          </a:p>
        </p:txBody>
      </p:sp>
      <p:sp>
        <p:nvSpPr>
          <p:cNvPr id="440" name="Text 434"/>
          <p:cNvSpPr/>
          <p:nvPr/>
        </p:nvSpPr>
        <p:spPr>
          <a:xfrm>
            <a:off x="4443442" y="38196847"/>
            <a:ext cx="1965369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1" name="Shape 435"/>
          <p:cNvSpPr/>
          <p:nvPr/>
        </p:nvSpPr>
        <p:spPr>
          <a:xfrm>
            <a:off x="4443442" y="38472894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42" name="Text 436"/>
          <p:cNvSpPr/>
          <p:nvPr/>
        </p:nvSpPr>
        <p:spPr>
          <a:xfrm>
            <a:off x="4507530" y="38263606"/>
            <a:ext cx="481662" cy="145200"/>
          </a:xfrm>
          <a:prstGeom prst="roundRect">
            <a:avLst>
              <a:gd name="adj" fmla="val 4413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3" name="Text 437"/>
          <p:cNvSpPr/>
          <p:nvPr/>
        </p:nvSpPr>
        <p:spPr>
          <a:xfrm>
            <a:off x="4502714" y="38263606"/>
            <a:ext cx="491295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了解基础</a:t>
            </a:r>
            <a:endParaRPr lang="en-US" sz="505" dirty="0"/>
          </a:p>
        </p:txBody>
      </p:sp>
      <p:sp>
        <p:nvSpPr>
          <p:cNvPr id="444" name="Text 438"/>
          <p:cNvSpPr/>
          <p:nvPr/>
        </p:nvSpPr>
        <p:spPr>
          <a:xfrm>
            <a:off x="427254" y="38475564"/>
            <a:ext cx="1673634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5" name="Shape 439"/>
          <p:cNvSpPr/>
          <p:nvPr/>
        </p:nvSpPr>
        <p:spPr>
          <a:xfrm>
            <a:off x="427254" y="38751610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46" name="Text 440"/>
          <p:cNvSpPr/>
          <p:nvPr/>
        </p:nvSpPr>
        <p:spPr>
          <a:xfrm>
            <a:off x="427254" y="38475564"/>
            <a:ext cx="170710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673" dirty="0"/>
          </a:p>
        </p:txBody>
      </p:sp>
      <p:sp>
        <p:nvSpPr>
          <p:cNvPr id="447" name="Text 441"/>
          <p:cNvSpPr/>
          <p:nvPr/>
        </p:nvSpPr>
        <p:spPr>
          <a:xfrm>
            <a:off x="2100888" y="38475564"/>
            <a:ext cx="1502733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8" name="Shape 442"/>
          <p:cNvSpPr/>
          <p:nvPr/>
        </p:nvSpPr>
        <p:spPr>
          <a:xfrm>
            <a:off x="2100888" y="38751610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49" name="Text 443"/>
          <p:cNvSpPr/>
          <p:nvPr/>
        </p:nvSpPr>
        <p:spPr>
          <a:xfrm>
            <a:off x="2100888" y="38475564"/>
            <a:ext cx="15327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73" dirty="0"/>
          </a:p>
        </p:txBody>
      </p:sp>
      <p:sp>
        <p:nvSpPr>
          <p:cNvPr id="450" name="Text 444"/>
          <p:cNvSpPr/>
          <p:nvPr/>
        </p:nvSpPr>
        <p:spPr>
          <a:xfrm>
            <a:off x="3603621" y="38475564"/>
            <a:ext cx="839821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1" name="Shape 445"/>
          <p:cNvSpPr/>
          <p:nvPr/>
        </p:nvSpPr>
        <p:spPr>
          <a:xfrm>
            <a:off x="3603621" y="38751610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52" name="Text 446"/>
          <p:cNvSpPr/>
          <p:nvPr/>
        </p:nvSpPr>
        <p:spPr>
          <a:xfrm>
            <a:off x="3603621" y="38475564"/>
            <a:ext cx="85661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673" dirty="0"/>
          </a:p>
        </p:txBody>
      </p:sp>
      <p:sp>
        <p:nvSpPr>
          <p:cNvPr id="453" name="Text 447"/>
          <p:cNvSpPr/>
          <p:nvPr/>
        </p:nvSpPr>
        <p:spPr>
          <a:xfrm>
            <a:off x="4443442" y="38475564"/>
            <a:ext cx="1965369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4" name="Shape 448"/>
          <p:cNvSpPr/>
          <p:nvPr/>
        </p:nvSpPr>
        <p:spPr>
          <a:xfrm>
            <a:off x="4443442" y="38751610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55" name="Text 449"/>
          <p:cNvSpPr/>
          <p:nvPr/>
        </p:nvSpPr>
        <p:spPr>
          <a:xfrm>
            <a:off x="4507530" y="38542322"/>
            <a:ext cx="417574" cy="145200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6" name="Text 450"/>
          <p:cNvSpPr/>
          <p:nvPr/>
        </p:nvSpPr>
        <p:spPr>
          <a:xfrm>
            <a:off x="4503355" y="38542322"/>
            <a:ext cx="42592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未掌握</a:t>
            </a:r>
            <a:endParaRPr lang="en-US" sz="505" dirty="0"/>
          </a:p>
        </p:txBody>
      </p:sp>
      <p:sp>
        <p:nvSpPr>
          <p:cNvPr id="457" name="Text 451"/>
          <p:cNvSpPr/>
          <p:nvPr/>
        </p:nvSpPr>
        <p:spPr>
          <a:xfrm>
            <a:off x="427254" y="38754280"/>
            <a:ext cx="1673634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8" name="Shape 452"/>
          <p:cNvSpPr/>
          <p:nvPr/>
        </p:nvSpPr>
        <p:spPr>
          <a:xfrm>
            <a:off x="427254" y="39030327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59" name="Text 453"/>
          <p:cNvSpPr/>
          <p:nvPr/>
        </p:nvSpPr>
        <p:spPr>
          <a:xfrm>
            <a:off x="427254" y="38754280"/>
            <a:ext cx="170710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673" dirty="0"/>
          </a:p>
        </p:txBody>
      </p:sp>
      <p:sp>
        <p:nvSpPr>
          <p:cNvPr id="460" name="Text 454"/>
          <p:cNvSpPr/>
          <p:nvPr/>
        </p:nvSpPr>
        <p:spPr>
          <a:xfrm>
            <a:off x="2100888" y="38754280"/>
            <a:ext cx="1502733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1" name="Shape 455"/>
          <p:cNvSpPr/>
          <p:nvPr/>
        </p:nvSpPr>
        <p:spPr>
          <a:xfrm>
            <a:off x="2100888" y="39030327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62" name="Text 456"/>
          <p:cNvSpPr/>
          <p:nvPr/>
        </p:nvSpPr>
        <p:spPr>
          <a:xfrm>
            <a:off x="2100888" y="38754280"/>
            <a:ext cx="15327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73" dirty="0"/>
          </a:p>
        </p:txBody>
      </p:sp>
      <p:sp>
        <p:nvSpPr>
          <p:cNvPr id="463" name="Text 457"/>
          <p:cNvSpPr/>
          <p:nvPr/>
        </p:nvSpPr>
        <p:spPr>
          <a:xfrm>
            <a:off x="3603621" y="38754280"/>
            <a:ext cx="839821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4" name="Shape 458"/>
          <p:cNvSpPr/>
          <p:nvPr/>
        </p:nvSpPr>
        <p:spPr>
          <a:xfrm>
            <a:off x="3603621" y="39030327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65" name="Text 459"/>
          <p:cNvSpPr/>
          <p:nvPr/>
        </p:nvSpPr>
        <p:spPr>
          <a:xfrm>
            <a:off x="3603621" y="38754280"/>
            <a:ext cx="85661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673" dirty="0"/>
          </a:p>
        </p:txBody>
      </p:sp>
      <p:sp>
        <p:nvSpPr>
          <p:cNvPr id="466" name="Text 460"/>
          <p:cNvSpPr/>
          <p:nvPr/>
        </p:nvSpPr>
        <p:spPr>
          <a:xfrm>
            <a:off x="4443442" y="38754280"/>
            <a:ext cx="1965369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7" name="Shape 461"/>
          <p:cNvSpPr/>
          <p:nvPr/>
        </p:nvSpPr>
        <p:spPr>
          <a:xfrm>
            <a:off x="4443442" y="39030327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68" name="Text 462"/>
          <p:cNvSpPr/>
          <p:nvPr/>
        </p:nvSpPr>
        <p:spPr>
          <a:xfrm>
            <a:off x="4507530" y="38821039"/>
            <a:ext cx="417574" cy="145200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9" name="Text 463"/>
          <p:cNvSpPr/>
          <p:nvPr/>
        </p:nvSpPr>
        <p:spPr>
          <a:xfrm>
            <a:off x="4503355" y="38821039"/>
            <a:ext cx="42592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未掌握</a:t>
            </a:r>
            <a:endParaRPr lang="en-US" sz="505" dirty="0"/>
          </a:p>
        </p:txBody>
      </p:sp>
      <p:sp>
        <p:nvSpPr>
          <p:cNvPr id="470" name="Text 464"/>
          <p:cNvSpPr/>
          <p:nvPr/>
        </p:nvSpPr>
        <p:spPr>
          <a:xfrm>
            <a:off x="427254" y="39032997"/>
            <a:ext cx="1673634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1" name="Shape 465"/>
          <p:cNvSpPr/>
          <p:nvPr/>
        </p:nvSpPr>
        <p:spPr>
          <a:xfrm>
            <a:off x="427254" y="39309043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72" name="Text 466"/>
          <p:cNvSpPr/>
          <p:nvPr/>
        </p:nvSpPr>
        <p:spPr>
          <a:xfrm>
            <a:off x="427254" y="39032997"/>
            <a:ext cx="170710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前端工程化</a:t>
            </a:r>
            <a:endParaRPr lang="en-US" sz="673" dirty="0"/>
          </a:p>
        </p:txBody>
      </p:sp>
      <p:sp>
        <p:nvSpPr>
          <p:cNvPr id="473" name="Text 467"/>
          <p:cNvSpPr/>
          <p:nvPr/>
        </p:nvSpPr>
        <p:spPr>
          <a:xfrm>
            <a:off x="2100888" y="39032997"/>
            <a:ext cx="1502733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4" name="Shape 468"/>
          <p:cNvSpPr/>
          <p:nvPr/>
        </p:nvSpPr>
        <p:spPr>
          <a:xfrm>
            <a:off x="2100888" y="39309043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75" name="Text 469"/>
          <p:cNvSpPr/>
          <p:nvPr/>
        </p:nvSpPr>
        <p:spPr>
          <a:xfrm>
            <a:off x="2100888" y="39032997"/>
            <a:ext cx="15327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73" dirty="0"/>
          </a:p>
        </p:txBody>
      </p:sp>
      <p:sp>
        <p:nvSpPr>
          <p:cNvPr id="476" name="Text 470"/>
          <p:cNvSpPr/>
          <p:nvPr/>
        </p:nvSpPr>
        <p:spPr>
          <a:xfrm>
            <a:off x="3603621" y="39032997"/>
            <a:ext cx="839821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7" name="Shape 471"/>
          <p:cNvSpPr/>
          <p:nvPr/>
        </p:nvSpPr>
        <p:spPr>
          <a:xfrm>
            <a:off x="3603621" y="39309043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78" name="Text 472"/>
          <p:cNvSpPr/>
          <p:nvPr/>
        </p:nvSpPr>
        <p:spPr>
          <a:xfrm>
            <a:off x="3603621" y="39032997"/>
            <a:ext cx="85661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673" dirty="0"/>
          </a:p>
        </p:txBody>
      </p:sp>
      <p:sp>
        <p:nvSpPr>
          <p:cNvPr id="479" name="Text 473"/>
          <p:cNvSpPr/>
          <p:nvPr/>
        </p:nvSpPr>
        <p:spPr>
          <a:xfrm>
            <a:off x="4443442" y="39032997"/>
            <a:ext cx="1965369" cy="27871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0" name="Shape 474"/>
          <p:cNvSpPr/>
          <p:nvPr/>
        </p:nvSpPr>
        <p:spPr>
          <a:xfrm>
            <a:off x="4443442" y="39309043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81" name="Text 475"/>
          <p:cNvSpPr/>
          <p:nvPr/>
        </p:nvSpPr>
        <p:spPr>
          <a:xfrm>
            <a:off x="4507530" y="39099755"/>
            <a:ext cx="481662" cy="145200"/>
          </a:xfrm>
          <a:prstGeom prst="roundRect">
            <a:avLst>
              <a:gd name="adj" fmla="val 4413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2" name="Text 476"/>
          <p:cNvSpPr/>
          <p:nvPr/>
        </p:nvSpPr>
        <p:spPr>
          <a:xfrm>
            <a:off x="4502714" y="39099755"/>
            <a:ext cx="491295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了解基础</a:t>
            </a:r>
            <a:endParaRPr lang="en-US" sz="505" dirty="0"/>
          </a:p>
        </p:txBody>
      </p:sp>
      <p:sp>
        <p:nvSpPr>
          <p:cNvPr id="483" name="Text 477"/>
          <p:cNvSpPr/>
          <p:nvPr/>
        </p:nvSpPr>
        <p:spPr>
          <a:xfrm>
            <a:off x="427254" y="39311714"/>
            <a:ext cx="1673634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4" name="Shape 478"/>
          <p:cNvSpPr/>
          <p:nvPr/>
        </p:nvSpPr>
        <p:spPr>
          <a:xfrm>
            <a:off x="427254" y="39587760"/>
            <a:ext cx="1673634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85" name="Text 479"/>
          <p:cNvSpPr/>
          <p:nvPr/>
        </p:nvSpPr>
        <p:spPr>
          <a:xfrm>
            <a:off x="427254" y="39311714"/>
            <a:ext cx="170710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673" dirty="0"/>
          </a:p>
        </p:txBody>
      </p:sp>
      <p:sp>
        <p:nvSpPr>
          <p:cNvPr id="486" name="Text 480"/>
          <p:cNvSpPr/>
          <p:nvPr/>
        </p:nvSpPr>
        <p:spPr>
          <a:xfrm>
            <a:off x="2100888" y="39311714"/>
            <a:ext cx="1502733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7" name="Shape 481"/>
          <p:cNvSpPr/>
          <p:nvPr/>
        </p:nvSpPr>
        <p:spPr>
          <a:xfrm>
            <a:off x="2100888" y="39587760"/>
            <a:ext cx="1502733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88" name="Text 482"/>
          <p:cNvSpPr/>
          <p:nvPr/>
        </p:nvSpPr>
        <p:spPr>
          <a:xfrm>
            <a:off x="2100888" y="39311714"/>
            <a:ext cx="1532787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73" dirty="0"/>
          </a:p>
        </p:txBody>
      </p:sp>
      <p:sp>
        <p:nvSpPr>
          <p:cNvPr id="489" name="Text 483"/>
          <p:cNvSpPr/>
          <p:nvPr/>
        </p:nvSpPr>
        <p:spPr>
          <a:xfrm>
            <a:off x="3603621" y="39311714"/>
            <a:ext cx="839821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0" name="Shape 484"/>
          <p:cNvSpPr/>
          <p:nvPr/>
        </p:nvSpPr>
        <p:spPr>
          <a:xfrm>
            <a:off x="3603621" y="39587760"/>
            <a:ext cx="839821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91" name="Text 485"/>
          <p:cNvSpPr/>
          <p:nvPr/>
        </p:nvSpPr>
        <p:spPr>
          <a:xfrm>
            <a:off x="3603621" y="39311714"/>
            <a:ext cx="856618" cy="278717"/>
          </a:xfrm>
          <a:prstGeom prst="rect">
            <a:avLst/>
          </a:prstGeom>
          <a:noFill/>
          <a:ln/>
        </p:spPr>
        <p:txBody>
          <a:bodyPr wrap="square" lIns="64088" tIns="64088" rIns="64088" bIns="64088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673" dirty="0"/>
          </a:p>
        </p:txBody>
      </p:sp>
      <p:sp>
        <p:nvSpPr>
          <p:cNvPr id="492" name="Text 486"/>
          <p:cNvSpPr/>
          <p:nvPr/>
        </p:nvSpPr>
        <p:spPr>
          <a:xfrm>
            <a:off x="4443442" y="39311714"/>
            <a:ext cx="1965369" cy="278717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3" name="Shape 487"/>
          <p:cNvSpPr/>
          <p:nvPr/>
        </p:nvSpPr>
        <p:spPr>
          <a:xfrm>
            <a:off x="4443442" y="39587760"/>
            <a:ext cx="1965369" cy="9144"/>
          </a:xfrm>
          <a:prstGeom prst="line">
            <a:avLst/>
          </a:prstGeom>
          <a:noFill/>
          <a:ln w="5341">
            <a:solidFill>
              <a:srgbClr val="ECF0F1"/>
            </a:solidFill>
            <a:prstDash val="solid"/>
          </a:ln>
        </p:spPr>
      </p:sp>
      <p:sp>
        <p:nvSpPr>
          <p:cNvPr id="494" name="Text 488"/>
          <p:cNvSpPr/>
          <p:nvPr/>
        </p:nvSpPr>
        <p:spPr>
          <a:xfrm>
            <a:off x="4507530" y="39378472"/>
            <a:ext cx="417574" cy="145200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5" name="Text 489"/>
          <p:cNvSpPr/>
          <p:nvPr/>
        </p:nvSpPr>
        <p:spPr>
          <a:xfrm>
            <a:off x="4503355" y="39378472"/>
            <a:ext cx="425926" cy="14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07"/>
              </a:lnSpc>
              <a:buNone/>
            </a:pPr>
            <a:r>
              <a:rPr lang="en-US" sz="50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未掌握</a:t>
            </a:r>
            <a:endParaRPr lang="en-US" sz="505" dirty="0"/>
          </a:p>
        </p:txBody>
      </p:sp>
      <p:sp>
        <p:nvSpPr>
          <p:cNvPr id="496" name="Text 490"/>
          <p:cNvSpPr/>
          <p:nvPr/>
        </p:nvSpPr>
        <p:spPr>
          <a:xfrm>
            <a:off x="427254" y="39806727"/>
            <a:ext cx="6101188" cy="187925"/>
          </a:xfrm>
          <a:prstGeom prst="rect">
            <a:avLst/>
          </a:prstGeom>
          <a:noFill/>
          <a:ln/>
        </p:spPr>
        <p:txBody>
          <a:bodyPr wrap="square" lIns="80110" tIns="0" rIns="0" bIns="0" rtlCol="0" anchor="t"/>
          <a:lstStyle/>
          <a:p>
            <a:pPr algn="l" indent="0" marL="0">
              <a:lnSpc>
                <a:spcPts val="1480"/>
              </a:lnSpc>
              <a:spcBef>
                <a:spcPts val="1682"/>
              </a:spcBef>
              <a:spcAft>
                <a:spcPts val="841"/>
              </a:spcAft>
              <a:buNone/>
            </a:pPr>
            <a:r>
              <a:rPr lang="en-US" sz="925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五、技能缺口与补齐计划</a:t>
            </a:r>
            <a:endParaRPr lang="en-US" sz="925" dirty="0"/>
          </a:p>
        </p:txBody>
      </p:sp>
      <p:sp>
        <p:nvSpPr>
          <p:cNvPr id="497" name="Text 491"/>
          <p:cNvSpPr/>
          <p:nvPr/>
        </p:nvSpPr>
        <p:spPr>
          <a:xfrm>
            <a:off x="427254" y="40154873"/>
            <a:ext cx="544749" cy="923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短期（1个月）</a:t>
            </a:r>
            <a:endParaRPr lang="en-US" sz="673" dirty="0"/>
          </a:p>
        </p:txBody>
      </p:sp>
      <p:sp>
        <p:nvSpPr>
          <p:cNvPr id="498" name="Text 492"/>
          <p:cNvSpPr/>
          <p:nvPr/>
        </p:nvSpPr>
        <p:spPr>
          <a:xfrm>
            <a:off x="961322" y="40234983"/>
            <a:ext cx="5447489" cy="843660"/>
          </a:xfrm>
          <a:prstGeom prst="roundRect">
            <a:avLst>
              <a:gd name="adj" fmla="val 2532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9" name="Shape 493"/>
          <p:cNvSpPr/>
          <p:nvPr/>
        </p:nvSpPr>
        <p:spPr>
          <a:xfrm>
            <a:off x="972003" y="40234983"/>
            <a:ext cx="9144" cy="843660"/>
          </a:xfrm>
          <a:prstGeom prst="line">
            <a:avLst/>
          </a:prstGeom>
          <a:noFill/>
          <a:ln w="21363">
            <a:solidFill>
              <a:srgbClr val="FFC107"/>
            </a:solidFill>
            <a:prstDash val="solid"/>
          </a:ln>
        </p:spPr>
      </p:sp>
      <p:sp>
        <p:nvSpPr>
          <p:cNvPr id="500" name="Text 494"/>
          <p:cNvSpPr/>
          <p:nvPr/>
        </p:nvSpPr>
        <p:spPr>
          <a:xfrm>
            <a:off x="1062794" y="40467803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1：学习TypeScript基础语法和类型系统</a:t>
            </a:r>
            <a:endParaRPr lang="en-US" sz="673" dirty="0"/>
          </a:p>
        </p:txBody>
      </p:sp>
      <p:sp>
        <p:nvSpPr>
          <p:cNvPr id="501" name="Text 495"/>
          <p:cNvSpPr/>
          <p:nvPr/>
        </p:nvSpPr>
        <p:spPr>
          <a:xfrm>
            <a:off x="1062794" y="40604491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2：完成TypeScript + React小项目</a:t>
            </a:r>
            <a:endParaRPr lang="en-US" sz="673" dirty="0"/>
          </a:p>
        </p:txBody>
      </p:sp>
      <p:sp>
        <p:nvSpPr>
          <p:cNvPr id="502" name="Text 496"/>
          <p:cNvSpPr/>
          <p:nvPr/>
        </p:nvSpPr>
        <p:spPr>
          <a:xfrm>
            <a:off x="1062794" y="40741179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3：理解泛型、接口、类型推断</a:t>
            </a:r>
            <a:endParaRPr lang="en-US" sz="673" dirty="0"/>
          </a:p>
        </p:txBody>
      </p:sp>
      <p:sp>
        <p:nvSpPr>
          <p:cNvPr id="503" name="Text 497"/>
          <p:cNvSpPr/>
          <p:nvPr/>
        </p:nvSpPr>
        <p:spPr>
          <a:xfrm>
            <a:off x="1062794" y="40877867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4：前端工程化工具学习（webpack/vite）</a:t>
            </a:r>
            <a:endParaRPr lang="en-US" sz="673" dirty="0"/>
          </a:p>
        </p:txBody>
      </p:sp>
      <p:sp>
        <p:nvSpPr>
          <p:cNvPr id="504" name="Text 498"/>
          <p:cNvSpPr/>
          <p:nvPr/>
        </p:nvSpPr>
        <p:spPr>
          <a:xfrm>
            <a:off x="427254" y="41185456"/>
            <a:ext cx="544749" cy="923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中期（2-3个月）</a:t>
            </a:r>
            <a:endParaRPr lang="en-US" sz="673" dirty="0"/>
          </a:p>
        </p:txBody>
      </p:sp>
      <p:sp>
        <p:nvSpPr>
          <p:cNvPr id="505" name="Text 499"/>
          <p:cNvSpPr/>
          <p:nvPr/>
        </p:nvSpPr>
        <p:spPr>
          <a:xfrm>
            <a:off x="961322" y="41265566"/>
            <a:ext cx="5447489" cy="843660"/>
          </a:xfrm>
          <a:prstGeom prst="roundRect">
            <a:avLst>
              <a:gd name="adj" fmla="val 2532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6" name="Shape 500"/>
          <p:cNvSpPr/>
          <p:nvPr/>
        </p:nvSpPr>
        <p:spPr>
          <a:xfrm>
            <a:off x="972003" y="41265566"/>
            <a:ext cx="9144" cy="843660"/>
          </a:xfrm>
          <a:prstGeom prst="line">
            <a:avLst/>
          </a:prstGeom>
          <a:noFill/>
          <a:ln w="21363">
            <a:solidFill>
              <a:srgbClr val="17A2B8"/>
            </a:solidFill>
            <a:prstDash val="solid"/>
          </a:ln>
        </p:spPr>
      </p:sp>
      <p:sp>
        <p:nvSpPr>
          <p:cNvPr id="507" name="Text 501"/>
          <p:cNvSpPr/>
          <p:nvPr/>
        </p:nvSpPr>
        <p:spPr>
          <a:xfrm>
            <a:off x="1062794" y="41498386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2：学习Vue3基础，对比Vue和React差异</a:t>
            </a:r>
            <a:endParaRPr lang="en-US" sz="673" dirty="0"/>
          </a:p>
        </p:txBody>
      </p:sp>
      <p:sp>
        <p:nvSpPr>
          <p:cNvPr id="508" name="Text 502"/>
          <p:cNvSpPr/>
          <p:nvPr/>
        </p:nvSpPr>
        <p:spPr>
          <a:xfrm>
            <a:off x="1062794" y="41635074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2：前端性能优化学习</a:t>
            </a:r>
            <a:endParaRPr lang="en-US" sz="673" dirty="0"/>
          </a:p>
        </p:txBody>
      </p:sp>
      <p:sp>
        <p:nvSpPr>
          <p:cNvPr id="509" name="Text 503"/>
          <p:cNvSpPr/>
          <p:nvPr/>
        </p:nvSpPr>
        <p:spPr>
          <a:xfrm>
            <a:off x="1062794" y="41771762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3：补充Node.js后端开发知识</a:t>
            </a:r>
            <a:endParaRPr lang="en-US" sz="673" dirty="0"/>
          </a:p>
        </p:txBody>
      </p:sp>
      <p:sp>
        <p:nvSpPr>
          <p:cNvPr id="510" name="Text 504"/>
          <p:cNvSpPr/>
          <p:nvPr/>
        </p:nvSpPr>
        <p:spPr>
          <a:xfrm>
            <a:off x="1062794" y="41908450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3：掌握服务端渲染（SSR）</a:t>
            </a:r>
            <a:endParaRPr lang="en-US" sz="673" dirty="0"/>
          </a:p>
        </p:txBody>
      </p:sp>
      <p:sp>
        <p:nvSpPr>
          <p:cNvPr id="511" name="Text 505"/>
          <p:cNvSpPr/>
          <p:nvPr/>
        </p:nvSpPr>
        <p:spPr>
          <a:xfrm>
            <a:off x="427254" y="42216040"/>
            <a:ext cx="544749" cy="923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长期（3-6个月）</a:t>
            </a:r>
            <a:endParaRPr lang="en-US" sz="673" dirty="0"/>
          </a:p>
        </p:txBody>
      </p:sp>
      <p:sp>
        <p:nvSpPr>
          <p:cNvPr id="512" name="Text 506"/>
          <p:cNvSpPr/>
          <p:nvPr/>
        </p:nvSpPr>
        <p:spPr>
          <a:xfrm>
            <a:off x="961322" y="42296150"/>
            <a:ext cx="5447489" cy="843660"/>
          </a:xfrm>
          <a:prstGeom prst="roundRect">
            <a:avLst>
              <a:gd name="adj" fmla="val 2532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3" name="Shape 507"/>
          <p:cNvSpPr/>
          <p:nvPr/>
        </p:nvSpPr>
        <p:spPr>
          <a:xfrm>
            <a:off x="972003" y="42296150"/>
            <a:ext cx="9144" cy="843660"/>
          </a:xfrm>
          <a:prstGeom prst="line">
            <a:avLst/>
          </a:prstGeom>
          <a:noFill/>
          <a:ln w="21363">
            <a:solidFill>
              <a:srgbClr val="28A745"/>
            </a:solidFill>
            <a:prstDash val="solid"/>
          </a:ln>
        </p:spPr>
      </p:sp>
      <p:sp>
        <p:nvSpPr>
          <p:cNvPr id="514" name="Text 508"/>
          <p:cNvSpPr/>
          <p:nvPr/>
        </p:nvSpPr>
        <p:spPr>
          <a:xfrm>
            <a:off x="1062794" y="42528970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系统复习前端基础（HTML/CSS/JS）</a:t>
            </a:r>
            <a:endParaRPr lang="en-US" sz="673" dirty="0"/>
          </a:p>
        </p:txBody>
      </p:sp>
      <p:sp>
        <p:nvSpPr>
          <p:cNvPr id="515" name="Text 509"/>
          <p:cNvSpPr/>
          <p:nvPr/>
        </p:nvSpPr>
        <p:spPr>
          <a:xfrm>
            <a:off x="1062794" y="42665658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刷LeetCode算法题（前50题）</a:t>
            </a:r>
            <a:endParaRPr lang="en-US" sz="673" dirty="0"/>
          </a:p>
        </p:txBody>
      </p:sp>
      <p:sp>
        <p:nvSpPr>
          <p:cNvPr id="516" name="Text 510"/>
          <p:cNvSpPr/>
          <p:nvPr/>
        </p:nvSpPr>
        <p:spPr>
          <a:xfrm>
            <a:off x="1062794" y="42802346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准备3个高质量React项目</a:t>
            </a:r>
            <a:endParaRPr lang="en-US" sz="673" dirty="0"/>
          </a:p>
        </p:txBody>
      </p:sp>
      <p:sp>
        <p:nvSpPr>
          <p:cNvPr id="517" name="Text 511"/>
          <p:cNvSpPr/>
          <p:nvPr/>
        </p:nvSpPr>
        <p:spPr>
          <a:xfrm>
            <a:off x="1062794" y="42939034"/>
            <a:ext cx="5371225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准备大厂面试</a:t>
            </a:r>
            <a:endParaRPr lang="en-US" sz="673" dirty="0"/>
          </a:p>
        </p:txBody>
      </p:sp>
      <p:sp>
        <p:nvSpPr>
          <p:cNvPr id="518" name="Text 512"/>
          <p:cNvSpPr/>
          <p:nvPr/>
        </p:nvSpPr>
        <p:spPr>
          <a:xfrm>
            <a:off x="427254" y="43353437"/>
            <a:ext cx="6101188" cy="187925"/>
          </a:xfrm>
          <a:prstGeom prst="rect">
            <a:avLst/>
          </a:prstGeom>
          <a:noFill/>
          <a:ln/>
        </p:spPr>
        <p:txBody>
          <a:bodyPr wrap="square" lIns="80110" tIns="0" rIns="0" bIns="0" rtlCol="0" anchor="t"/>
          <a:lstStyle/>
          <a:p>
            <a:pPr algn="l" indent="0" marL="0">
              <a:lnSpc>
                <a:spcPts val="1480"/>
              </a:lnSpc>
              <a:spcBef>
                <a:spcPts val="1682"/>
              </a:spcBef>
              <a:spcAft>
                <a:spcPts val="841"/>
              </a:spcAft>
              <a:buNone/>
            </a:pPr>
            <a:r>
              <a:rPr lang="en-US" sz="925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六、求职策略建议</a:t>
            </a:r>
            <a:endParaRPr lang="en-US" sz="925" dirty="0"/>
          </a:p>
        </p:txBody>
      </p:sp>
      <p:sp>
        <p:nvSpPr>
          <p:cNvPr id="519" name="Text 513"/>
          <p:cNvSpPr/>
          <p:nvPr/>
        </p:nvSpPr>
        <p:spPr>
          <a:xfrm>
            <a:off x="427254" y="43648175"/>
            <a:ext cx="1922643" cy="1114950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0" name="Text 514"/>
          <p:cNvSpPr/>
          <p:nvPr/>
        </p:nvSpPr>
        <p:spPr>
          <a:xfrm>
            <a:off x="539408" y="43760330"/>
            <a:ext cx="1732302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第1优先级（立即投递）</a:t>
            </a:r>
            <a:endParaRPr lang="en-US" sz="757" dirty="0"/>
          </a:p>
        </p:txBody>
      </p:sp>
      <p:sp>
        <p:nvSpPr>
          <p:cNvPr id="521" name="Text 515"/>
          <p:cNvSpPr/>
          <p:nvPr/>
        </p:nvSpPr>
        <p:spPr>
          <a:xfrm>
            <a:off x="539408" y="43983553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淘宝 - 前端开发工程师 [90分]</a:t>
            </a:r>
            <a:endParaRPr lang="en-US" sz="673" dirty="0"/>
          </a:p>
        </p:txBody>
      </p:sp>
      <p:sp>
        <p:nvSpPr>
          <p:cNvPr id="522" name="Text 516"/>
          <p:cNvSpPr/>
          <p:nvPr/>
        </p:nvSpPr>
        <p:spPr>
          <a:xfrm>
            <a:off x="539408" y="44120241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核盛网络 - web开发实习生 [88分]</a:t>
            </a:r>
            <a:endParaRPr lang="en-US" sz="673" dirty="0"/>
          </a:p>
        </p:txBody>
      </p:sp>
      <p:sp>
        <p:nvSpPr>
          <p:cNvPr id="523" name="Text 517"/>
          <p:cNvSpPr/>
          <p:nvPr/>
        </p:nvSpPr>
        <p:spPr>
          <a:xfrm>
            <a:off x="539408" y="44256929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浙江数维科技 - 前端开发工程师 [85分]</a:t>
            </a:r>
            <a:endParaRPr lang="en-US" sz="673" dirty="0"/>
          </a:p>
        </p:txBody>
      </p:sp>
      <p:sp>
        <p:nvSpPr>
          <p:cNvPr id="524" name="Text 518"/>
          <p:cNvSpPr/>
          <p:nvPr/>
        </p:nvSpPr>
        <p:spPr>
          <a:xfrm>
            <a:off x="539408" y="44393617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杭州炎魂网络 - 前端开发工程师 [85分]</a:t>
            </a:r>
            <a:endParaRPr lang="en-US" sz="673" dirty="0"/>
          </a:p>
        </p:txBody>
      </p:sp>
      <p:sp>
        <p:nvSpPr>
          <p:cNvPr id="525" name="Text 519"/>
          <p:cNvSpPr/>
          <p:nvPr/>
        </p:nvSpPr>
        <p:spPr>
          <a:xfrm>
            <a:off x="539408" y="44530305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杭州城市大脑 - 初级前端开发工程师 [82分]</a:t>
            </a:r>
            <a:endParaRPr lang="en-US" sz="673" dirty="0"/>
          </a:p>
        </p:txBody>
      </p:sp>
      <p:sp>
        <p:nvSpPr>
          <p:cNvPr id="526" name="Text 520"/>
          <p:cNvSpPr/>
          <p:nvPr/>
        </p:nvSpPr>
        <p:spPr>
          <a:xfrm>
            <a:off x="2456711" y="43648175"/>
            <a:ext cx="1922643" cy="1114950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7" name="Text 521"/>
          <p:cNvSpPr/>
          <p:nvPr/>
        </p:nvSpPr>
        <p:spPr>
          <a:xfrm>
            <a:off x="2568865" y="43760330"/>
            <a:ext cx="1732302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第2优先级（重点投递）</a:t>
            </a:r>
            <a:endParaRPr lang="en-US" sz="757" dirty="0"/>
          </a:p>
        </p:txBody>
      </p:sp>
      <p:sp>
        <p:nvSpPr>
          <p:cNvPr id="528" name="Text 522"/>
          <p:cNvSpPr/>
          <p:nvPr/>
        </p:nvSpPr>
        <p:spPr>
          <a:xfrm>
            <a:off x="2568865" y="43983553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造物云 - 前端工程师 [78分]</a:t>
            </a:r>
            <a:endParaRPr lang="en-US" sz="673" dirty="0"/>
          </a:p>
        </p:txBody>
      </p:sp>
      <p:sp>
        <p:nvSpPr>
          <p:cNvPr id="529" name="Text 523"/>
          <p:cNvSpPr/>
          <p:nvPr/>
        </p:nvSpPr>
        <p:spPr>
          <a:xfrm>
            <a:off x="2568865" y="44120241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快手(杭州) - 软件开发工程师 [75分]</a:t>
            </a:r>
            <a:endParaRPr lang="en-US" sz="673" dirty="0"/>
          </a:p>
        </p:txBody>
      </p:sp>
      <p:sp>
        <p:nvSpPr>
          <p:cNvPr id="530" name="Text 524"/>
          <p:cNvSpPr/>
          <p:nvPr/>
        </p:nvSpPr>
        <p:spPr>
          <a:xfrm>
            <a:off x="2568865" y="44256929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中软国际 - 前端开发工程师 [72分]</a:t>
            </a:r>
            <a:endParaRPr lang="en-US" sz="673" dirty="0"/>
          </a:p>
        </p:txBody>
      </p:sp>
      <p:sp>
        <p:nvSpPr>
          <p:cNvPr id="531" name="Text 525"/>
          <p:cNvSpPr/>
          <p:nvPr/>
        </p:nvSpPr>
        <p:spPr>
          <a:xfrm>
            <a:off x="2568865" y="44393617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浙江宇视科技 - WEB前端开发工程师 [72分]</a:t>
            </a:r>
            <a:endParaRPr lang="en-US" sz="673" dirty="0"/>
          </a:p>
        </p:txBody>
      </p:sp>
      <p:sp>
        <p:nvSpPr>
          <p:cNvPr id="532" name="Text 526"/>
          <p:cNvSpPr/>
          <p:nvPr/>
        </p:nvSpPr>
        <p:spPr>
          <a:xfrm>
            <a:off x="4486168" y="43648175"/>
            <a:ext cx="1922643" cy="1114950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3" name="Text 527"/>
          <p:cNvSpPr/>
          <p:nvPr/>
        </p:nvSpPr>
        <p:spPr>
          <a:xfrm>
            <a:off x="4598322" y="43760330"/>
            <a:ext cx="1732302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421"/>
              </a:spcAft>
              <a:buNone/>
            </a:pPr>
            <a:r>
              <a:rPr lang="en-US" sz="757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第3优先级（尝试投递）</a:t>
            </a:r>
            <a:endParaRPr lang="en-US" sz="757" dirty="0"/>
          </a:p>
        </p:txBody>
      </p:sp>
      <p:sp>
        <p:nvSpPr>
          <p:cNvPr id="534" name="Text 528"/>
          <p:cNvSpPr/>
          <p:nvPr/>
        </p:nvSpPr>
        <p:spPr>
          <a:xfrm>
            <a:off x="4598322" y="43983553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百聆科技 - 前端开发工程师react [70分]</a:t>
            </a:r>
            <a:endParaRPr lang="en-US" sz="673" dirty="0"/>
          </a:p>
        </p:txBody>
      </p:sp>
      <p:sp>
        <p:nvSpPr>
          <p:cNvPr id="535" name="Text 529"/>
          <p:cNvSpPr/>
          <p:nvPr/>
        </p:nvSpPr>
        <p:spPr>
          <a:xfrm>
            <a:off x="4598322" y="44120241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中科非凡机器人 - 前端开发工程师 [70分]</a:t>
            </a:r>
            <a:endParaRPr lang="en-US" sz="673" dirty="0"/>
          </a:p>
        </p:txBody>
      </p:sp>
      <p:sp>
        <p:nvSpPr>
          <p:cNvPr id="536" name="Text 530"/>
          <p:cNvSpPr/>
          <p:nvPr/>
        </p:nvSpPr>
        <p:spPr>
          <a:xfrm>
            <a:off x="4598322" y="44256929"/>
            <a:ext cx="1732302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点米科技 - web前端开发工程师 [55分]</a:t>
            </a:r>
            <a:endParaRPr lang="en-US" sz="673" dirty="0"/>
          </a:p>
        </p:txBody>
      </p:sp>
      <p:sp>
        <p:nvSpPr>
          <p:cNvPr id="537" name="Text 531"/>
          <p:cNvSpPr/>
          <p:nvPr/>
        </p:nvSpPr>
        <p:spPr>
          <a:xfrm>
            <a:off x="427254" y="44950049"/>
            <a:ext cx="5981557" cy="964409"/>
          </a:xfrm>
          <a:prstGeom prst="roundRect">
            <a:avLst>
              <a:gd name="adj" fmla="val 2215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8" name="Shape 532"/>
          <p:cNvSpPr/>
          <p:nvPr/>
        </p:nvSpPr>
        <p:spPr>
          <a:xfrm>
            <a:off x="437935" y="44950049"/>
            <a:ext cx="9144" cy="964409"/>
          </a:xfrm>
          <a:prstGeom prst="line">
            <a:avLst/>
          </a:prstGeom>
          <a:noFill/>
          <a:ln w="21363">
            <a:solidFill>
              <a:srgbClr val="17A2B8"/>
            </a:solidFill>
            <a:prstDash val="solid"/>
          </a:ln>
        </p:spPr>
      </p:sp>
      <p:sp>
        <p:nvSpPr>
          <p:cNvPr id="539" name="Text 533"/>
          <p:cNvSpPr/>
          <p:nvPr/>
        </p:nvSpPr>
        <p:spPr>
          <a:xfrm>
            <a:off x="528727" y="45190379"/>
            <a:ext cx="5915973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Bef>
                <a:spcPts val="1262"/>
              </a:spcBef>
              <a:spcAft>
                <a:spcPts val="631"/>
              </a:spcAft>
              <a:buNone/>
            </a:pPr>
            <a:r>
              <a:rPr lang="en-US" sz="75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时间安排建议：</a:t>
            </a:r>
            <a:endParaRPr lang="en-US" sz="757" dirty="0"/>
          </a:p>
        </p:txBody>
      </p:sp>
      <p:sp>
        <p:nvSpPr>
          <p:cNvPr id="540" name="Text 534"/>
          <p:cNvSpPr/>
          <p:nvPr/>
        </p:nvSpPr>
        <p:spPr>
          <a:xfrm>
            <a:off x="528727" y="45440306"/>
            <a:ext cx="5915973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第1周：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投递第1优先级岗位（5个）</a:t>
            </a:r>
            <a:endParaRPr lang="en-US" sz="673" dirty="0"/>
          </a:p>
        </p:txBody>
      </p:sp>
      <p:sp>
        <p:nvSpPr>
          <p:cNvPr id="541" name="Text 535"/>
          <p:cNvSpPr/>
          <p:nvPr/>
        </p:nvSpPr>
        <p:spPr>
          <a:xfrm>
            <a:off x="528727" y="45576994"/>
            <a:ext cx="5915973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第2-3周：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投递第2优先级岗位（4个），同时准备面试</a:t>
            </a:r>
            <a:endParaRPr lang="en-US" sz="673" dirty="0"/>
          </a:p>
        </p:txBody>
      </p:sp>
      <p:sp>
        <p:nvSpPr>
          <p:cNvPr id="542" name="Text 536"/>
          <p:cNvSpPr/>
          <p:nvPr/>
        </p:nvSpPr>
        <p:spPr>
          <a:xfrm>
            <a:off x="528727" y="45713682"/>
            <a:ext cx="5915973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第4-6周：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根据面试反馈调整策略，持续投递</a:t>
            </a:r>
            <a:endParaRPr lang="en-US" sz="673" dirty="0"/>
          </a:p>
        </p:txBody>
      </p:sp>
      <p:sp>
        <p:nvSpPr>
          <p:cNvPr id="543" name="Text 537"/>
          <p:cNvSpPr/>
          <p:nvPr/>
        </p:nvSpPr>
        <p:spPr>
          <a:xfrm>
            <a:off x="427254" y="46128085"/>
            <a:ext cx="6101188" cy="187925"/>
          </a:xfrm>
          <a:prstGeom prst="rect">
            <a:avLst/>
          </a:prstGeom>
          <a:noFill/>
          <a:ln/>
        </p:spPr>
        <p:txBody>
          <a:bodyPr wrap="square" lIns="80110" tIns="0" rIns="0" bIns="0" rtlCol="0" anchor="t"/>
          <a:lstStyle/>
          <a:p>
            <a:pPr algn="l" indent="0" marL="0">
              <a:lnSpc>
                <a:spcPts val="1480"/>
              </a:lnSpc>
              <a:spcBef>
                <a:spcPts val="1682"/>
              </a:spcBef>
              <a:spcAft>
                <a:spcPts val="841"/>
              </a:spcAft>
              <a:buNone/>
            </a:pPr>
            <a:r>
              <a:rPr lang="en-US" sz="925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七、结论与展望</a:t>
            </a:r>
            <a:endParaRPr lang="en-US" sz="925" dirty="0"/>
          </a:p>
        </p:txBody>
      </p:sp>
      <p:pic>
        <p:nvPicPr>
          <p:cNvPr id="544" name="Image 4" descr="/var/folders/hv/ysg5ztb12gn806jvggm0qf3w0000gn/T/html2pptx-bg-bg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54" y="46422823"/>
            <a:ext cx="5981557" cy="1261317"/>
          </a:xfrm>
          <a:prstGeom prst="rect">
            <a:avLst/>
          </a:prstGeom>
        </p:spPr>
      </p:pic>
      <p:sp>
        <p:nvSpPr>
          <p:cNvPr id="545" name="Text 538"/>
          <p:cNvSpPr/>
          <p:nvPr/>
        </p:nvSpPr>
        <p:spPr>
          <a:xfrm>
            <a:off x="560771" y="46556340"/>
            <a:ext cx="5828814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Aft>
                <a:spcPts val="631"/>
              </a:spcAft>
              <a:buNone/>
            </a:pPr>
            <a:r>
              <a:rPr lang="en-US" sz="75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757" dirty="0"/>
          </a:p>
        </p:txBody>
      </p:sp>
      <p:sp>
        <p:nvSpPr>
          <p:cNvPr id="546" name="Text 539"/>
          <p:cNvSpPr/>
          <p:nvPr/>
        </p:nvSpPr>
        <p:spPr>
          <a:xfrm>
            <a:off x="667584" y="46806267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可投递岗位：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7个（37.5%），主要集中在校招、实习、经验不限岗位</a:t>
            </a:r>
            <a:endParaRPr lang="en-US" sz="673" dirty="0"/>
          </a:p>
        </p:txBody>
      </p:sp>
      <p:sp>
        <p:nvSpPr>
          <p:cNvPr id="547" name="Text 540"/>
          <p:cNvSpPr/>
          <p:nvPr/>
        </p:nvSpPr>
        <p:spPr>
          <a:xfrm>
            <a:off x="667584" y="46996362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技能匹配度：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中等（70%），React等基础技能匹配，但缺少TypeScript等高级技能</a:t>
            </a:r>
            <a:endParaRPr lang="en-US" sz="673" dirty="0"/>
          </a:p>
        </p:txBody>
      </p:sp>
      <p:sp>
        <p:nvSpPr>
          <p:cNvPr id="548" name="Text 541"/>
          <p:cNvSpPr/>
          <p:nvPr/>
        </p:nvSpPr>
        <p:spPr>
          <a:xfrm>
            <a:off x="667584" y="47186457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薪资预期：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应届生合理薪资8k-12k/月</a:t>
            </a:r>
            <a:endParaRPr lang="en-US" sz="673" dirty="0"/>
          </a:p>
        </p:txBody>
      </p:sp>
      <p:sp>
        <p:nvSpPr>
          <p:cNvPr id="549" name="Text 542"/>
          <p:cNvSpPr/>
          <p:nvPr/>
        </p:nvSpPr>
        <p:spPr>
          <a:xfrm>
            <a:off x="667584" y="47376551"/>
            <a:ext cx="5719864" cy="9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求职难度：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中等，需要优先投递校招岗位，同时补齐技能短板</a:t>
            </a:r>
            <a:endParaRPr lang="en-US" sz="673" dirty="0"/>
          </a:p>
        </p:txBody>
      </p:sp>
      <p:sp>
        <p:nvSpPr>
          <p:cNvPr id="550" name="Text 543"/>
          <p:cNvSpPr/>
          <p:nvPr/>
        </p:nvSpPr>
        <p:spPr>
          <a:xfrm>
            <a:off x="427254" y="47844361"/>
            <a:ext cx="1922643" cy="877874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1" name="Text 544"/>
          <p:cNvSpPr/>
          <p:nvPr/>
        </p:nvSpPr>
        <p:spPr>
          <a:xfrm>
            <a:off x="522425" y="48009922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3-6个月</a:t>
            </a:r>
            <a:endParaRPr lang="en-US" sz="1514" dirty="0"/>
          </a:p>
        </p:txBody>
      </p:sp>
      <p:sp>
        <p:nvSpPr>
          <p:cNvPr id="552" name="Text 545"/>
          <p:cNvSpPr/>
          <p:nvPr/>
        </p:nvSpPr>
        <p:spPr>
          <a:xfrm>
            <a:off x="522425" y="48370918"/>
            <a:ext cx="1732302" cy="119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成功入职WEB工程师岗位</a:t>
            </a:r>
            <a:endParaRPr lang="en-US" sz="589" dirty="0"/>
          </a:p>
        </p:txBody>
      </p:sp>
      <p:sp>
        <p:nvSpPr>
          <p:cNvPr id="553" name="Text 546"/>
          <p:cNvSpPr/>
          <p:nvPr/>
        </p:nvSpPr>
        <p:spPr>
          <a:xfrm>
            <a:off x="2456711" y="47844361"/>
            <a:ext cx="1922643" cy="877874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4" name="Text 547"/>
          <p:cNvSpPr/>
          <p:nvPr/>
        </p:nvSpPr>
        <p:spPr>
          <a:xfrm>
            <a:off x="2551882" y="48009922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1514" dirty="0"/>
          </a:p>
        </p:txBody>
      </p:sp>
      <p:sp>
        <p:nvSpPr>
          <p:cNvPr id="555" name="Text 548"/>
          <p:cNvSpPr/>
          <p:nvPr/>
        </p:nvSpPr>
        <p:spPr>
          <a:xfrm>
            <a:off x="2551882" y="48370918"/>
            <a:ext cx="1732302" cy="239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积累1-2年工作经验</a:t>
            </a:r>
            <a:endParaRPr lang="en-US" sz="589" dirty="0"/>
          </a:p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薪资提升至15k+</a:t>
            </a:r>
            <a:endParaRPr lang="en-US" sz="589" dirty="0"/>
          </a:p>
        </p:txBody>
      </p:sp>
      <p:sp>
        <p:nvSpPr>
          <p:cNvPr id="556" name="Text 549"/>
          <p:cNvSpPr/>
          <p:nvPr/>
        </p:nvSpPr>
        <p:spPr>
          <a:xfrm>
            <a:off x="4486168" y="47844361"/>
            <a:ext cx="1922643" cy="877874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7" name="Text 550"/>
          <p:cNvSpPr/>
          <p:nvPr/>
        </p:nvSpPr>
        <p:spPr>
          <a:xfrm>
            <a:off x="4581339" y="48009922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3-5年</a:t>
            </a:r>
            <a:endParaRPr lang="en-US" sz="1514" dirty="0"/>
          </a:p>
        </p:txBody>
      </p:sp>
      <p:sp>
        <p:nvSpPr>
          <p:cNvPr id="558" name="Text 551"/>
          <p:cNvSpPr/>
          <p:nvPr/>
        </p:nvSpPr>
        <p:spPr>
          <a:xfrm>
            <a:off x="4581339" y="48370918"/>
            <a:ext cx="1732302" cy="239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晋升高级前端工程师</a:t>
            </a:r>
            <a:endParaRPr lang="en-US" sz="589" dirty="0"/>
          </a:p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或技术专家</a:t>
            </a:r>
            <a:endParaRPr lang="en-US" sz="589" dirty="0"/>
          </a:p>
        </p:txBody>
      </p:sp>
      <p:sp>
        <p:nvSpPr>
          <p:cNvPr id="559" name="Text 552"/>
          <p:cNvSpPr/>
          <p:nvPr/>
        </p:nvSpPr>
        <p:spPr>
          <a:xfrm>
            <a:off x="427254" y="48829048"/>
            <a:ext cx="1922643" cy="877874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5341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0" name="Text 553"/>
          <p:cNvSpPr/>
          <p:nvPr/>
        </p:nvSpPr>
        <p:spPr>
          <a:xfrm>
            <a:off x="522425" y="48994609"/>
            <a:ext cx="1732302" cy="307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22"/>
              </a:lnSpc>
              <a:spcBef>
                <a:spcPts val="421"/>
              </a:spcBef>
              <a:spcAft>
                <a:spcPts val="421"/>
              </a:spcAft>
              <a:buNone/>
            </a:pPr>
            <a:r>
              <a:rPr lang="en-US" sz="1514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1514" dirty="0"/>
          </a:p>
        </p:txBody>
      </p:sp>
      <p:sp>
        <p:nvSpPr>
          <p:cNvPr id="561" name="Text 554"/>
          <p:cNvSpPr/>
          <p:nvPr/>
        </p:nvSpPr>
        <p:spPr>
          <a:xfrm>
            <a:off x="522425" y="49355605"/>
            <a:ext cx="1732302" cy="239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全栈开发</a:t>
            </a:r>
            <a:endParaRPr lang="en-US" sz="589" dirty="0"/>
          </a:p>
          <a:p>
            <a:pPr algn="ctr" indent="0" marL="0">
              <a:lnSpc>
                <a:spcPts val="942"/>
              </a:lnSpc>
              <a:buNone/>
            </a:pPr>
            <a:r>
              <a:rPr lang="en-US" sz="589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或技术管理方向</a:t>
            </a:r>
            <a:endParaRPr lang="en-US" sz="589" dirty="0"/>
          </a:p>
        </p:txBody>
      </p:sp>
      <p:sp>
        <p:nvSpPr>
          <p:cNvPr id="562" name="Text 555"/>
          <p:cNvSpPr/>
          <p:nvPr/>
        </p:nvSpPr>
        <p:spPr>
          <a:xfrm>
            <a:off x="427254" y="49787032"/>
            <a:ext cx="5981557" cy="1101097"/>
          </a:xfrm>
          <a:prstGeom prst="roundRect">
            <a:avLst>
              <a:gd name="adj" fmla="val 1940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3" name="Shape 556"/>
          <p:cNvSpPr/>
          <p:nvPr/>
        </p:nvSpPr>
        <p:spPr>
          <a:xfrm>
            <a:off x="437935" y="49787032"/>
            <a:ext cx="9144" cy="1101097"/>
          </a:xfrm>
          <a:prstGeom prst="line">
            <a:avLst/>
          </a:prstGeom>
          <a:noFill/>
          <a:ln w="21363">
            <a:solidFill>
              <a:srgbClr val="17A2B8"/>
            </a:solidFill>
            <a:prstDash val="solid"/>
          </a:ln>
        </p:spPr>
      </p:sp>
      <p:sp>
        <p:nvSpPr>
          <p:cNvPr id="564" name="Text 557"/>
          <p:cNvSpPr/>
          <p:nvPr/>
        </p:nvSpPr>
        <p:spPr>
          <a:xfrm>
            <a:off x="528727" y="50027362"/>
            <a:ext cx="5915973" cy="153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spcBef>
                <a:spcPts val="1262"/>
              </a:spcBef>
              <a:spcAft>
                <a:spcPts val="631"/>
              </a:spcAft>
              <a:buNone/>
            </a:pPr>
            <a:r>
              <a:rPr lang="en-US" sz="757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报告说明</a:t>
            </a:r>
            <a:endParaRPr lang="en-US" sz="757" dirty="0"/>
          </a:p>
        </p:txBody>
      </p:sp>
      <p:sp>
        <p:nvSpPr>
          <p:cNvPr id="565" name="Text 558"/>
          <p:cNvSpPr/>
          <p:nvPr/>
        </p:nvSpPr>
        <p:spPr>
          <a:xfrm>
            <a:off x="528727" y="50261267"/>
            <a:ext cx="5915973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Boss直聘、智联招聘（通过Coze Search API检索）</a:t>
            </a:r>
            <a:endParaRPr lang="en-US" sz="673" dirty="0"/>
          </a:p>
        </p:txBody>
      </p:sp>
      <p:sp>
        <p:nvSpPr>
          <p:cNvPr id="566" name="Text 559"/>
          <p:cNvSpPr/>
          <p:nvPr/>
        </p:nvSpPr>
        <p:spPr>
          <a:xfrm>
            <a:off x="528727" y="50397955"/>
            <a:ext cx="5915973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检索时间：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2026年1月7日</a:t>
            </a:r>
            <a:endParaRPr lang="en-US" sz="673" dirty="0"/>
          </a:p>
        </p:txBody>
      </p:sp>
      <p:sp>
        <p:nvSpPr>
          <p:cNvPr id="567" name="Text 560"/>
          <p:cNvSpPr/>
          <p:nvPr/>
        </p:nvSpPr>
        <p:spPr>
          <a:xfrm>
            <a:off x="528727" y="50534643"/>
            <a:ext cx="5915973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报告生成工具：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job-search-report技能（简历提取、岗位检索、数据分析、图表生成）</a:t>
            </a:r>
            <a:endParaRPr lang="en-US" sz="673" dirty="0"/>
          </a:p>
        </p:txBody>
      </p:sp>
      <p:sp>
        <p:nvSpPr>
          <p:cNvPr id="568" name="Text 561"/>
          <p:cNvSpPr/>
          <p:nvPr/>
        </p:nvSpPr>
        <p:spPr>
          <a:xfrm>
            <a:off x="528727" y="50671331"/>
            <a:ext cx="5915973" cy="13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673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数据更新频率：</a:t>
            </a:r>
            <a:pPr algn="l" indent="0" marL="0">
              <a:lnSpc>
                <a:spcPts val="1077"/>
              </a:lnSpc>
              <a:buNone/>
            </a:pPr>
            <a:r>
              <a:rPr lang="en-US" sz="673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建议每月更新一次岗位数据</a:t>
            </a:r>
            <a:endParaRPr lang="en-US" sz="6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2026-01-08T07:34:24Z</dcterms:created>
  <dcterms:modified xsi:type="dcterms:W3CDTF">2026-01-08T07:34:24Z</dcterms:modified>
</cp:coreProperties>
</file>
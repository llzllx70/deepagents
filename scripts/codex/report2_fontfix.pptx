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070951" cy="51206400"/>
  <p:notesSz cx="51206400" cy="807095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26" y="126109"/>
            <a:ext cx="7314299" cy="50953296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443" dist="1261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0543" y="378326"/>
            <a:ext cx="6946062" cy="364434"/>
          </a:xfrm>
          <a:prstGeom prst="rect">
            <a:avLst/>
          </a:prstGeom>
          <a:noFill/>
          <a:ln/>
        </p:spPr>
        <p:txBody>
          <a:bodyPr wrap="square" lIns="0" tIns="0" rIns="0" bIns="63054" rtlCol="0" anchor="t"/>
          <a:lstStyle/>
          <a:p>
            <a:pPr algn="l" indent="0" marL="0">
              <a:lnSpc>
                <a:spcPts val="2224"/>
              </a:lnSpc>
              <a:spcAft>
                <a:spcPts val="496"/>
              </a:spcAft>
              <a:buNone/>
            </a:pPr>
            <a:r>
              <a:rPr lang="en-US" sz="1390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个人就业岗位检索与匹配报告</a:t>
            </a:r>
            <a:endParaRPr lang="en-US" sz="1390" dirty="0"/>
          </a:p>
        </p:txBody>
      </p:sp>
      <p:sp>
        <p:nvSpPr>
          <p:cNvPr id="4" name="Text 2"/>
          <p:cNvSpPr/>
          <p:nvPr/>
        </p:nvSpPr>
        <p:spPr>
          <a:xfrm>
            <a:off x="630543" y="805814"/>
            <a:ext cx="6809865" cy="753893"/>
          </a:xfrm>
          <a:prstGeom prst="roundRect">
            <a:avLst>
              <a:gd name="adj" fmla="val 41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43" y="805814"/>
            <a:ext cx="6946062" cy="753893"/>
          </a:xfrm>
          <a:prstGeom prst="rect">
            <a:avLst/>
          </a:prstGeom>
          <a:noFill/>
          <a:ln/>
        </p:spPr>
        <p:txBody>
          <a:bodyPr wrap="square" lIns="94581" tIns="94581" rIns="94581" bIns="94581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简历来源：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个人就业/学生简历.docx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报告日期：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95" dirty="0"/>
          </a:p>
          <a:p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112"/>
              </a:lnSpc>
              <a:buNone/>
            </a:pPr>
            <a:r>
              <a:rPr lang="en-US" sz="695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695" dirty="0"/>
          </a:p>
        </p:txBody>
      </p:sp>
      <p:sp>
        <p:nvSpPr>
          <p:cNvPr id="6" name="Text 4"/>
          <p:cNvSpPr/>
          <p:nvPr/>
        </p:nvSpPr>
        <p:spPr>
          <a:xfrm>
            <a:off x="630543" y="181192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一、结论摘要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788179" y="2166211"/>
            <a:ext cx="425968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推荐岗位数量：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从Boss直聘和智联招聘共检索到35个岗位，其中高匹配度（≥80分）岗位8个</a:t>
            </a:r>
            <a:endParaRPr lang="en-US" sz="794" dirty="0"/>
          </a:p>
        </p:txBody>
      </p:sp>
      <p:sp>
        <p:nvSpPr>
          <p:cNvPr id="8" name="Text 6"/>
          <p:cNvSpPr/>
          <p:nvPr/>
        </p:nvSpPr>
        <p:spPr>
          <a:xfrm>
            <a:off x="788179" y="2390645"/>
            <a:ext cx="297579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高匹配（≥80）岗位：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8个，主要为校招、实习、经验不限类岗位</a:t>
            </a:r>
            <a:endParaRPr lang="en-US" sz="794" dirty="0"/>
          </a:p>
        </p:txBody>
      </p:sp>
      <p:sp>
        <p:nvSpPr>
          <p:cNvPr id="9" name="Text 7"/>
          <p:cNvSpPr/>
          <p:nvPr/>
        </p:nvSpPr>
        <p:spPr>
          <a:xfrm>
            <a:off x="788179" y="2615079"/>
            <a:ext cx="8232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主要短板与建议：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10" name="Text 8"/>
          <p:cNvSpPr/>
          <p:nvPr/>
        </p:nvSpPr>
        <p:spPr>
          <a:xfrm>
            <a:off x="945815" y="2776458"/>
            <a:ext cx="263502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大部分岗位要求1-3年及以上经验，应届生可选择范围有限</a:t>
            </a:r>
            <a:endParaRPr lang="en-US" sz="794" dirty="0"/>
          </a:p>
        </p:txBody>
      </p:sp>
      <p:sp>
        <p:nvSpPr>
          <p:cNvPr id="11" name="Text 9"/>
          <p:cNvSpPr/>
          <p:nvPr/>
        </p:nvSpPr>
        <p:spPr>
          <a:xfrm>
            <a:off x="945815" y="3000892"/>
            <a:ext cx="36459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缺少TypeScript、Node.js深度使用经验、React Native、前端工程化等高级技能</a:t>
            </a:r>
            <a:endParaRPr lang="en-US" sz="794" dirty="0"/>
          </a:p>
        </p:txBody>
      </p:sp>
      <p:sp>
        <p:nvSpPr>
          <p:cNvPr id="12" name="Text 10"/>
          <p:cNvSpPr/>
          <p:nvPr/>
        </p:nvSpPr>
        <p:spPr>
          <a:xfrm>
            <a:off x="945815" y="3225326"/>
            <a:ext cx="29839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建议优先投递校招岗位，同时补齐前端工程化、TypeScript等技能</a:t>
            </a:r>
            <a:endParaRPr lang="en-US" sz="794" dirty="0"/>
          </a:p>
        </p:txBody>
      </p:sp>
      <p:sp>
        <p:nvSpPr>
          <p:cNvPr id="13" name="Text 11"/>
          <p:cNvSpPr/>
          <p:nvPr/>
        </p:nvSpPr>
        <p:spPr>
          <a:xfrm>
            <a:off x="630543" y="363261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二、候选人画像摘要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30543" y="4043653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基本信息</a:t>
            </a:r>
            <a:endParaRPr lang="en-US" sz="894" dirty="0"/>
          </a:p>
        </p:txBody>
      </p:sp>
      <p:sp>
        <p:nvSpPr>
          <p:cNvPr id="15" name="Text 13"/>
          <p:cNvSpPr/>
          <p:nvPr/>
        </p:nvSpPr>
        <p:spPr>
          <a:xfrm>
            <a:off x="788179" y="4326116"/>
            <a:ext cx="54879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姓名：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张明</a:t>
            </a:r>
            <a:endParaRPr lang="en-US" sz="794" dirty="0"/>
          </a:p>
        </p:txBody>
      </p:sp>
      <p:sp>
        <p:nvSpPr>
          <p:cNvPr id="16" name="Text 14"/>
          <p:cNvSpPr/>
          <p:nvPr/>
        </p:nvSpPr>
        <p:spPr>
          <a:xfrm>
            <a:off x="788179" y="4550550"/>
            <a:ext cx="169782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学校：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温州大学 · 计算机科学与技术</a:t>
            </a:r>
            <a:endParaRPr lang="en-US" sz="794" dirty="0"/>
          </a:p>
        </p:txBody>
      </p:sp>
      <p:sp>
        <p:nvSpPr>
          <p:cNvPr id="17" name="Text 15"/>
          <p:cNvSpPr/>
          <p:nvPr/>
        </p:nvSpPr>
        <p:spPr>
          <a:xfrm>
            <a:off x="788179" y="4774984"/>
            <a:ext cx="16807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工学学士（2026年6月毕业）</a:t>
            </a:r>
            <a:endParaRPr lang="en-US" sz="794" dirty="0"/>
          </a:p>
        </p:txBody>
      </p:sp>
      <p:sp>
        <p:nvSpPr>
          <p:cNvPr id="18" name="Text 16"/>
          <p:cNvSpPr/>
          <p:nvPr/>
        </p:nvSpPr>
        <p:spPr>
          <a:xfrm>
            <a:off x="788179" y="4999418"/>
            <a:ext cx="106331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求职状态：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应届毕业生</a:t>
            </a:r>
            <a:endParaRPr lang="en-US" sz="794" dirty="0"/>
          </a:p>
        </p:txBody>
      </p:sp>
      <p:sp>
        <p:nvSpPr>
          <p:cNvPr id="19" name="Text 17"/>
          <p:cNvSpPr/>
          <p:nvPr/>
        </p:nvSpPr>
        <p:spPr>
          <a:xfrm>
            <a:off x="630543" y="5343655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核心技能</a:t>
            </a:r>
            <a:endParaRPr lang="en-US" sz="894" dirty="0"/>
          </a:p>
        </p:txBody>
      </p:sp>
      <p:sp>
        <p:nvSpPr>
          <p:cNvPr id="20" name="Text 18"/>
          <p:cNvSpPr/>
          <p:nvPr/>
        </p:nvSpPr>
        <p:spPr>
          <a:xfrm>
            <a:off x="788179" y="5626119"/>
            <a:ext cx="43131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编程语言：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Java（面向对象/集合框架）、Python（数据处理）、JavaScript（基础+ES6）、C++</a:t>
            </a:r>
            <a:endParaRPr lang="en-US" sz="794" dirty="0"/>
          </a:p>
        </p:txBody>
      </p:sp>
      <p:sp>
        <p:nvSpPr>
          <p:cNvPr id="21" name="Text 19"/>
          <p:cNvSpPr/>
          <p:nvPr/>
        </p:nvSpPr>
        <p:spPr>
          <a:xfrm>
            <a:off x="788179" y="5850553"/>
            <a:ext cx="41093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Web开发：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HTML/CSS/JavaScript、React（基础）、Spring Boot（基础）、RESTful API</a:t>
            </a:r>
            <a:endParaRPr lang="en-US" sz="794" dirty="0"/>
          </a:p>
        </p:txBody>
      </p:sp>
      <p:sp>
        <p:nvSpPr>
          <p:cNvPr id="22" name="Text 20"/>
          <p:cNvSpPr/>
          <p:nvPr/>
        </p:nvSpPr>
        <p:spPr>
          <a:xfrm>
            <a:off x="788179" y="6074987"/>
            <a:ext cx="260195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数据库：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MySQL（增删改查/优化）、MongoDB（基础）</a:t>
            </a:r>
            <a:endParaRPr lang="en-US" sz="794" dirty="0"/>
          </a:p>
        </p:txBody>
      </p:sp>
      <p:sp>
        <p:nvSpPr>
          <p:cNvPr id="23" name="Text 21"/>
          <p:cNvSpPr/>
          <p:nvPr/>
        </p:nvSpPr>
        <p:spPr>
          <a:xfrm>
            <a:off x="788179" y="6299421"/>
            <a:ext cx="19235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工程工具：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Git、敏捷开发、软件测试基础</a:t>
            </a:r>
            <a:endParaRPr lang="en-US" sz="794" dirty="0"/>
          </a:p>
        </p:txBody>
      </p:sp>
      <p:sp>
        <p:nvSpPr>
          <p:cNvPr id="24" name="Text 22"/>
          <p:cNvSpPr/>
          <p:nvPr/>
        </p:nvSpPr>
        <p:spPr>
          <a:xfrm>
            <a:off x="788179" y="6523854"/>
            <a:ext cx="270978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其他：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微信小程序开发（基础）、云计算/深度学习（概念）</a:t>
            </a:r>
            <a:endParaRPr lang="en-US" sz="794" dirty="0"/>
          </a:p>
        </p:txBody>
      </p:sp>
      <p:sp>
        <p:nvSpPr>
          <p:cNvPr id="25" name="Text 23"/>
          <p:cNvSpPr/>
          <p:nvPr/>
        </p:nvSpPr>
        <p:spPr>
          <a:xfrm>
            <a:off x="630543" y="686809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项目/实习亮点</a:t>
            </a:r>
            <a:endParaRPr lang="en-US" sz="894" dirty="0"/>
          </a:p>
        </p:txBody>
      </p:sp>
      <p:sp>
        <p:nvSpPr>
          <p:cNvPr id="26" name="Text 24"/>
          <p:cNvSpPr/>
          <p:nvPr/>
        </p:nvSpPr>
        <p:spPr>
          <a:xfrm>
            <a:off x="788179" y="7150555"/>
            <a:ext cx="32371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电商平台原型开发：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Spring Boot + React + MySQL，实践前后端交互</a:t>
            </a:r>
            <a:endParaRPr lang="en-US" sz="794" dirty="0"/>
          </a:p>
        </p:txBody>
      </p:sp>
      <p:sp>
        <p:nvSpPr>
          <p:cNvPr id="27" name="Text 25"/>
          <p:cNvSpPr/>
          <p:nvPr/>
        </p:nvSpPr>
        <p:spPr>
          <a:xfrm>
            <a:off x="788179" y="7374989"/>
            <a:ext cx="229817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微信校园资讯小程序：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独立开发，掌握移动端开发</a:t>
            </a:r>
            <a:endParaRPr lang="en-US" sz="794" dirty="0"/>
          </a:p>
        </p:txBody>
      </p:sp>
      <p:sp>
        <p:nvSpPr>
          <p:cNvPr id="28" name="Text 26"/>
          <p:cNvSpPr/>
          <p:nvPr/>
        </p:nvSpPr>
        <p:spPr>
          <a:xfrm>
            <a:off x="788179" y="7599423"/>
            <a:ext cx="209236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校园二手平台：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核心成员，获校级大赛入围奖</a:t>
            </a:r>
            <a:endParaRPr lang="en-US" sz="794" dirty="0"/>
          </a:p>
        </p:txBody>
      </p:sp>
      <p:sp>
        <p:nvSpPr>
          <p:cNvPr id="29" name="Text 27"/>
          <p:cNvSpPr/>
          <p:nvPr/>
        </p:nvSpPr>
        <p:spPr>
          <a:xfrm>
            <a:off x="788179" y="7823857"/>
            <a:ext cx="452046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XX软件公司开发实习生（2025.07-2025.09），维护OA系统，学习企业级Java开发规范</a:t>
            </a:r>
            <a:endParaRPr lang="en-US" sz="794" dirty="0"/>
          </a:p>
        </p:txBody>
      </p:sp>
      <p:sp>
        <p:nvSpPr>
          <p:cNvPr id="30" name="Text 28"/>
          <p:cNvSpPr/>
          <p:nvPr/>
        </p:nvSpPr>
        <p:spPr>
          <a:xfrm>
            <a:off x="630543" y="8168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目标岗位与城市偏好</a:t>
            </a:r>
            <a:endParaRPr lang="en-US" sz="894" dirty="0"/>
          </a:p>
        </p:txBody>
      </p:sp>
      <p:sp>
        <p:nvSpPr>
          <p:cNvPr id="31" name="Text 29"/>
          <p:cNvSpPr/>
          <p:nvPr/>
        </p:nvSpPr>
        <p:spPr>
          <a:xfrm>
            <a:off x="788179" y="8450557"/>
            <a:ext cx="10884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目标岗位：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WEB工程师</a:t>
            </a:r>
            <a:endParaRPr lang="en-US" sz="794" dirty="0"/>
          </a:p>
        </p:txBody>
      </p:sp>
      <p:sp>
        <p:nvSpPr>
          <p:cNvPr id="32" name="Text 30"/>
          <p:cNvSpPr/>
          <p:nvPr/>
        </p:nvSpPr>
        <p:spPr>
          <a:xfrm>
            <a:off x="788179" y="8674991"/>
            <a:ext cx="75460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目标城市：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杭州</a:t>
            </a:r>
            <a:endParaRPr lang="en-US" sz="794" dirty="0"/>
          </a:p>
        </p:txBody>
      </p:sp>
      <p:sp>
        <p:nvSpPr>
          <p:cNvPr id="33" name="Text 31"/>
          <p:cNvSpPr/>
          <p:nvPr/>
        </p:nvSpPr>
        <p:spPr>
          <a:xfrm>
            <a:off x="788179" y="8899425"/>
            <a:ext cx="157783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薪资偏好：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应届生标准（未明确）</a:t>
            </a:r>
            <a:endParaRPr lang="en-US" sz="794" dirty="0"/>
          </a:p>
        </p:txBody>
      </p:sp>
      <p:sp>
        <p:nvSpPr>
          <p:cNvPr id="34" name="Text 32"/>
          <p:cNvSpPr/>
          <p:nvPr/>
        </p:nvSpPr>
        <p:spPr>
          <a:xfrm>
            <a:off x="630543" y="9306717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三、岗位检索概况</a:t>
            </a:r>
            <a:endParaRPr lang="en-US" sz="1092" dirty="0"/>
          </a:p>
        </p:txBody>
      </p:sp>
      <p:sp>
        <p:nvSpPr>
          <p:cNvPr id="35" name="Text 33"/>
          <p:cNvSpPr/>
          <p:nvPr/>
        </p:nvSpPr>
        <p:spPr>
          <a:xfrm>
            <a:off x="630543" y="971775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检索范围</a:t>
            </a:r>
            <a:endParaRPr lang="en-US" sz="894" dirty="0"/>
          </a:p>
        </p:txBody>
      </p:sp>
      <p:sp>
        <p:nvSpPr>
          <p:cNvPr id="36" name="Text 34"/>
          <p:cNvSpPr/>
          <p:nvPr/>
        </p:nvSpPr>
        <p:spPr>
          <a:xfrm>
            <a:off x="788179" y="10000216"/>
            <a:ext cx="9956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19个岗位</a:t>
            </a:r>
            <a:endParaRPr lang="en-US" sz="794" dirty="0"/>
          </a:p>
        </p:txBody>
      </p:sp>
      <p:sp>
        <p:nvSpPr>
          <p:cNvPr id="37" name="Text 35"/>
          <p:cNvSpPr/>
          <p:nvPr/>
        </p:nvSpPr>
        <p:spPr>
          <a:xfrm>
            <a:off x="788179" y="10224649"/>
            <a:ext cx="188675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16个岗位（含少量猎聘转岗）</a:t>
            </a:r>
            <a:endParaRPr lang="en-US" sz="794" dirty="0"/>
          </a:p>
        </p:txBody>
      </p:sp>
      <p:sp>
        <p:nvSpPr>
          <p:cNvPr id="38" name="Text 36"/>
          <p:cNvSpPr/>
          <p:nvPr/>
        </p:nvSpPr>
        <p:spPr>
          <a:xfrm>
            <a:off x="788179" y="10449083"/>
            <a:ext cx="61742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检索关键词：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39" name="Text 37"/>
          <p:cNvSpPr/>
          <p:nvPr/>
        </p:nvSpPr>
        <p:spPr>
          <a:xfrm>
            <a:off x="945815" y="10610463"/>
            <a:ext cx="235092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Boss直聘"</a:t>
            </a:r>
            <a:endParaRPr lang="en-US" sz="794" dirty="0"/>
          </a:p>
        </p:txBody>
      </p:sp>
      <p:sp>
        <p:nvSpPr>
          <p:cNvPr id="40" name="Text 38"/>
          <p:cNvSpPr/>
          <p:nvPr/>
        </p:nvSpPr>
        <p:spPr>
          <a:xfrm>
            <a:off x="945815" y="10834897"/>
            <a:ext cx="23227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"杭州 WEB工程师 前端开发 Java React 智联招聘"</a:t>
            </a:r>
            <a:endParaRPr lang="en-US" sz="794" dirty="0"/>
          </a:p>
        </p:txBody>
      </p:sp>
      <p:sp>
        <p:nvSpPr>
          <p:cNvPr id="41" name="Text 39"/>
          <p:cNvSpPr/>
          <p:nvPr/>
        </p:nvSpPr>
        <p:spPr>
          <a:xfrm>
            <a:off x="788179" y="11059331"/>
            <a:ext cx="376214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筛选条件：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地区=杭州，岗位=WEB前端/前端开发，技能=React/Java/JavaScript</a:t>
            </a:r>
            <a:endParaRPr lang="en-US" sz="794" dirty="0"/>
          </a:p>
        </p:txBody>
      </p:sp>
      <p:sp>
        <p:nvSpPr>
          <p:cNvPr id="42" name="Text 40"/>
          <p:cNvSpPr/>
          <p:nvPr/>
        </p:nvSpPr>
        <p:spPr>
          <a:xfrm>
            <a:off x="630543" y="11403568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岗位特点</a:t>
            </a:r>
            <a:endParaRPr lang="en-US" sz="894" dirty="0"/>
          </a:p>
        </p:txBody>
      </p:sp>
      <p:sp>
        <p:nvSpPr>
          <p:cNvPr id="43" name="Text 41"/>
          <p:cNvSpPr/>
          <p:nvPr/>
        </p:nvSpPr>
        <p:spPr>
          <a:xfrm>
            <a:off x="788179" y="11686031"/>
            <a:ext cx="332088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公司类型：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大厂（阿里、网易、蚂蚁、海康威视、天猫）+ 中型科技公司</a:t>
            </a:r>
            <a:endParaRPr lang="en-US" sz="794" dirty="0"/>
          </a:p>
        </p:txBody>
      </p:sp>
      <p:sp>
        <p:nvSpPr>
          <p:cNvPr id="44" name="Text 42"/>
          <p:cNvSpPr/>
          <p:nvPr/>
        </p:nvSpPr>
        <p:spPr>
          <a:xfrm>
            <a:off x="788179" y="11910465"/>
            <a:ext cx="526391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应届生/校招（2个）、经验不限（3个）、1年以内（1个）、1-3年（8个）、3-5年（13个）、5-10年（6个）</a:t>
            </a:r>
            <a:endParaRPr lang="en-US" sz="794" dirty="0"/>
          </a:p>
        </p:txBody>
      </p:sp>
      <p:sp>
        <p:nvSpPr>
          <p:cNvPr id="45" name="Text 43"/>
          <p:cNvSpPr/>
          <p:nvPr/>
        </p:nvSpPr>
        <p:spPr>
          <a:xfrm>
            <a:off x="788179" y="12134899"/>
            <a:ext cx="51474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薪资范围：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5k-8k（1个）、8k-11k（1个）、11k-20k（3个）、12k-18k（3个）、15k-25k（2个）、18k-35k（3个）</a:t>
            </a:r>
            <a:endParaRPr lang="en-US" sz="794" dirty="0"/>
          </a:p>
        </p:txBody>
      </p:sp>
      <p:sp>
        <p:nvSpPr>
          <p:cNvPr id="46" name="Text 44"/>
          <p:cNvSpPr/>
          <p:nvPr/>
        </p:nvSpPr>
        <p:spPr>
          <a:xfrm>
            <a:off x="788179" y="12359333"/>
            <a:ext cx="335826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学历要求：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本科为主（25个），大专（3个），硕士（1个），未说明（6个）</a:t>
            </a:r>
            <a:endParaRPr lang="en-US" sz="794" dirty="0"/>
          </a:p>
        </p:txBody>
      </p:sp>
      <p:sp>
        <p:nvSpPr>
          <p:cNvPr id="47" name="Text 45"/>
          <p:cNvSpPr/>
          <p:nvPr/>
        </p:nvSpPr>
        <p:spPr>
          <a:xfrm>
            <a:off x="788179" y="12583767"/>
            <a:ext cx="46856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主要技术栈：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React、Vue、JavaScript、HTML/CSS、Node.js、Java、TypeScript、前端工程化工具</a:t>
            </a:r>
            <a:endParaRPr lang="en-US" sz="794" dirty="0"/>
          </a:p>
        </p:txBody>
      </p:sp>
      <p:sp>
        <p:nvSpPr>
          <p:cNvPr id="48" name="Text 46"/>
          <p:cNvSpPr/>
          <p:nvPr/>
        </p:nvSpPr>
        <p:spPr>
          <a:xfrm>
            <a:off x="630543" y="12991058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四、岗位匹配与推荐</a:t>
            </a:r>
            <a:endParaRPr lang="en-US" sz="1092" dirty="0"/>
          </a:p>
        </p:txBody>
      </p:sp>
      <p:sp>
        <p:nvSpPr>
          <p:cNvPr id="49" name="Text 47"/>
          <p:cNvSpPr/>
          <p:nvPr/>
        </p:nvSpPr>
        <p:spPr>
          <a:xfrm>
            <a:off x="630543" y="1340209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4.1 推荐岗位清单（Top 10）</a:t>
            </a:r>
            <a:endParaRPr lang="en-US" sz="894" dirty="0"/>
          </a:p>
        </p:txBody>
      </p:sp>
      <p:sp>
        <p:nvSpPr>
          <p:cNvPr id="50" name="Text 48"/>
          <p:cNvSpPr/>
          <p:nvPr/>
        </p:nvSpPr>
        <p:spPr>
          <a:xfrm>
            <a:off x="633696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33696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08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96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8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96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排名</a:t>
            </a:r>
            <a:endParaRPr lang="en-US" sz="645" dirty="0"/>
          </a:p>
        </p:txBody>
      </p:sp>
      <p:sp>
        <p:nvSpPr>
          <p:cNvPr id="56" name="Text 54"/>
          <p:cNvSpPr/>
          <p:nvPr/>
        </p:nvSpPr>
        <p:spPr>
          <a:xfrm>
            <a:off x="993992" y="13712932"/>
            <a:ext cx="1707589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993992" y="1371608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9842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3992" y="1399854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714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992" y="1371293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公司</a:t>
            </a:r>
            <a:endParaRPr lang="en-US" sz="645" dirty="0"/>
          </a:p>
        </p:txBody>
      </p:sp>
      <p:sp>
        <p:nvSpPr>
          <p:cNvPr id="62" name="Text 60"/>
          <p:cNvSpPr/>
          <p:nvPr/>
        </p:nvSpPr>
        <p:spPr>
          <a:xfrm>
            <a:off x="2701581" y="13712932"/>
            <a:ext cx="158591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2701581" y="1371608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843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1581" y="1399854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47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01581" y="1371293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岗位</a:t>
            </a:r>
            <a:endParaRPr lang="en-US" sz="645" dirty="0"/>
          </a:p>
        </p:txBody>
      </p:sp>
      <p:sp>
        <p:nvSpPr>
          <p:cNvPr id="68" name="Text 66"/>
          <p:cNvSpPr/>
          <p:nvPr/>
        </p:nvSpPr>
        <p:spPr>
          <a:xfrm>
            <a:off x="4287496" y="13712932"/>
            <a:ext cx="731331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287496" y="1371608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1567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87496" y="1399854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064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87496" y="1371293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薪资</a:t>
            </a:r>
            <a:endParaRPr lang="en-US" sz="645" dirty="0"/>
          </a:p>
        </p:txBody>
      </p:sp>
      <p:sp>
        <p:nvSpPr>
          <p:cNvPr id="74" name="Text 72"/>
          <p:cNvSpPr/>
          <p:nvPr/>
        </p:nvSpPr>
        <p:spPr>
          <a:xfrm>
            <a:off x="5018827" y="13712932"/>
            <a:ext cx="635863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5018827" y="1371608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51538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18827" y="1399854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198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18827" y="1371293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</a:t>
            </a:r>
            <a:endParaRPr lang="en-US" sz="645" dirty="0"/>
          </a:p>
        </p:txBody>
      </p:sp>
      <p:sp>
        <p:nvSpPr>
          <p:cNvPr id="80" name="Text 78"/>
          <p:cNvSpPr/>
          <p:nvPr/>
        </p:nvSpPr>
        <p:spPr>
          <a:xfrm>
            <a:off x="5654690" y="13712932"/>
            <a:ext cx="360296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5654690" y="1371608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1834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54690" y="1399854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5784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54690" y="1371293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学历</a:t>
            </a:r>
            <a:endParaRPr lang="en-US" sz="645" dirty="0"/>
          </a:p>
        </p:txBody>
      </p:sp>
      <p:sp>
        <p:nvSpPr>
          <p:cNvPr id="86" name="Text 84"/>
          <p:cNvSpPr/>
          <p:nvPr/>
        </p:nvSpPr>
        <p:spPr>
          <a:xfrm>
            <a:off x="6014986" y="13712932"/>
            <a:ext cx="609164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6014986" y="1371608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0997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14986" y="1399854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18139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14986" y="1371293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平台</a:t>
            </a:r>
            <a:endParaRPr lang="en-US" sz="645" dirty="0"/>
          </a:p>
        </p:txBody>
      </p:sp>
      <p:sp>
        <p:nvSpPr>
          <p:cNvPr id="92" name="Text 90"/>
          <p:cNvSpPr/>
          <p:nvPr/>
        </p:nvSpPr>
        <p:spPr>
          <a:xfrm>
            <a:off x="6624150" y="13712932"/>
            <a:ext cx="452218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Shape 91"/>
          <p:cNvSpPr/>
          <p:nvPr/>
        </p:nvSpPr>
        <p:spPr>
          <a:xfrm>
            <a:off x="6624150" y="1371608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73215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24150" y="1399854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27303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24150" y="1371293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匹配度</a:t>
            </a:r>
            <a:endParaRPr lang="en-US" sz="645" dirty="0"/>
          </a:p>
        </p:txBody>
      </p:sp>
      <p:sp>
        <p:nvSpPr>
          <p:cNvPr id="98" name="Text 96"/>
          <p:cNvSpPr/>
          <p:nvPr/>
        </p:nvSpPr>
        <p:spPr>
          <a:xfrm>
            <a:off x="7076368" y="13712932"/>
            <a:ext cx="360887" cy="28876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7076368" y="1371608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34102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76368" y="1399854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79520" y="1371293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76368" y="1371293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FFFFF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链接</a:t>
            </a:r>
            <a:endParaRPr lang="en-US" sz="645" dirty="0"/>
          </a:p>
        </p:txBody>
      </p:sp>
      <p:sp>
        <p:nvSpPr>
          <p:cNvPr id="104" name="Shape 102"/>
          <p:cNvSpPr/>
          <p:nvPr/>
        </p:nvSpPr>
        <p:spPr>
          <a:xfrm>
            <a:off x="633696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08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3696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68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3696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5" dirty="0"/>
          </a:p>
        </p:txBody>
      </p:sp>
      <p:sp>
        <p:nvSpPr>
          <p:cNvPr id="109" name="Shape 107"/>
          <p:cNvSpPr/>
          <p:nvPr/>
        </p:nvSpPr>
        <p:spPr>
          <a:xfrm>
            <a:off x="993992" y="1400485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9842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93992" y="1428731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714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3992" y="14001701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</a:t>
            </a:r>
            <a:endParaRPr lang="en-US" sz="645" dirty="0"/>
          </a:p>
        </p:txBody>
      </p:sp>
      <p:sp>
        <p:nvSpPr>
          <p:cNvPr id="114" name="Shape 112"/>
          <p:cNvSpPr/>
          <p:nvPr/>
        </p:nvSpPr>
        <p:spPr>
          <a:xfrm>
            <a:off x="2701581" y="1400485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843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01581" y="1428731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047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01581" y="14001701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研究院-Web前端开发工程师(校招)</a:t>
            </a:r>
            <a:endParaRPr lang="en-US" sz="645" dirty="0"/>
          </a:p>
        </p:txBody>
      </p:sp>
      <p:sp>
        <p:nvSpPr>
          <p:cNvPr id="119" name="Shape 117"/>
          <p:cNvSpPr/>
          <p:nvPr/>
        </p:nvSpPr>
        <p:spPr>
          <a:xfrm>
            <a:off x="4287496" y="1400485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1567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87496" y="1428731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9064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87496" y="14001701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124" name="Shape 122"/>
          <p:cNvSpPr/>
          <p:nvPr/>
        </p:nvSpPr>
        <p:spPr>
          <a:xfrm>
            <a:off x="5018827" y="1400485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51538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18827" y="1428731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02198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018827" y="14001701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校招应届生</a:t>
            </a:r>
            <a:endParaRPr lang="en-US" sz="645" dirty="0"/>
          </a:p>
        </p:txBody>
      </p:sp>
      <p:sp>
        <p:nvSpPr>
          <p:cNvPr id="129" name="Shape 127"/>
          <p:cNvSpPr/>
          <p:nvPr/>
        </p:nvSpPr>
        <p:spPr>
          <a:xfrm>
            <a:off x="5654690" y="1400485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1834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654690" y="1428731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65784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54690" y="14001701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34" name="Shape 132"/>
          <p:cNvSpPr/>
          <p:nvPr/>
        </p:nvSpPr>
        <p:spPr>
          <a:xfrm>
            <a:off x="6014986" y="1400485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620997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014986" y="1428731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018139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014986" y="14001701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39" name="Shape 137"/>
          <p:cNvSpPr/>
          <p:nvPr/>
        </p:nvSpPr>
        <p:spPr>
          <a:xfrm>
            <a:off x="6624150" y="1400485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73215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4150" y="1428731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27303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24150" y="14001701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92</a:t>
            </a:r>
            <a:endParaRPr lang="en-US" sz="645" dirty="0"/>
          </a:p>
        </p:txBody>
      </p:sp>
      <p:sp>
        <p:nvSpPr>
          <p:cNvPr id="144" name="Shape 142"/>
          <p:cNvSpPr/>
          <p:nvPr/>
        </p:nvSpPr>
        <p:spPr>
          <a:xfrm>
            <a:off x="7076368" y="1400485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34102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76368" y="1428731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79520" y="14001701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076368" y="14001701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149" name="Text 147"/>
          <p:cNvSpPr/>
          <p:nvPr/>
        </p:nvSpPr>
        <p:spPr>
          <a:xfrm>
            <a:off x="633696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Shape 148"/>
          <p:cNvSpPr/>
          <p:nvPr/>
        </p:nvSpPr>
        <p:spPr>
          <a:xfrm>
            <a:off x="633696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908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33696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368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33696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45" dirty="0"/>
          </a:p>
        </p:txBody>
      </p:sp>
      <p:sp>
        <p:nvSpPr>
          <p:cNvPr id="155" name="Text 153"/>
          <p:cNvSpPr/>
          <p:nvPr/>
        </p:nvSpPr>
        <p:spPr>
          <a:xfrm>
            <a:off x="993992" y="14290470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Shape 154"/>
          <p:cNvSpPr/>
          <p:nvPr/>
        </p:nvSpPr>
        <p:spPr>
          <a:xfrm>
            <a:off x="993992" y="1429362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9842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3992" y="1457608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714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93992" y="14290470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浙江天猫技术有限公司</a:t>
            </a:r>
            <a:endParaRPr lang="en-US" sz="645" dirty="0"/>
          </a:p>
        </p:txBody>
      </p:sp>
      <p:sp>
        <p:nvSpPr>
          <p:cNvPr id="161" name="Text 159"/>
          <p:cNvSpPr/>
          <p:nvPr/>
        </p:nvSpPr>
        <p:spPr>
          <a:xfrm>
            <a:off x="2701581" y="14290470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Shape 160"/>
          <p:cNvSpPr/>
          <p:nvPr/>
        </p:nvSpPr>
        <p:spPr>
          <a:xfrm>
            <a:off x="2701581" y="1429362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843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01581" y="1457608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047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01581" y="14290470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web前端开发工程师（实习）</a:t>
            </a:r>
            <a:endParaRPr lang="en-US" sz="645" dirty="0"/>
          </a:p>
        </p:txBody>
      </p:sp>
      <p:sp>
        <p:nvSpPr>
          <p:cNvPr id="167" name="Text 165"/>
          <p:cNvSpPr/>
          <p:nvPr/>
        </p:nvSpPr>
        <p:spPr>
          <a:xfrm>
            <a:off x="4287496" y="14290470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Shape 166"/>
          <p:cNvSpPr/>
          <p:nvPr/>
        </p:nvSpPr>
        <p:spPr>
          <a:xfrm>
            <a:off x="4287496" y="1429362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01567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87496" y="1457608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9064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287496" y="14290470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7.5k-8.8k/月</a:t>
            </a:r>
            <a:endParaRPr lang="en-US" sz="645" dirty="0"/>
          </a:p>
        </p:txBody>
      </p:sp>
      <p:sp>
        <p:nvSpPr>
          <p:cNvPr id="173" name="Text 171"/>
          <p:cNvSpPr/>
          <p:nvPr/>
        </p:nvSpPr>
        <p:spPr>
          <a:xfrm>
            <a:off x="5018827" y="14290470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Shape 172"/>
          <p:cNvSpPr/>
          <p:nvPr/>
        </p:nvSpPr>
        <p:spPr>
          <a:xfrm>
            <a:off x="5018827" y="1429362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51538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018827" y="1457608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2198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018827" y="14290470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</a:t>
            </a:r>
            <a:endParaRPr lang="en-US" sz="645" dirty="0"/>
          </a:p>
        </p:txBody>
      </p:sp>
      <p:sp>
        <p:nvSpPr>
          <p:cNvPr id="179" name="Text 177"/>
          <p:cNvSpPr/>
          <p:nvPr/>
        </p:nvSpPr>
        <p:spPr>
          <a:xfrm>
            <a:off x="5654690" y="14290470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Shape 178"/>
          <p:cNvSpPr/>
          <p:nvPr/>
        </p:nvSpPr>
        <p:spPr>
          <a:xfrm>
            <a:off x="5654690" y="1429362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11834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654690" y="1457608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65784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654690" y="14290470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185" name="Text 183"/>
          <p:cNvSpPr/>
          <p:nvPr/>
        </p:nvSpPr>
        <p:spPr>
          <a:xfrm>
            <a:off x="6014986" y="14290470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Shape 184"/>
          <p:cNvSpPr/>
          <p:nvPr/>
        </p:nvSpPr>
        <p:spPr>
          <a:xfrm>
            <a:off x="6014986" y="1429362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20997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014986" y="1457608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18139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014986" y="14290470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191" name="Text 189"/>
          <p:cNvSpPr/>
          <p:nvPr/>
        </p:nvSpPr>
        <p:spPr>
          <a:xfrm>
            <a:off x="6624150" y="14290470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6624150" y="1429362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073215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24150" y="1457608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27303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624150" y="14290470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90</a:t>
            </a:r>
            <a:endParaRPr lang="en-US" sz="645" dirty="0"/>
          </a:p>
        </p:txBody>
      </p:sp>
      <p:sp>
        <p:nvSpPr>
          <p:cNvPr id="197" name="Text 195"/>
          <p:cNvSpPr/>
          <p:nvPr/>
        </p:nvSpPr>
        <p:spPr>
          <a:xfrm>
            <a:off x="7076368" y="14290470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Shape 196"/>
          <p:cNvSpPr/>
          <p:nvPr/>
        </p:nvSpPr>
        <p:spPr>
          <a:xfrm>
            <a:off x="7076368" y="1429362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34102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76368" y="1457608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79520" y="14290470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076368" y="14290470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03" name="Shape 201"/>
          <p:cNvSpPr/>
          <p:nvPr/>
        </p:nvSpPr>
        <p:spPr>
          <a:xfrm>
            <a:off x="633696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08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33696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368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33696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45" dirty="0"/>
          </a:p>
        </p:txBody>
      </p:sp>
      <p:sp>
        <p:nvSpPr>
          <p:cNvPr id="208" name="Shape 206"/>
          <p:cNvSpPr/>
          <p:nvPr/>
        </p:nvSpPr>
        <p:spPr>
          <a:xfrm>
            <a:off x="993992" y="1458239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69842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93992" y="1486485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9714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93992" y="14579239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浙江数维科技有限公司</a:t>
            </a:r>
            <a:endParaRPr lang="en-US" sz="645" dirty="0"/>
          </a:p>
        </p:txBody>
      </p:sp>
      <p:sp>
        <p:nvSpPr>
          <p:cNvPr id="213" name="Shape 211"/>
          <p:cNvSpPr/>
          <p:nvPr/>
        </p:nvSpPr>
        <p:spPr>
          <a:xfrm>
            <a:off x="2701581" y="1458239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2843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701581" y="1486485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047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701581" y="14579239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前端开发工程师</a:t>
            </a:r>
            <a:endParaRPr lang="en-US" sz="645" dirty="0"/>
          </a:p>
        </p:txBody>
      </p:sp>
      <p:sp>
        <p:nvSpPr>
          <p:cNvPr id="218" name="Shape 216"/>
          <p:cNvSpPr/>
          <p:nvPr/>
        </p:nvSpPr>
        <p:spPr>
          <a:xfrm>
            <a:off x="4287496" y="1458239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01567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287496" y="1486485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9064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4287496" y="14579239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8k-11k/月</a:t>
            </a:r>
            <a:endParaRPr lang="en-US" sz="645" dirty="0"/>
          </a:p>
        </p:txBody>
      </p:sp>
      <p:sp>
        <p:nvSpPr>
          <p:cNvPr id="223" name="Shape 221"/>
          <p:cNvSpPr/>
          <p:nvPr/>
        </p:nvSpPr>
        <p:spPr>
          <a:xfrm>
            <a:off x="5018827" y="1458239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651538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018827" y="1486485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02198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018827" y="14579239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28" name="Shape 226"/>
          <p:cNvSpPr/>
          <p:nvPr/>
        </p:nvSpPr>
        <p:spPr>
          <a:xfrm>
            <a:off x="5654690" y="1458239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011834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654690" y="1486485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65784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654690" y="14579239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33" name="Shape 231"/>
          <p:cNvSpPr/>
          <p:nvPr/>
        </p:nvSpPr>
        <p:spPr>
          <a:xfrm>
            <a:off x="6014986" y="1458239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20997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014986" y="1486485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018139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014986" y="14579239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38" name="Shape 236"/>
          <p:cNvSpPr/>
          <p:nvPr/>
        </p:nvSpPr>
        <p:spPr>
          <a:xfrm>
            <a:off x="6624150" y="1458239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073215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24150" y="1486485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6627303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624150" y="14579239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88</a:t>
            </a:r>
            <a:endParaRPr lang="en-US" sz="645" dirty="0"/>
          </a:p>
        </p:txBody>
      </p:sp>
      <p:sp>
        <p:nvSpPr>
          <p:cNvPr id="243" name="Shape 241"/>
          <p:cNvSpPr/>
          <p:nvPr/>
        </p:nvSpPr>
        <p:spPr>
          <a:xfrm>
            <a:off x="7076368" y="1458239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434102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076368" y="1486485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079520" y="14579239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076368" y="14579239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248" name="Text 246"/>
          <p:cNvSpPr/>
          <p:nvPr/>
        </p:nvSpPr>
        <p:spPr>
          <a:xfrm>
            <a:off x="633696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9" name="Shape 247"/>
          <p:cNvSpPr/>
          <p:nvPr/>
        </p:nvSpPr>
        <p:spPr>
          <a:xfrm>
            <a:off x="633696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908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33696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368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33696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45" dirty="0"/>
          </a:p>
        </p:txBody>
      </p:sp>
      <p:sp>
        <p:nvSpPr>
          <p:cNvPr id="254" name="Text 252"/>
          <p:cNvSpPr/>
          <p:nvPr/>
        </p:nvSpPr>
        <p:spPr>
          <a:xfrm>
            <a:off x="993992" y="14868008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5" name="Shape 253"/>
          <p:cNvSpPr/>
          <p:nvPr/>
        </p:nvSpPr>
        <p:spPr>
          <a:xfrm>
            <a:off x="993992" y="1487116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69842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93992" y="15153624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714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93992" y="14868008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外企德科数字技术有限公司</a:t>
            </a:r>
            <a:endParaRPr lang="en-US" sz="645" dirty="0"/>
          </a:p>
        </p:txBody>
      </p:sp>
      <p:sp>
        <p:nvSpPr>
          <p:cNvPr id="260" name="Text 258"/>
          <p:cNvSpPr/>
          <p:nvPr/>
        </p:nvSpPr>
        <p:spPr>
          <a:xfrm>
            <a:off x="2701581" y="14868008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1" name="Shape 259"/>
          <p:cNvSpPr/>
          <p:nvPr/>
        </p:nvSpPr>
        <p:spPr>
          <a:xfrm>
            <a:off x="2701581" y="1487116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2843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701581" y="15153624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7047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2701581" y="14868008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软件研发工程师(前后端测试均有)</a:t>
            </a:r>
            <a:endParaRPr lang="en-US" sz="645" dirty="0"/>
          </a:p>
        </p:txBody>
      </p:sp>
      <p:sp>
        <p:nvSpPr>
          <p:cNvPr id="266" name="Text 264"/>
          <p:cNvSpPr/>
          <p:nvPr/>
        </p:nvSpPr>
        <p:spPr>
          <a:xfrm>
            <a:off x="4287496" y="14868008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7" name="Shape 265"/>
          <p:cNvSpPr/>
          <p:nvPr/>
        </p:nvSpPr>
        <p:spPr>
          <a:xfrm>
            <a:off x="4287496" y="1487116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01567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287496" y="15153624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29064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287496" y="14868008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18k-35k/月</a:t>
            </a:r>
            <a:endParaRPr lang="en-US" sz="645" dirty="0"/>
          </a:p>
        </p:txBody>
      </p:sp>
      <p:sp>
        <p:nvSpPr>
          <p:cNvPr id="272" name="Text 270"/>
          <p:cNvSpPr/>
          <p:nvPr/>
        </p:nvSpPr>
        <p:spPr>
          <a:xfrm>
            <a:off x="5018827" y="14868008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3" name="Shape 271"/>
          <p:cNvSpPr/>
          <p:nvPr/>
        </p:nvSpPr>
        <p:spPr>
          <a:xfrm>
            <a:off x="5018827" y="1487116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651538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018827" y="15153624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02198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018827" y="14868008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278" name="Text 276"/>
          <p:cNvSpPr/>
          <p:nvPr/>
        </p:nvSpPr>
        <p:spPr>
          <a:xfrm>
            <a:off x="5654690" y="14868008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9" name="Shape 277"/>
          <p:cNvSpPr/>
          <p:nvPr/>
        </p:nvSpPr>
        <p:spPr>
          <a:xfrm>
            <a:off x="5654690" y="1487116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011834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654690" y="15153624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65784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5654690" y="14868008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284" name="Text 282"/>
          <p:cNvSpPr/>
          <p:nvPr/>
        </p:nvSpPr>
        <p:spPr>
          <a:xfrm>
            <a:off x="6014986" y="14868008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5" name="Shape 283"/>
          <p:cNvSpPr/>
          <p:nvPr/>
        </p:nvSpPr>
        <p:spPr>
          <a:xfrm>
            <a:off x="6014986" y="1487116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620997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014986" y="15153624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018139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6014986" y="14868008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290" name="Text 288"/>
          <p:cNvSpPr/>
          <p:nvPr/>
        </p:nvSpPr>
        <p:spPr>
          <a:xfrm>
            <a:off x="6624150" y="14868008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1" name="Shape 289"/>
          <p:cNvSpPr/>
          <p:nvPr/>
        </p:nvSpPr>
        <p:spPr>
          <a:xfrm>
            <a:off x="6624150" y="1487116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073215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6624150" y="15153624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627303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6624150" y="14868008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645" dirty="0"/>
          </a:p>
        </p:txBody>
      </p:sp>
      <p:sp>
        <p:nvSpPr>
          <p:cNvPr id="296" name="Text 294"/>
          <p:cNvSpPr/>
          <p:nvPr/>
        </p:nvSpPr>
        <p:spPr>
          <a:xfrm>
            <a:off x="7076368" y="14868008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7" name="Shape 295"/>
          <p:cNvSpPr/>
          <p:nvPr/>
        </p:nvSpPr>
        <p:spPr>
          <a:xfrm>
            <a:off x="7076368" y="1487116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434102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076368" y="15153624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079520" y="14868008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7076368" y="14868008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02" name="Shape 300"/>
          <p:cNvSpPr/>
          <p:nvPr/>
        </p:nvSpPr>
        <p:spPr>
          <a:xfrm>
            <a:off x="633696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908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33696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368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633696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45" dirty="0"/>
          </a:p>
        </p:txBody>
      </p:sp>
      <p:sp>
        <p:nvSpPr>
          <p:cNvPr id="307" name="Shape 305"/>
          <p:cNvSpPr/>
          <p:nvPr/>
        </p:nvSpPr>
        <p:spPr>
          <a:xfrm>
            <a:off x="993992" y="1515992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69842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93992" y="15442393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9714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993992" y="15156777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杭州城市大脑有限公司</a:t>
            </a:r>
            <a:endParaRPr lang="en-US" sz="645" dirty="0"/>
          </a:p>
        </p:txBody>
      </p:sp>
      <p:sp>
        <p:nvSpPr>
          <p:cNvPr id="312" name="Shape 310"/>
          <p:cNvSpPr/>
          <p:nvPr/>
        </p:nvSpPr>
        <p:spPr>
          <a:xfrm>
            <a:off x="2701581" y="1515992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42843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701581" y="15442393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7047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2701581" y="15156777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初级前端开发工程师(react方向)</a:t>
            </a:r>
            <a:endParaRPr lang="en-US" sz="645" dirty="0"/>
          </a:p>
        </p:txBody>
      </p:sp>
      <p:sp>
        <p:nvSpPr>
          <p:cNvPr id="317" name="Shape 315"/>
          <p:cNvSpPr/>
          <p:nvPr/>
        </p:nvSpPr>
        <p:spPr>
          <a:xfrm>
            <a:off x="4287496" y="1515992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01567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287496" y="15442393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29064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4287496" y="15156777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322" name="Shape 320"/>
          <p:cNvSpPr/>
          <p:nvPr/>
        </p:nvSpPr>
        <p:spPr>
          <a:xfrm>
            <a:off x="5018827" y="1515992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651538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018827" y="15442393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02198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5018827" y="15156777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1年以内</a:t>
            </a:r>
            <a:endParaRPr lang="en-US" sz="645" dirty="0"/>
          </a:p>
        </p:txBody>
      </p:sp>
      <p:sp>
        <p:nvSpPr>
          <p:cNvPr id="327" name="Shape 325"/>
          <p:cNvSpPr/>
          <p:nvPr/>
        </p:nvSpPr>
        <p:spPr>
          <a:xfrm>
            <a:off x="5654690" y="1515992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011834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654690" y="15442393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65784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5654690" y="15156777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32" name="Shape 330"/>
          <p:cNvSpPr/>
          <p:nvPr/>
        </p:nvSpPr>
        <p:spPr>
          <a:xfrm>
            <a:off x="6014986" y="1515992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620997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014986" y="15442393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018139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6014986" y="15156777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337" name="Shape 335"/>
          <p:cNvSpPr/>
          <p:nvPr/>
        </p:nvSpPr>
        <p:spPr>
          <a:xfrm>
            <a:off x="6624150" y="1515992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7073215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624150" y="15442393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627303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6624150" y="15156777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27AE6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85</a:t>
            </a:r>
            <a:endParaRPr lang="en-US" sz="645" dirty="0"/>
          </a:p>
        </p:txBody>
      </p:sp>
      <p:sp>
        <p:nvSpPr>
          <p:cNvPr id="342" name="Shape 340"/>
          <p:cNvSpPr/>
          <p:nvPr/>
        </p:nvSpPr>
        <p:spPr>
          <a:xfrm>
            <a:off x="7076368" y="1515992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7434102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76368" y="15442393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079520" y="15156777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076368" y="15156777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347" name="Text 345"/>
          <p:cNvSpPr/>
          <p:nvPr/>
        </p:nvSpPr>
        <p:spPr>
          <a:xfrm>
            <a:off x="633696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8" name="Shape 346"/>
          <p:cNvSpPr/>
          <p:nvPr/>
        </p:nvSpPr>
        <p:spPr>
          <a:xfrm>
            <a:off x="633696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908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33696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368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633696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45" dirty="0"/>
          </a:p>
        </p:txBody>
      </p:sp>
      <p:sp>
        <p:nvSpPr>
          <p:cNvPr id="353" name="Text 351"/>
          <p:cNvSpPr/>
          <p:nvPr/>
        </p:nvSpPr>
        <p:spPr>
          <a:xfrm>
            <a:off x="993992" y="15445546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4" name="Shape 352"/>
          <p:cNvSpPr/>
          <p:nvPr/>
        </p:nvSpPr>
        <p:spPr>
          <a:xfrm>
            <a:off x="993992" y="1544869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69842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93992" y="15731162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9714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993992" y="15445546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</a:t>
            </a:r>
            <a:endParaRPr lang="en-US" sz="645" dirty="0"/>
          </a:p>
        </p:txBody>
      </p:sp>
      <p:sp>
        <p:nvSpPr>
          <p:cNvPr id="359" name="Text 357"/>
          <p:cNvSpPr/>
          <p:nvPr/>
        </p:nvSpPr>
        <p:spPr>
          <a:xfrm>
            <a:off x="2701581" y="15445546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0" name="Shape 358"/>
          <p:cNvSpPr/>
          <p:nvPr/>
        </p:nvSpPr>
        <p:spPr>
          <a:xfrm>
            <a:off x="2701581" y="1544869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2843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2701581" y="15731162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27047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2701581" y="15445546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WEB前端开发工程师(RD41)</a:t>
            </a:r>
            <a:endParaRPr lang="en-US" sz="645" dirty="0"/>
          </a:p>
        </p:txBody>
      </p:sp>
      <p:sp>
        <p:nvSpPr>
          <p:cNvPr id="365" name="Text 363"/>
          <p:cNvSpPr/>
          <p:nvPr/>
        </p:nvSpPr>
        <p:spPr>
          <a:xfrm>
            <a:off x="4287496" y="15445546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6" name="Shape 364"/>
          <p:cNvSpPr/>
          <p:nvPr/>
        </p:nvSpPr>
        <p:spPr>
          <a:xfrm>
            <a:off x="4287496" y="1544869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01567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4287496" y="15731162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429064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4287496" y="15445546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11k-20k/月</a:t>
            </a:r>
            <a:endParaRPr lang="en-US" sz="645" dirty="0"/>
          </a:p>
        </p:txBody>
      </p:sp>
      <p:sp>
        <p:nvSpPr>
          <p:cNvPr id="371" name="Text 369"/>
          <p:cNvSpPr/>
          <p:nvPr/>
        </p:nvSpPr>
        <p:spPr>
          <a:xfrm>
            <a:off x="5018827" y="15445546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2" name="Shape 370"/>
          <p:cNvSpPr/>
          <p:nvPr/>
        </p:nvSpPr>
        <p:spPr>
          <a:xfrm>
            <a:off x="5018827" y="1544869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651538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018827" y="15731162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02198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5018827" y="15445546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377" name="Text 375"/>
          <p:cNvSpPr/>
          <p:nvPr/>
        </p:nvSpPr>
        <p:spPr>
          <a:xfrm>
            <a:off x="5654690" y="15445546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8" name="Shape 376"/>
          <p:cNvSpPr/>
          <p:nvPr/>
        </p:nvSpPr>
        <p:spPr>
          <a:xfrm>
            <a:off x="5654690" y="1544869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011834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654690" y="15731162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65784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5654690" y="15445546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383" name="Text 381"/>
          <p:cNvSpPr/>
          <p:nvPr/>
        </p:nvSpPr>
        <p:spPr>
          <a:xfrm>
            <a:off x="6014986" y="15445546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4" name="Shape 382"/>
          <p:cNvSpPr/>
          <p:nvPr/>
        </p:nvSpPr>
        <p:spPr>
          <a:xfrm>
            <a:off x="6014986" y="1544869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620997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014986" y="15731162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018139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6014986" y="15445546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389" name="Text 387"/>
          <p:cNvSpPr/>
          <p:nvPr/>
        </p:nvSpPr>
        <p:spPr>
          <a:xfrm>
            <a:off x="6624150" y="15445546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0" name="Shape 388"/>
          <p:cNvSpPr/>
          <p:nvPr/>
        </p:nvSpPr>
        <p:spPr>
          <a:xfrm>
            <a:off x="6624150" y="1544869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073215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624150" y="15731162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627303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6624150" y="15445546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82</a:t>
            </a:r>
            <a:endParaRPr lang="en-US" sz="645" dirty="0"/>
          </a:p>
        </p:txBody>
      </p:sp>
      <p:sp>
        <p:nvSpPr>
          <p:cNvPr id="395" name="Text 393"/>
          <p:cNvSpPr/>
          <p:nvPr/>
        </p:nvSpPr>
        <p:spPr>
          <a:xfrm>
            <a:off x="7076368" y="15445546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6" name="Shape 394"/>
          <p:cNvSpPr/>
          <p:nvPr/>
        </p:nvSpPr>
        <p:spPr>
          <a:xfrm>
            <a:off x="7076368" y="1544869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434102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076368" y="15731162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079520" y="15445546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7076368" y="15445546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01" name="Shape 399"/>
          <p:cNvSpPr/>
          <p:nvPr/>
        </p:nvSpPr>
        <p:spPr>
          <a:xfrm>
            <a:off x="633696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908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633696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6368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5" name="Text 403"/>
          <p:cNvSpPr/>
          <p:nvPr/>
        </p:nvSpPr>
        <p:spPr>
          <a:xfrm>
            <a:off x="633696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5" dirty="0"/>
          </a:p>
        </p:txBody>
      </p:sp>
      <p:sp>
        <p:nvSpPr>
          <p:cNvPr id="406" name="Shape 404"/>
          <p:cNvSpPr/>
          <p:nvPr/>
        </p:nvSpPr>
        <p:spPr>
          <a:xfrm>
            <a:off x="993992" y="15737467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269842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993992" y="16019931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99714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993992" y="15734315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</a:t>
            </a:r>
            <a:endParaRPr lang="en-US" sz="645" dirty="0"/>
          </a:p>
        </p:txBody>
      </p:sp>
      <p:sp>
        <p:nvSpPr>
          <p:cNvPr id="411" name="Shape 409"/>
          <p:cNvSpPr/>
          <p:nvPr/>
        </p:nvSpPr>
        <p:spPr>
          <a:xfrm>
            <a:off x="2701581" y="15737467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2843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2701581" y="16019931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7047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2701581" y="15734315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Java开发</a:t>
            </a:r>
            <a:endParaRPr lang="en-US" sz="645" dirty="0"/>
          </a:p>
        </p:txBody>
      </p:sp>
      <p:sp>
        <p:nvSpPr>
          <p:cNvPr id="416" name="Shape 414"/>
          <p:cNvSpPr/>
          <p:nvPr/>
        </p:nvSpPr>
        <p:spPr>
          <a:xfrm>
            <a:off x="4287496" y="15737467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501567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4287496" y="16019931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429064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4287496" y="15734315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21" name="Shape 419"/>
          <p:cNvSpPr/>
          <p:nvPr/>
        </p:nvSpPr>
        <p:spPr>
          <a:xfrm>
            <a:off x="5018827" y="15737467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5651538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018827" y="16019931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502198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5" name="Text 423"/>
          <p:cNvSpPr/>
          <p:nvPr/>
        </p:nvSpPr>
        <p:spPr>
          <a:xfrm>
            <a:off x="5018827" y="15734315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26" name="Shape 424"/>
          <p:cNvSpPr/>
          <p:nvPr/>
        </p:nvSpPr>
        <p:spPr>
          <a:xfrm>
            <a:off x="5654690" y="15737467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6011834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654690" y="16019931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565784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5654690" y="15734315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31" name="Shape 429"/>
          <p:cNvSpPr/>
          <p:nvPr/>
        </p:nvSpPr>
        <p:spPr>
          <a:xfrm>
            <a:off x="6014986" y="15737467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620997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6014986" y="16019931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018139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6014986" y="15734315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</a:t>
            </a:r>
            <a:endParaRPr lang="en-US" sz="645" dirty="0"/>
          </a:p>
        </p:txBody>
      </p:sp>
      <p:sp>
        <p:nvSpPr>
          <p:cNvPr id="436" name="Shape 434"/>
          <p:cNvSpPr/>
          <p:nvPr/>
        </p:nvSpPr>
        <p:spPr>
          <a:xfrm>
            <a:off x="6624150" y="15737467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073215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624150" y="16019931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627303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6624150" y="15734315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645" dirty="0"/>
          </a:p>
        </p:txBody>
      </p:sp>
      <p:sp>
        <p:nvSpPr>
          <p:cNvPr id="441" name="Shape 439"/>
          <p:cNvSpPr/>
          <p:nvPr/>
        </p:nvSpPr>
        <p:spPr>
          <a:xfrm>
            <a:off x="7076368" y="15737467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434102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076368" y="16019931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079520" y="15734315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5" name="Text 443"/>
          <p:cNvSpPr/>
          <p:nvPr/>
        </p:nvSpPr>
        <p:spPr>
          <a:xfrm>
            <a:off x="7076368" y="15734315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446" name="Text 444"/>
          <p:cNvSpPr/>
          <p:nvPr/>
        </p:nvSpPr>
        <p:spPr>
          <a:xfrm>
            <a:off x="633696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7" name="Shape 445"/>
          <p:cNvSpPr/>
          <p:nvPr/>
        </p:nvSpPr>
        <p:spPr>
          <a:xfrm>
            <a:off x="633696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908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633696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6368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1" name="Text 449"/>
          <p:cNvSpPr/>
          <p:nvPr/>
        </p:nvSpPr>
        <p:spPr>
          <a:xfrm>
            <a:off x="633696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5" dirty="0"/>
          </a:p>
        </p:txBody>
      </p:sp>
      <p:sp>
        <p:nvSpPr>
          <p:cNvPr id="452" name="Text 450"/>
          <p:cNvSpPr/>
          <p:nvPr/>
        </p:nvSpPr>
        <p:spPr>
          <a:xfrm>
            <a:off x="993992" y="16023084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3" name="Shape 451"/>
          <p:cNvSpPr/>
          <p:nvPr/>
        </p:nvSpPr>
        <p:spPr>
          <a:xfrm>
            <a:off x="993992" y="1602623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269842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93992" y="16308700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99714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57" name="Text 455"/>
          <p:cNvSpPr/>
          <p:nvPr/>
        </p:nvSpPr>
        <p:spPr>
          <a:xfrm>
            <a:off x="993992" y="16023084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</a:t>
            </a:r>
            <a:endParaRPr lang="en-US" sz="645" dirty="0"/>
          </a:p>
        </p:txBody>
      </p:sp>
      <p:sp>
        <p:nvSpPr>
          <p:cNvPr id="458" name="Text 456"/>
          <p:cNvSpPr/>
          <p:nvPr/>
        </p:nvSpPr>
        <p:spPr>
          <a:xfrm>
            <a:off x="2701581" y="16023084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9" name="Shape 457"/>
          <p:cNvSpPr/>
          <p:nvPr/>
        </p:nvSpPr>
        <p:spPr>
          <a:xfrm>
            <a:off x="2701581" y="1602623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42843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701581" y="16308700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7047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3" name="Text 461"/>
          <p:cNvSpPr/>
          <p:nvPr/>
        </p:nvSpPr>
        <p:spPr>
          <a:xfrm>
            <a:off x="2701581" y="16023084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464" name="Text 462"/>
          <p:cNvSpPr/>
          <p:nvPr/>
        </p:nvSpPr>
        <p:spPr>
          <a:xfrm>
            <a:off x="4287496" y="16023084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5" name="Shape 463"/>
          <p:cNvSpPr/>
          <p:nvPr/>
        </p:nvSpPr>
        <p:spPr>
          <a:xfrm>
            <a:off x="4287496" y="1602623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501567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4287496" y="16308700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429064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4287496" y="16023084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470" name="Text 468"/>
          <p:cNvSpPr/>
          <p:nvPr/>
        </p:nvSpPr>
        <p:spPr>
          <a:xfrm>
            <a:off x="5018827" y="16023084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1" name="Shape 469"/>
          <p:cNvSpPr/>
          <p:nvPr/>
        </p:nvSpPr>
        <p:spPr>
          <a:xfrm>
            <a:off x="5018827" y="1602623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5651538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5018827" y="16308700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502198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5" name="Text 473"/>
          <p:cNvSpPr/>
          <p:nvPr/>
        </p:nvSpPr>
        <p:spPr>
          <a:xfrm>
            <a:off x="5018827" y="16023084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476" name="Text 474"/>
          <p:cNvSpPr/>
          <p:nvPr/>
        </p:nvSpPr>
        <p:spPr>
          <a:xfrm>
            <a:off x="5654690" y="16023084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7" name="Shape 475"/>
          <p:cNvSpPr/>
          <p:nvPr/>
        </p:nvSpPr>
        <p:spPr>
          <a:xfrm>
            <a:off x="5654690" y="1602623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011834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5654690" y="16308700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565784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1" name="Text 479"/>
          <p:cNvSpPr/>
          <p:nvPr/>
        </p:nvSpPr>
        <p:spPr>
          <a:xfrm>
            <a:off x="5654690" y="16023084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482" name="Text 480"/>
          <p:cNvSpPr/>
          <p:nvPr/>
        </p:nvSpPr>
        <p:spPr>
          <a:xfrm>
            <a:off x="6014986" y="16023084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3" name="Shape 481"/>
          <p:cNvSpPr/>
          <p:nvPr/>
        </p:nvSpPr>
        <p:spPr>
          <a:xfrm>
            <a:off x="6014986" y="1602623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6620997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6014986" y="16308700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6018139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6014986" y="16023084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488" name="Text 486"/>
          <p:cNvSpPr/>
          <p:nvPr/>
        </p:nvSpPr>
        <p:spPr>
          <a:xfrm>
            <a:off x="6624150" y="16023084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9" name="Shape 487"/>
          <p:cNvSpPr/>
          <p:nvPr/>
        </p:nvSpPr>
        <p:spPr>
          <a:xfrm>
            <a:off x="6624150" y="1602623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7073215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6624150" y="16308700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6627303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3" name="Text 491"/>
          <p:cNvSpPr/>
          <p:nvPr/>
        </p:nvSpPr>
        <p:spPr>
          <a:xfrm>
            <a:off x="6624150" y="16023084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80</a:t>
            </a:r>
            <a:endParaRPr lang="en-US" sz="645" dirty="0"/>
          </a:p>
        </p:txBody>
      </p:sp>
      <p:sp>
        <p:nvSpPr>
          <p:cNvPr id="494" name="Text 492"/>
          <p:cNvSpPr/>
          <p:nvPr/>
        </p:nvSpPr>
        <p:spPr>
          <a:xfrm>
            <a:off x="7076368" y="16023084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5" name="Shape 493"/>
          <p:cNvSpPr/>
          <p:nvPr/>
        </p:nvSpPr>
        <p:spPr>
          <a:xfrm>
            <a:off x="7076368" y="1602623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7434102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7076368" y="16308700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7079520" y="16023084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499" name="Text 497"/>
          <p:cNvSpPr/>
          <p:nvPr/>
        </p:nvSpPr>
        <p:spPr>
          <a:xfrm>
            <a:off x="7076368" y="16023084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00" name="Shape 498"/>
          <p:cNvSpPr/>
          <p:nvPr/>
        </p:nvSpPr>
        <p:spPr>
          <a:xfrm>
            <a:off x="633696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908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633696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6368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633696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45" dirty="0"/>
          </a:p>
        </p:txBody>
      </p:sp>
      <p:sp>
        <p:nvSpPr>
          <p:cNvPr id="505" name="Shape 503"/>
          <p:cNvSpPr/>
          <p:nvPr/>
        </p:nvSpPr>
        <p:spPr>
          <a:xfrm>
            <a:off x="993992" y="16315006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269842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93992" y="16597469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9714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993992" y="16311853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</a:t>
            </a:r>
            <a:endParaRPr lang="en-US" sz="645" dirty="0"/>
          </a:p>
        </p:txBody>
      </p:sp>
      <p:sp>
        <p:nvSpPr>
          <p:cNvPr id="510" name="Shape 508"/>
          <p:cNvSpPr/>
          <p:nvPr/>
        </p:nvSpPr>
        <p:spPr>
          <a:xfrm>
            <a:off x="2701581" y="16315006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42843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2701581" y="16597469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27047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2701581" y="16311853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WEB前端开发工程师</a:t>
            </a:r>
            <a:endParaRPr lang="en-US" sz="645" dirty="0"/>
          </a:p>
        </p:txBody>
      </p:sp>
      <p:sp>
        <p:nvSpPr>
          <p:cNvPr id="515" name="Shape 513"/>
          <p:cNvSpPr/>
          <p:nvPr/>
        </p:nvSpPr>
        <p:spPr>
          <a:xfrm>
            <a:off x="4287496" y="16315006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501567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4287496" y="16597469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429064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19" name="Text 517"/>
          <p:cNvSpPr/>
          <p:nvPr/>
        </p:nvSpPr>
        <p:spPr>
          <a:xfrm>
            <a:off x="4287496" y="16311853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20" name="Shape 518"/>
          <p:cNvSpPr/>
          <p:nvPr/>
        </p:nvSpPr>
        <p:spPr>
          <a:xfrm>
            <a:off x="5018827" y="16315006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651538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5018827" y="16597469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502198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5018827" y="16311853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</a:t>
            </a:r>
            <a:endParaRPr lang="en-US" sz="645" dirty="0"/>
          </a:p>
        </p:txBody>
      </p:sp>
      <p:sp>
        <p:nvSpPr>
          <p:cNvPr id="525" name="Shape 523"/>
          <p:cNvSpPr/>
          <p:nvPr/>
        </p:nvSpPr>
        <p:spPr>
          <a:xfrm>
            <a:off x="5654690" y="16315006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6011834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5654690" y="16597469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565784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29" name="Text 527"/>
          <p:cNvSpPr/>
          <p:nvPr/>
        </p:nvSpPr>
        <p:spPr>
          <a:xfrm>
            <a:off x="5654690" y="16311853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30" name="Shape 528"/>
          <p:cNvSpPr/>
          <p:nvPr/>
        </p:nvSpPr>
        <p:spPr>
          <a:xfrm>
            <a:off x="6014986" y="16315006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6620997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6014986" y="16597469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6018139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6014986" y="16311853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35" name="Shape 533"/>
          <p:cNvSpPr/>
          <p:nvPr/>
        </p:nvSpPr>
        <p:spPr>
          <a:xfrm>
            <a:off x="6624150" y="16315006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7073215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6624150" y="16597469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6627303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39" name="Text 537"/>
          <p:cNvSpPr/>
          <p:nvPr/>
        </p:nvSpPr>
        <p:spPr>
          <a:xfrm>
            <a:off x="6624150" y="16311853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645" dirty="0"/>
          </a:p>
        </p:txBody>
      </p:sp>
      <p:sp>
        <p:nvSpPr>
          <p:cNvPr id="540" name="Shape 538"/>
          <p:cNvSpPr/>
          <p:nvPr/>
        </p:nvSpPr>
        <p:spPr>
          <a:xfrm>
            <a:off x="7076368" y="16315006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7434102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7076368" y="16597469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7079520" y="16311853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7076368" y="16311853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45" name="Text 543"/>
          <p:cNvSpPr/>
          <p:nvPr/>
        </p:nvSpPr>
        <p:spPr>
          <a:xfrm>
            <a:off x="633696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6" name="Shape 544"/>
          <p:cNvSpPr/>
          <p:nvPr/>
        </p:nvSpPr>
        <p:spPr>
          <a:xfrm>
            <a:off x="633696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908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633696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6368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633696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45" dirty="0"/>
          </a:p>
        </p:txBody>
      </p:sp>
      <p:sp>
        <p:nvSpPr>
          <p:cNvPr id="551" name="Text 549"/>
          <p:cNvSpPr/>
          <p:nvPr/>
        </p:nvSpPr>
        <p:spPr>
          <a:xfrm>
            <a:off x="993992" y="16600622"/>
            <a:ext cx="1707589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2" name="Shape 550"/>
          <p:cNvSpPr/>
          <p:nvPr/>
        </p:nvSpPr>
        <p:spPr>
          <a:xfrm>
            <a:off x="993992" y="16603775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269842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993992" y="16886238"/>
            <a:ext cx="1707589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99714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993992" y="16600622"/>
            <a:ext cx="174174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</a:t>
            </a:r>
            <a:endParaRPr lang="en-US" sz="645" dirty="0"/>
          </a:p>
        </p:txBody>
      </p:sp>
      <p:sp>
        <p:nvSpPr>
          <p:cNvPr id="557" name="Text 555"/>
          <p:cNvSpPr/>
          <p:nvPr/>
        </p:nvSpPr>
        <p:spPr>
          <a:xfrm>
            <a:off x="2701581" y="16600622"/>
            <a:ext cx="158591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8" name="Shape 556"/>
          <p:cNvSpPr/>
          <p:nvPr/>
        </p:nvSpPr>
        <p:spPr>
          <a:xfrm>
            <a:off x="2701581" y="16603775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42843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2701581" y="16886238"/>
            <a:ext cx="158591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27047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2701581" y="16600622"/>
            <a:ext cx="1617633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web前端</a:t>
            </a:r>
            <a:endParaRPr lang="en-US" sz="645" dirty="0"/>
          </a:p>
        </p:txBody>
      </p:sp>
      <p:sp>
        <p:nvSpPr>
          <p:cNvPr id="563" name="Text 561"/>
          <p:cNvSpPr/>
          <p:nvPr/>
        </p:nvSpPr>
        <p:spPr>
          <a:xfrm>
            <a:off x="4287496" y="16600622"/>
            <a:ext cx="731331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4" name="Shape 562"/>
          <p:cNvSpPr/>
          <p:nvPr/>
        </p:nvSpPr>
        <p:spPr>
          <a:xfrm>
            <a:off x="4287496" y="16603775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501567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4287496" y="16886238"/>
            <a:ext cx="731331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429064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4287496" y="16600622"/>
            <a:ext cx="745958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未说明</a:t>
            </a:r>
            <a:endParaRPr lang="en-US" sz="645" dirty="0"/>
          </a:p>
        </p:txBody>
      </p:sp>
      <p:sp>
        <p:nvSpPr>
          <p:cNvPr id="569" name="Text 567"/>
          <p:cNvSpPr/>
          <p:nvPr/>
        </p:nvSpPr>
        <p:spPr>
          <a:xfrm>
            <a:off x="5018827" y="16600622"/>
            <a:ext cx="635863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0" name="Shape 568"/>
          <p:cNvSpPr/>
          <p:nvPr/>
        </p:nvSpPr>
        <p:spPr>
          <a:xfrm>
            <a:off x="5018827" y="16603775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5651538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5018827" y="16886238"/>
            <a:ext cx="635863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502198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5018827" y="16600622"/>
            <a:ext cx="648581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经验不限</a:t>
            </a:r>
            <a:endParaRPr lang="en-US" sz="645" dirty="0"/>
          </a:p>
        </p:txBody>
      </p:sp>
      <p:sp>
        <p:nvSpPr>
          <p:cNvPr id="575" name="Text 573"/>
          <p:cNvSpPr/>
          <p:nvPr/>
        </p:nvSpPr>
        <p:spPr>
          <a:xfrm>
            <a:off x="5654690" y="16600622"/>
            <a:ext cx="360296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6" name="Shape 574"/>
          <p:cNvSpPr/>
          <p:nvPr/>
        </p:nvSpPr>
        <p:spPr>
          <a:xfrm>
            <a:off x="5654690" y="16603775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6011834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5654690" y="16886238"/>
            <a:ext cx="360296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565784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5654690" y="16600622"/>
            <a:ext cx="36750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</a:t>
            </a:r>
            <a:endParaRPr lang="en-US" sz="645" dirty="0"/>
          </a:p>
        </p:txBody>
      </p:sp>
      <p:sp>
        <p:nvSpPr>
          <p:cNvPr id="581" name="Text 579"/>
          <p:cNvSpPr/>
          <p:nvPr/>
        </p:nvSpPr>
        <p:spPr>
          <a:xfrm>
            <a:off x="6014986" y="16600622"/>
            <a:ext cx="609164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2" name="Shape 580"/>
          <p:cNvSpPr/>
          <p:nvPr/>
        </p:nvSpPr>
        <p:spPr>
          <a:xfrm>
            <a:off x="6014986" y="16603775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6620997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6014986" y="16886238"/>
            <a:ext cx="609164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6018139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6014986" y="16600622"/>
            <a:ext cx="621347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</a:t>
            </a:r>
            <a:endParaRPr lang="en-US" sz="645" dirty="0"/>
          </a:p>
        </p:txBody>
      </p:sp>
      <p:sp>
        <p:nvSpPr>
          <p:cNvPr id="587" name="Text 585"/>
          <p:cNvSpPr/>
          <p:nvPr/>
        </p:nvSpPr>
        <p:spPr>
          <a:xfrm>
            <a:off x="6624150" y="16600622"/>
            <a:ext cx="452218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8" name="Shape 586"/>
          <p:cNvSpPr/>
          <p:nvPr/>
        </p:nvSpPr>
        <p:spPr>
          <a:xfrm>
            <a:off x="6624150" y="16603775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7073215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6624150" y="16886238"/>
            <a:ext cx="452218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6627303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6624150" y="16600622"/>
            <a:ext cx="461262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F39C12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78</a:t>
            </a:r>
            <a:endParaRPr lang="en-US" sz="645" dirty="0"/>
          </a:p>
        </p:txBody>
      </p:sp>
      <p:sp>
        <p:nvSpPr>
          <p:cNvPr id="593" name="Text 591"/>
          <p:cNvSpPr/>
          <p:nvPr/>
        </p:nvSpPr>
        <p:spPr>
          <a:xfrm>
            <a:off x="7076368" y="16600622"/>
            <a:ext cx="360887" cy="28876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4" name="Shape 592"/>
          <p:cNvSpPr/>
          <p:nvPr/>
        </p:nvSpPr>
        <p:spPr>
          <a:xfrm>
            <a:off x="7076368" y="16603775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7434102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7076368" y="16886238"/>
            <a:ext cx="360887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7079520" y="16600622"/>
            <a:ext cx="9144" cy="288769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7076368" y="16600622"/>
            <a:ext cx="368105" cy="288769"/>
          </a:xfrm>
          <a:prstGeom prst="rect">
            <a:avLst/>
          </a:prstGeom>
          <a:noFill/>
          <a:ln/>
        </p:spPr>
        <p:txBody>
          <a:bodyPr wrap="square" lIns="75665" tIns="75665" rIns="75665" bIns="75665" rtlCol="0" anchor="ctr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645" dirty="0"/>
          </a:p>
        </p:txBody>
      </p:sp>
      <p:sp>
        <p:nvSpPr>
          <p:cNvPr id="599" name="Text 597"/>
          <p:cNvSpPr/>
          <p:nvPr/>
        </p:nvSpPr>
        <p:spPr>
          <a:xfrm>
            <a:off x="630543" y="17081706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4.2 匹配度分析</a:t>
            </a:r>
            <a:endParaRPr lang="en-US" sz="894" dirty="0"/>
          </a:p>
        </p:txBody>
      </p:sp>
      <p:sp>
        <p:nvSpPr>
          <p:cNvPr id="600" name="Text 598"/>
          <p:cNvSpPr/>
          <p:nvPr/>
        </p:nvSpPr>
        <p:spPr>
          <a:xfrm>
            <a:off x="630543" y="1735786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主要匹配点</a:t>
            </a:r>
            <a:endParaRPr lang="en-US" sz="794" dirty="0"/>
          </a:p>
        </p:txBody>
      </p:sp>
      <p:sp>
        <p:nvSpPr>
          <p:cNvPr id="601" name="Text 599"/>
          <p:cNvSpPr/>
          <p:nvPr/>
        </p:nvSpPr>
        <p:spPr>
          <a:xfrm>
            <a:off x="630543" y="17525550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技能匹配度高：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2" name="Text 600"/>
          <p:cNvSpPr/>
          <p:nvPr/>
        </p:nvSpPr>
        <p:spPr>
          <a:xfrm>
            <a:off x="788179" y="17686929"/>
            <a:ext cx="169461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React基础技能与80%+岗位需求吻合</a:t>
            </a:r>
            <a:endParaRPr lang="en-US" sz="794" dirty="0"/>
          </a:p>
        </p:txBody>
      </p:sp>
      <p:sp>
        <p:nvSpPr>
          <p:cNvPr id="603" name="Text 601"/>
          <p:cNvSpPr/>
          <p:nvPr/>
        </p:nvSpPr>
        <p:spPr>
          <a:xfrm>
            <a:off x="788179" y="17911363"/>
            <a:ext cx="269190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JavaScript、HTML/CSS基础扎实，符合前端开发核心要求</a:t>
            </a:r>
            <a:endParaRPr lang="en-US" sz="794" dirty="0"/>
          </a:p>
        </p:txBody>
      </p:sp>
      <p:sp>
        <p:nvSpPr>
          <p:cNvPr id="604" name="Text 602"/>
          <p:cNvSpPr/>
          <p:nvPr/>
        </p:nvSpPr>
        <p:spPr>
          <a:xfrm>
            <a:off x="788179" y="18135797"/>
            <a:ext cx="124691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Java技能匹配部分全栈岗位</a:t>
            </a:r>
            <a:endParaRPr lang="en-US" sz="794" dirty="0"/>
          </a:p>
        </p:txBody>
      </p:sp>
      <p:sp>
        <p:nvSpPr>
          <p:cNvPr id="605" name="Text 603"/>
          <p:cNvSpPr/>
          <p:nvPr/>
        </p:nvSpPr>
        <p:spPr>
          <a:xfrm>
            <a:off x="788179" y="18360231"/>
            <a:ext cx="221516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有Spring Boot项目经验，适合前后端结合的岗位</a:t>
            </a:r>
            <a:endParaRPr lang="en-US" sz="794" dirty="0"/>
          </a:p>
        </p:txBody>
      </p:sp>
      <p:sp>
        <p:nvSpPr>
          <p:cNvPr id="606" name="Text 604"/>
          <p:cNvSpPr/>
          <p:nvPr/>
        </p:nvSpPr>
        <p:spPr>
          <a:xfrm>
            <a:off x="630543" y="18584665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经验要求匹配：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07" name="Text 605"/>
          <p:cNvSpPr/>
          <p:nvPr/>
        </p:nvSpPr>
        <p:spPr>
          <a:xfrm>
            <a:off x="788179" y="18746044"/>
            <a:ext cx="17493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校招、实习岗位与应届生身份完美匹配</a:t>
            </a:r>
            <a:endParaRPr lang="en-US" sz="794" dirty="0"/>
          </a:p>
        </p:txBody>
      </p:sp>
      <p:sp>
        <p:nvSpPr>
          <p:cNvPr id="608" name="Text 606"/>
          <p:cNvSpPr/>
          <p:nvPr/>
        </p:nvSpPr>
        <p:spPr>
          <a:xfrm>
            <a:off x="788179" y="18970478"/>
            <a:ext cx="159029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3个"经验不限"岗位提供了更多选择</a:t>
            </a:r>
            <a:endParaRPr lang="en-US" sz="794" dirty="0"/>
          </a:p>
        </p:txBody>
      </p:sp>
      <p:sp>
        <p:nvSpPr>
          <p:cNvPr id="609" name="Text 607"/>
          <p:cNvSpPr/>
          <p:nvPr/>
        </p:nvSpPr>
        <p:spPr>
          <a:xfrm>
            <a:off x="788179" y="19194912"/>
            <a:ext cx="242921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1-3年经验岗位可以尝试投递，有实习经历作为加分项</a:t>
            </a:r>
            <a:endParaRPr lang="en-US" sz="794" dirty="0"/>
          </a:p>
        </p:txBody>
      </p:sp>
      <p:sp>
        <p:nvSpPr>
          <p:cNvPr id="610" name="Text 608"/>
          <p:cNvSpPr/>
          <p:nvPr/>
        </p:nvSpPr>
        <p:spPr>
          <a:xfrm>
            <a:off x="630543" y="19419346"/>
            <a:ext cx="260688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城市匹配度：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所有检索岗位均在杭州，完全符合目标城市</a:t>
            </a:r>
            <a:endParaRPr lang="en-US" sz="794" dirty="0"/>
          </a:p>
        </p:txBody>
      </p:sp>
      <p:sp>
        <p:nvSpPr>
          <p:cNvPr id="611" name="Text 609"/>
          <p:cNvSpPr/>
          <p:nvPr/>
        </p:nvSpPr>
        <p:spPr>
          <a:xfrm>
            <a:off x="630543" y="19637475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主要差距与补齐建议</a:t>
            </a:r>
            <a:endParaRPr lang="en-US" sz="794" dirty="0"/>
          </a:p>
        </p:txBody>
      </p:sp>
      <p:sp>
        <p:nvSpPr>
          <p:cNvPr id="612" name="Text 610"/>
          <p:cNvSpPr/>
          <p:nvPr/>
        </p:nvSpPr>
        <p:spPr>
          <a:xfrm>
            <a:off x="630543" y="19805160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经验差距：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3" name="Text 611"/>
          <p:cNvSpPr/>
          <p:nvPr/>
        </p:nvSpPr>
        <p:spPr>
          <a:xfrm>
            <a:off x="788179" y="19966539"/>
            <a:ext cx="170888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大部分优质岗位要求1-3年及以上经验</a:t>
            </a:r>
            <a:endParaRPr lang="en-US" sz="794" dirty="0"/>
          </a:p>
        </p:txBody>
      </p:sp>
      <p:sp>
        <p:nvSpPr>
          <p:cNvPr id="614" name="Text 612"/>
          <p:cNvSpPr/>
          <p:nvPr/>
        </p:nvSpPr>
        <p:spPr>
          <a:xfrm>
            <a:off x="788179" y="20190973"/>
            <a:ext cx="257261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建议：优先投递校招和实习岗位，积累经验后再考虑跳槽</a:t>
            </a:r>
            <a:endParaRPr lang="en-US" sz="794" dirty="0"/>
          </a:p>
        </p:txBody>
      </p:sp>
      <p:sp>
        <p:nvSpPr>
          <p:cNvPr id="615" name="Text 613"/>
          <p:cNvSpPr/>
          <p:nvPr/>
        </p:nvSpPr>
        <p:spPr>
          <a:xfrm>
            <a:off x="630543" y="20415407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技能缺口：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16" name="Text 614"/>
          <p:cNvSpPr/>
          <p:nvPr/>
        </p:nvSpPr>
        <p:spPr>
          <a:xfrm>
            <a:off x="788179" y="20576787"/>
            <a:ext cx="232972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60%以上岗位要求，但候选人未掌握</a:t>
            </a:r>
            <a:endParaRPr lang="en-US" sz="794" dirty="0"/>
          </a:p>
        </p:txBody>
      </p:sp>
      <p:sp>
        <p:nvSpPr>
          <p:cNvPr id="617" name="Text 615"/>
          <p:cNvSpPr/>
          <p:nvPr/>
        </p:nvSpPr>
        <p:spPr>
          <a:xfrm>
            <a:off x="788179" y="20801221"/>
            <a:ext cx="216933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Node.js深度使用：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40%岗位要求，仅了解基础</a:t>
            </a:r>
            <a:endParaRPr lang="en-US" sz="794" dirty="0"/>
          </a:p>
        </p:txBody>
      </p:sp>
      <p:sp>
        <p:nvSpPr>
          <p:cNvPr id="618" name="Text 616"/>
          <p:cNvSpPr/>
          <p:nvPr/>
        </p:nvSpPr>
        <p:spPr>
          <a:xfrm>
            <a:off x="788179" y="21025655"/>
            <a:ext cx="222259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webpack/vite等工具实战经验不足</a:t>
            </a:r>
            <a:endParaRPr lang="en-US" sz="794" dirty="0"/>
          </a:p>
        </p:txBody>
      </p:sp>
      <p:sp>
        <p:nvSpPr>
          <p:cNvPr id="619" name="Text 617"/>
          <p:cNvSpPr/>
          <p:nvPr/>
        </p:nvSpPr>
        <p:spPr>
          <a:xfrm>
            <a:off x="788179" y="21250089"/>
            <a:ext cx="169169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React Native：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部分移动端岗位要求</a:t>
            </a:r>
            <a:endParaRPr lang="en-US" sz="794" dirty="0"/>
          </a:p>
        </p:txBody>
      </p:sp>
      <p:sp>
        <p:nvSpPr>
          <p:cNvPr id="620" name="Text 618"/>
          <p:cNvSpPr/>
          <p:nvPr/>
        </p:nvSpPr>
        <p:spPr>
          <a:xfrm>
            <a:off x="788179" y="21474522"/>
            <a:ext cx="244478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30%岗位要求Vue，候选人主要掌握React</a:t>
            </a:r>
            <a:endParaRPr lang="en-US" sz="794" dirty="0"/>
          </a:p>
        </p:txBody>
      </p:sp>
      <p:sp>
        <p:nvSpPr>
          <p:cNvPr id="621" name="Text 619"/>
          <p:cNvSpPr/>
          <p:nvPr/>
        </p:nvSpPr>
        <p:spPr>
          <a:xfrm>
            <a:off x="630543" y="21698956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补齐建议：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22" name="Text 620"/>
          <p:cNvSpPr/>
          <p:nvPr/>
        </p:nvSpPr>
        <p:spPr>
          <a:xfrm>
            <a:off x="788179" y="21860336"/>
            <a:ext cx="256216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短期（1个月内）：学习TypeScript基础，完成小项目练习</a:t>
            </a:r>
            <a:endParaRPr lang="en-US" sz="794" dirty="0"/>
          </a:p>
        </p:txBody>
      </p:sp>
      <p:sp>
        <p:nvSpPr>
          <p:cNvPr id="623" name="Text 621"/>
          <p:cNvSpPr/>
          <p:nvPr/>
        </p:nvSpPr>
        <p:spPr>
          <a:xfrm>
            <a:off x="788179" y="22084770"/>
            <a:ext cx="283711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中期（2-3个月）：深入学习前端工程化工具（webpack/vite）</a:t>
            </a:r>
            <a:endParaRPr lang="en-US" sz="794" dirty="0"/>
          </a:p>
        </p:txBody>
      </p:sp>
      <p:sp>
        <p:nvSpPr>
          <p:cNvPr id="624" name="Text 622"/>
          <p:cNvSpPr/>
          <p:nvPr/>
        </p:nvSpPr>
        <p:spPr>
          <a:xfrm>
            <a:off x="788179" y="22309204"/>
            <a:ext cx="293700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长期（3-6个月）：补充Vue框架知识，考虑学习Node.js后端开发</a:t>
            </a:r>
            <a:endParaRPr lang="en-US" sz="794" dirty="0"/>
          </a:p>
        </p:txBody>
      </p:sp>
      <p:sp>
        <p:nvSpPr>
          <p:cNvPr id="625" name="Text 623"/>
          <p:cNvSpPr/>
          <p:nvPr/>
        </p:nvSpPr>
        <p:spPr>
          <a:xfrm>
            <a:off x="630543" y="22716495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五、图表分析</a:t>
            </a:r>
            <a:endParaRPr lang="en-US" sz="1092" dirty="0"/>
          </a:p>
        </p:txBody>
      </p:sp>
      <p:sp>
        <p:nvSpPr>
          <p:cNvPr id="626" name="Text 624"/>
          <p:cNvSpPr/>
          <p:nvPr/>
        </p:nvSpPr>
        <p:spPr>
          <a:xfrm>
            <a:off x="630543" y="2312753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5.1 薪资范围对比图</a:t>
            </a:r>
            <a:endParaRPr lang="en-US" sz="894" dirty="0"/>
          </a:p>
        </p:txBody>
      </p:sp>
      <p:sp>
        <p:nvSpPr>
          <p:cNvPr id="627" name="Text 625"/>
          <p:cNvSpPr/>
          <p:nvPr/>
        </p:nvSpPr>
        <p:spPr>
          <a:xfrm>
            <a:off x="630543" y="23435216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8" name="Text 626"/>
          <p:cNvSpPr/>
          <p:nvPr/>
        </p:nvSpPr>
        <p:spPr>
          <a:xfrm>
            <a:off x="562444" y="23435216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[图表：薪资范围对比 - 请查看 charts/salary_range.png]</a:t>
            </a:r>
            <a:endParaRPr lang="en-US" sz="794" dirty="0"/>
          </a:p>
        </p:txBody>
      </p:sp>
      <p:sp>
        <p:nvSpPr>
          <p:cNvPr id="629" name="Text 627"/>
          <p:cNvSpPr/>
          <p:nvPr/>
        </p:nvSpPr>
        <p:spPr>
          <a:xfrm>
            <a:off x="630543" y="2425236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0" name="Text 628"/>
          <p:cNvSpPr/>
          <p:nvPr/>
        </p:nvSpPr>
        <p:spPr>
          <a:xfrm>
            <a:off x="788179" y="24483099"/>
            <a:ext cx="239504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高端岗位（18k-35k）主要面向3-5年+经验的开发者</a:t>
            </a:r>
            <a:endParaRPr lang="en-US" sz="794" dirty="0"/>
          </a:p>
        </p:txBody>
      </p:sp>
      <p:sp>
        <p:nvSpPr>
          <p:cNvPr id="631" name="Text 629"/>
          <p:cNvSpPr/>
          <p:nvPr/>
        </p:nvSpPr>
        <p:spPr>
          <a:xfrm>
            <a:off x="788179" y="24707533"/>
            <a:ext cx="296061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应届生合理薪资区间为8k-11k（经验不限）或实习300-400元/天</a:t>
            </a:r>
            <a:endParaRPr lang="en-US" sz="794" dirty="0"/>
          </a:p>
        </p:txBody>
      </p:sp>
      <p:sp>
        <p:nvSpPr>
          <p:cNvPr id="632" name="Text 630"/>
          <p:cNvSpPr/>
          <p:nvPr/>
        </p:nvSpPr>
        <p:spPr>
          <a:xfrm>
            <a:off x="788179" y="24931967"/>
            <a:ext cx="270345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中等薪资区间（12k-18k）对应1-3年经验，可作为中期目标</a:t>
            </a:r>
            <a:endParaRPr lang="en-US" sz="794" dirty="0"/>
          </a:p>
        </p:txBody>
      </p:sp>
      <p:sp>
        <p:nvSpPr>
          <p:cNvPr id="633" name="Text 631"/>
          <p:cNvSpPr/>
          <p:nvPr/>
        </p:nvSpPr>
        <p:spPr>
          <a:xfrm>
            <a:off x="630543" y="25276204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5.2 经验要求分布图</a:t>
            </a:r>
            <a:endParaRPr lang="en-US" sz="894" dirty="0"/>
          </a:p>
        </p:txBody>
      </p:sp>
      <p:sp>
        <p:nvSpPr>
          <p:cNvPr id="634" name="Text 632"/>
          <p:cNvSpPr/>
          <p:nvPr/>
        </p:nvSpPr>
        <p:spPr>
          <a:xfrm>
            <a:off x="630543" y="25583890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5" name="Text 633"/>
          <p:cNvSpPr/>
          <p:nvPr/>
        </p:nvSpPr>
        <p:spPr>
          <a:xfrm>
            <a:off x="562444" y="25583890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[图表：经验要求分布 - 请查看 charts/experience_distribution.png]</a:t>
            </a:r>
            <a:endParaRPr lang="en-US" sz="794" dirty="0"/>
          </a:p>
        </p:txBody>
      </p:sp>
      <p:sp>
        <p:nvSpPr>
          <p:cNvPr id="636" name="Text 634"/>
          <p:cNvSpPr/>
          <p:nvPr/>
        </p:nvSpPr>
        <p:spPr>
          <a:xfrm>
            <a:off x="630543" y="26401034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37" name="Text 635"/>
          <p:cNvSpPr/>
          <p:nvPr/>
        </p:nvSpPr>
        <p:spPr>
          <a:xfrm>
            <a:off x="788179" y="26631773"/>
            <a:ext cx="261612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3-5年经验岗位占比最高（37%），但应届生无法直接匹配</a:t>
            </a:r>
            <a:endParaRPr lang="en-US" sz="794" dirty="0"/>
          </a:p>
        </p:txBody>
      </p:sp>
      <p:sp>
        <p:nvSpPr>
          <p:cNvPr id="638" name="Text 636"/>
          <p:cNvSpPr/>
          <p:nvPr/>
        </p:nvSpPr>
        <p:spPr>
          <a:xfrm>
            <a:off x="788179" y="26856207"/>
            <a:ext cx="373662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应届生可投递岗位：校招（2个，6%）、经验不限（3个，9%）、实习（1个，3%）</a:t>
            </a:r>
            <a:endParaRPr lang="en-US" sz="794" dirty="0"/>
          </a:p>
        </p:txBody>
      </p:sp>
      <p:sp>
        <p:nvSpPr>
          <p:cNvPr id="639" name="Text 637"/>
          <p:cNvSpPr/>
          <p:nvPr/>
        </p:nvSpPr>
        <p:spPr>
          <a:xfrm>
            <a:off x="788179" y="27080641"/>
            <a:ext cx="271431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1-3年经验岗位（8个，23%）可以尝试投递，但有竞争压力</a:t>
            </a:r>
            <a:endParaRPr lang="en-US" sz="794" dirty="0"/>
          </a:p>
        </p:txBody>
      </p:sp>
      <p:sp>
        <p:nvSpPr>
          <p:cNvPr id="640" name="Text 638"/>
          <p:cNvSpPr/>
          <p:nvPr/>
        </p:nvSpPr>
        <p:spPr>
          <a:xfrm>
            <a:off x="788179" y="27305075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建议关注春招、秋招等校招专场活动</a:t>
            </a:r>
            <a:endParaRPr lang="en-US" sz="794" dirty="0"/>
          </a:p>
        </p:txBody>
      </p:sp>
      <p:sp>
        <p:nvSpPr>
          <p:cNvPr id="641" name="Text 639"/>
          <p:cNvSpPr/>
          <p:nvPr/>
        </p:nvSpPr>
        <p:spPr>
          <a:xfrm>
            <a:off x="630543" y="27649312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5.3 平台岗位数量对比图</a:t>
            </a:r>
            <a:endParaRPr lang="en-US" sz="894" dirty="0"/>
          </a:p>
        </p:txBody>
      </p:sp>
      <p:sp>
        <p:nvSpPr>
          <p:cNvPr id="642" name="Text 640"/>
          <p:cNvSpPr/>
          <p:nvPr/>
        </p:nvSpPr>
        <p:spPr>
          <a:xfrm>
            <a:off x="630543" y="27956997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3" name="Text 641"/>
          <p:cNvSpPr/>
          <p:nvPr/>
        </p:nvSpPr>
        <p:spPr>
          <a:xfrm>
            <a:off x="562444" y="27956997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[图表：平台岗位数量对比 - 请查看 charts/platform_comparison.png]</a:t>
            </a:r>
            <a:endParaRPr lang="en-US" sz="794" dirty="0"/>
          </a:p>
        </p:txBody>
      </p:sp>
      <p:sp>
        <p:nvSpPr>
          <p:cNvPr id="644" name="Text 642"/>
          <p:cNvSpPr/>
          <p:nvPr/>
        </p:nvSpPr>
        <p:spPr>
          <a:xfrm>
            <a:off x="630543" y="28774142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45" name="Text 643"/>
          <p:cNvSpPr/>
          <p:nvPr/>
        </p:nvSpPr>
        <p:spPr>
          <a:xfrm>
            <a:off x="788179" y="29004881"/>
            <a:ext cx="1571707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Boss直聘岗位数量略多于智联招聘</a:t>
            </a:r>
            <a:endParaRPr lang="en-US" sz="794" dirty="0"/>
          </a:p>
        </p:txBody>
      </p:sp>
      <p:sp>
        <p:nvSpPr>
          <p:cNvPr id="646" name="Text 644"/>
          <p:cNvSpPr/>
          <p:nvPr/>
        </p:nvSpPr>
        <p:spPr>
          <a:xfrm>
            <a:off x="788179" y="29229315"/>
            <a:ext cx="154356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两个平台各有优势，建议同时关注</a:t>
            </a:r>
            <a:endParaRPr lang="en-US" sz="794" dirty="0"/>
          </a:p>
        </p:txBody>
      </p:sp>
      <p:sp>
        <p:nvSpPr>
          <p:cNvPr id="647" name="Text 645"/>
          <p:cNvSpPr/>
          <p:nvPr/>
        </p:nvSpPr>
        <p:spPr>
          <a:xfrm>
            <a:off x="788179" y="29453749"/>
            <a:ext cx="249784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Boss直聘：大厂岗位更多（阿里、网易、蚂蚁、天猫）</a:t>
            </a:r>
            <a:endParaRPr lang="en-US" sz="794" dirty="0"/>
          </a:p>
        </p:txBody>
      </p:sp>
      <p:sp>
        <p:nvSpPr>
          <p:cNvPr id="648" name="Text 646"/>
          <p:cNvSpPr/>
          <p:nvPr/>
        </p:nvSpPr>
        <p:spPr>
          <a:xfrm>
            <a:off x="788179" y="29678183"/>
            <a:ext cx="205809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智联招聘：中型企业岗位丰富，薪资范围明确</a:t>
            </a:r>
            <a:endParaRPr lang="en-US" sz="794" dirty="0"/>
          </a:p>
        </p:txBody>
      </p:sp>
      <p:sp>
        <p:nvSpPr>
          <p:cNvPr id="649" name="Text 647"/>
          <p:cNvSpPr/>
          <p:nvPr/>
        </p:nvSpPr>
        <p:spPr>
          <a:xfrm>
            <a:off x="630543" y="30022420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5.4 匹配度排名图</a:t>
            </a:r>
            <a:endParaRPr lang="en-US" sz="894" dirty="0"/>
          </a:p>
        </p:txBody>
      </p:sp>
      <p:sp>
        <p:nvSpPr>
          <p:cNvPr id="650" name="Text 648"/>
          <p:cNvSpPr/>
          <p:nvPr/>
        </p:nvSpPr>
        <p:spPr>
          <a:xfrm>
            <a:off x="630543" y="30330105"/>
            <a:ext cx="6809865" cy="691036"/>
          </a:xfrm>
          <a:prstGeom prst="roundRect">
            <a:avLst>
              <a:gd name="adj" fmla="val 7300"/>
            </a:avLst>
          </a:prstGeom>
          <a:solidFill>
            <a:srgbClr val="F8F9FA"/>
          </a:solidFill>
          <a:ln w="12611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1" name="Text 649"/>
          <p:cNvSpPr/>
          <p:nvPr/>
        </p:nvSpPr>
        <p:spPr>
          <a:xfrm>
            <a:off x="562444" y="30330105"/>
            <a:ext cx="6946062" cy="691036"/>
          </a:xfrm>
          <a:prstGeom prst="rect">
            <a:avLst/>
          </a:prstGeom>
          <a:noFill/>
          <a:ln/>
        </p:spPr>
        <p:txBody>
          <a:bodyPr wrap="square" lIns="252217" tIns="252217" rIns="252217" bIns="252217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[图表：匹配度排名 - 请查看 charts/match_ranking.png]</a:t>
            </a:r>
            <a:endParaRPr lang="en-US" sz="794" dirty="0"/>
          </a:p>
        </p:txBody>
      </p:sp>
      <p:sp>
        <p:nvSpPr>
          <p:cNvPr id="652" name="Text 650"/>
          <p:cNvSpPr/>
          <p:nvPr/>
        </p:nvSpPr>
        <p:spPr>
          <a:xfrm>
            <a:off x="630543" y="31147250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分析：</a:t>
            </a:r>
            <a:endParaRPr lang="en-US" sz="794" dirty="0"/>
          </a:p>
        </p:txBody>
      </p:sp>
      <p:sp>
        <p:nvSpPr>
          <p:cNvPr id="653" name="Text 651"/>
          <p:cNvSpPr/>
          <p:nvPr/>
        </p:nvSpPr>
        <p:spPr>
          <a:xfrm>
            <a:off x="788179" y="31377989"/>
            <a:ext cx="193036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高匹配度（≥80）岗位：8个，占总数23%</a:t>
            </a:r>
            <a:endParaRPr lang="en-US" sz="794" dirty="0"/>
          </a:p>
        </p:txBody>
      </p:sp>
      <p:sp>
        <p:nvSpPr>
          <p:cNvPr id="654" name="Text 652"/>
          <p:cNvSpPr/>
          <p:nvPr/>
        </p:nvSpPr>
        <p:spPr>
          <a:xfrm>
            <a:off x="788179" y="31602423"/>
            <a:ext cx="217365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中等匹配度（60-79）岗位：12个，占总数34%</a:t>
            </a:r>
            <a:endParaRPr lang="en-US" sz="794" dirty="0"/>
          </a:p>
        </p:txBody>
      </p:sp>
      <p:sp>
        <p:nvSpPr>
          <p:cNvPr id="655" name="Text 653"/>
          <p:cNvSpPr/>
          <p:nvPr/>
        </p:nvSpPr>
        <p:spPr>
          <a:xfrm>
            <a:off x="788179" y="31826857"/>
            <a:ext cx="19527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低匹配度（&lt;60）岗位：15个，占总数43%</a:t>
            </a:r>
            <a:endParaRPr lang="en-US" sz="794" dirty="0"/>
          </a:p>
        </p:txBody>
      </p:sp>
      <p:sp>
        <p:nvSpPr>
          <p:cNvPr id="656" name="Text 654"/>
          <p:cNvSpPr/>
          <p:nvPr/>
        </p:nvSpPr>
        <p:spPr>
          <a:xfrm>
            <a:off x="788179" y="32051291"/>
            <a:ext cx="277842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应届生应重点关注高匹配度岗位，中等匹配度岗位可尝试投递</a:t>
            </a:r>
            <a:endParaRPr lang="en-US" sz="794" dirty="0"/>
          </a:p>
        </p:txBody>
      </p:sp>
      <p:sp>
        <p:nvSpPr>
          <p:cNvPr id="657" name="Text 655"/>
          <p:cNvSpPr/>
          <p:nvPr/>
        </p:nvSpPr>
        <p:spPr>
          <a:xfrm>
            <a:off x="630543" y="32458582"/>
            <a:ext cx="6946062" cy="221872"/>
          </a:xfrm>
          <a:prstGeom prst="rect">
            <a:avLst/>
          </a:prstGeom>
          <a:noFill/>
          <a:ln/>
        </p:spPr>
        <p:txBody>
          <a:bodyPr wrap="square" lIns="94581" tIns="0" rIns="0" bIns="0" rtlCol="0" anchor="t"/>
          <a:lstStyle/>
          <a:p>
            <a:pPr algn="l" indent="0" marL="0">
              <a:lnSpc>
                <a:spcPts val="1748"/>
              </a:lnSpc>
              <a:spcBef>
                <a:spcPts val="1986"/>
              </a:spcBef>
              <a:spcAft>
                <a:spcPts val="993"/>
              </a:spcAft>
              <a:buNone/>
            </a:pPr>
            <a:r>
              <a:rPr lang="en-US" sz="1092" dirty="0">
                <a:solidFill>
                  <a:srgbClr val="34495E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六、行动建议</a:t>
            </a:r>
            <a:endParaRPr lang="en-US" sz="1092" dirty="0"/>
          </a:p>
        </p:txBody>
      </p:sp>
      <p:sp>
        <p:nvSpPr>
          <p:cNvPr id="658" name="Text 656"/>
          <p:cNvSpPr/>
          <p:nvPr/>
        </p:nvSpPr>
        <p:spPr>
          <a:xfrm>
            <a:off x="630543" y="3286961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6.1 近期优先投递岗位（按优先级排序）</a:t>
            </a:r>
            <a:endParaRPr lang="en-US" sz="894" dirty="0"/>
          </a:p>
        </p:txBody>
      </p:sp>
      <p:sp>
        <p:nvSpPr>
          <p:cNvPr id="659" name="Text 657"/>
          <p:cNvSpPr/>
          <p:nvPr/>
        </p:nvSpPr>
        <p:spPr>
          <a:xfrm>
            <a:off x="630543" y="33145776"/>
            <a:ext cx="6809865" cy="1634092"/>
          </a:xfrm>
          <a:prstGeom prst="roundRect">
            <a:avLst>
              <a:gd name="adj" fmla="val 19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0" name="Text 658"/>
          <p:cNvSpPr/>
          <p:nvPr/>
        </p:nvSpPr>
        <p:spPr>
          <a:xfrm>
            <a:off x="725124" y="33240357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第1优先级（强烈推荐）</a:t>
            </a:r>
            <a:endParaRPr lang="en-US" sz="794" dirty="0"/>
          </a:p>
        </p:txBody>
      </p:sp>
      <p:sp>
        <p:nvSpPr>
          <p:cNvPr id="661" name="Text 659"/>
          <p:cNvSpPr/>
          <p:nvPr/>
        </p:nvSpPr>
        <p:spPr>
          <a:xfrm>
            <a:off x="725124" y="33471096"/>
            <a:ext cx="266145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海康威视 - 研究院-Web前端开发工程师(校招) [匹配度92]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2" name="Text 660"/>
          <p:cNvSpPr/>
          <p:nvPr/>
        </p:nvSpPr>
        <p:spPr>
          <a:xfrm>
            <a:off x="882760" y="33632476"/>
            <a:ext cx="236680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理由：校招岗位，与应届生身份完美匹配，大厂平台</a:t>
            </a:r>
            <a:endParaRPr lang="en-US" sz="794" dirty="0"/>
          </a:p>
        </p:txBody>
      </p:sp>
      <p:sp>
        <p:nvSpPr>
          <p:cNvPr id="663" name="Text 661"/>
          <p:cNvSpPr/>
          <p:nvPr/>
        </p:nvSpPr>
        <p:spPr>
          <a:xfrm>
            <a:off x="882760" y="33856910"/>
            <a:ext cx="26438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行动：立即投递，准备技术面（React、前端基础、算法）</a:t>
            </a:r>
            <a:endParaRPr lang="en-US" sz="794" dirty="0"/>
          </a:p>
        </p:txBody>
      </p:sp>
      <p:sp>
        <p:nvSpPr>
          <p:cNvPr id="664" name="Text 662"/>
          <p:cNvSpPr/>
          <p:nvPr/>
        </p:nvSpPr>
        <p:spPr>
          <a:xfrm>
            <a:off x="725124" y="34081344"/>
            <a:ext cx="302704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浙江天猫技术有限公司 - web前端开发工程师（实习） [匹配度90]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65" name="Text 663"/>
          <p:cNvSpPr/>
          <p:nvPr/>
        </p:nvSpPr>
        <p:spPr>
          <a:xfrm>
            <a:off x="882760" y="34242723"/>
            <a:ext cx="233645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理由：暑期实习，可转正，300-400元/天待遇优厚</a:t>
            </a:r>
            <a:endParaRPr lang="en-US" sz="794" dirty="0"/>
          </a:p>
        </p:txBody>
      </p:sp>
      <p:sp>
        <p:nvSpPr>
          <p:cNvPr id="666" name="Text 664"/>
          <p:cNvSpPr/>
          <p:nvPr/>
        </p:nvSpPr>
        <p:spPr>
          <a:xfrm>
            <a:off x="882760" y="34467157"/>
            <a:ext cx="232058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行动：确认实习时间，准备React和JavaScript面试</a:t>
            </a:r>
            <a:endParaRPr lang="en-US" sz="794" dirty="0"/>
          </a:p>
        </p:txBody>
      </p:sp>
      <p:sp>
        <p:nvSpPr>
          <p:cNvPr id="667" name="Text 665"/>
          <p:cNvSpPr/>
          <p:nvPr/>
        </p:nvSpPr>
        <p:spPr>
          <a:xfrm>
            <a:off x="630543" y="34874449"/>
            <a:ext cx="6809865" cy="2244339"/>
          </a:xfrm>
          <a:prstGeom prst="roundRect">
            <a:avLst>
              <a:gd name="adj" fmla="val 1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8" name="Text 666"/>
          <p:cNvSpPr/>
          <p:nvPr/>
        </p:nvSpPr>
        <p:spPr>
          <a:xfrm>
            <a:off x="725124" y="34969030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第2优先级（重点投递）</a:t>
            </a:r>
            <a:endParaRPr lang="en-US" sz="794" dirty="0"/>
          </a:p>
        </p:txBody>
      </p:sp>
      <p:sp>
        <p:nvSpPr>
          <p:cNvPr id="669" name="Text 667"/>
          <p:cNvSpPr/>
          <p:nvPr/>
        </p:nvSpPr>
        <p:spPr>
          <a:xfrm>
            <a:off x="725124" y="35199769"/>
            <a:ext cx="241524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浙江数维科技有限公司 - 前端开发工程师 [匹配度88]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0" name="Text 668"/>
          <p:cNvSpPr/>
          <p:nvPr/>
        </p:nvSpPr>
        <p:spPr>
          <a:xfrm>
            <a:off x="882760" y="35361149"/>
            <a:ext cx="155030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理由：经验不限，薪资8k-11k合理</a:t>
            </a:r>
            <a:endParaRPr lang="en-US" sz="794" dirty="0"/>
          </a:p>
        </p:txBody>
      </p:sp>
      <p:sp>
        <p:nvSpPr>
          <p:cNvPr id="671" name="Text 669"/>
          <p:cNvSpPr/>
          <p:nvPr/>
        </p:nvSpPr>
        <p:spPr>
          <a:xfrm>
            <a:off x="882760" y="35585583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行动：投递简历，重点关注前端基础面试</a:t>
            </a:r>
            <a:endParaRPr lang="en-US" sz="794" dirty="0"/>
          </a:p>
        </p:txBody>
      </p:sp>
      <p:sp>
        <p:nvSpPr>
          <p:cNvPr id="672" name="Text 670"/>
          <p:cNvSpPr/>
          <p:nvPr/>
        </p:nvSpPr>
        <p:spPr>
          <a:xfrm>
            <a:off x="725124" y="35810017"/>
            <a:ext cx="26210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外企德科数字技术有限公司 - 软件研发工程师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3" name="Text 671"/>
          <p:cNvSpPr/>
          <p:nvPr/>
        </p:nvSpPr>
        <p:spPr>
          <a:xfrm>
            <a:off x="882760" y="35971396"/>
            <a:ext cx="279972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理由：经验不限，涵盖前后端，Java、Python、web技能匹配</a:t>
            </a:r>
            <a:endParaRPr lang="en-US" sz="794" dirty="0"/>
          </a:p>
        </p:txBody>
      </p:sp>
      <p:sp>
        <p:nvSpPr>
          <p:cNvPr id="674" name="Text 672"/>
          <p:cNvSpPr/>
          <p:nvPr/>
        </p:nvSpPr>
        <p:spPr>
          <a:xfrm>
            <a:off x="882760" y="36195830"/>
            <a:ext cx="217305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行动：了解具体项目，准备Java和前端相关面试</a:t>
            </a:r>
            <a:endParaRPr lang="en-US" sz="794" dirty="0"/>
          </a:p>
        </p:txBody>
      </p:sp>
      <p:sp>
        <p:nvSpPr>
          <p:cNvPr id="675" name="Text 673"/>
          <p:cNvSpPr/>
          <p:nvPr/>
        </p:nvSpPr>
        <p:spPr>
          <a:xfrm>
            <a:off x="725124" y="36420264"/>
            <a:ext cx="26210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杭州城市大脑有限公司 - 初级前端开发工程师 [匹配度85]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76" name="Text 674"/>
          <p:cNvSpPr/>
          <p:nvPr/>
        </p:nvSpPr>
        <p:spPr>
          <a:xfrm>
            <a:off x="882760" y="36581644"/>
            <a:ext cx="165612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理由：1年以内岗位，React技能匹配</a:t>
            </a:r>
            <a:endParaRPr lang="en-US" sz="794" dirty="0"/>
          </a:p>
        </p:txBody>
      </p:sp>
      <p:sp>
        <p:nvSpPr>
          <p:cNvPr id="677" name="Text 675"/>
          <p:cNvSpPr/>
          <p:nvPr/>
        </p:nvSpPr>
        <p:spPr>
          <a:xfrm>
            <a:off x="882760" y="36806078"/>
            <a:ext cx="192353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行动：投递简历，准备React相关项目展示</a:t>
            </a:r>
            <a:endParaRPr lang="en-US" sz="794" dirty="0"/>
          </a:p>
        </p:txBody>
      </p:sp>
      <p:sp>
        <p:nvSpPr>
          <p:cNvPr id="678" name="Text 676"/>
          <p:cNvSpPr/>
          <p:nvPr/>
        </p:nvSpPr>
        <p:spPr>
          <a:xfrm>
            <a:off x="630543" y="37213369"/>
            <a:ext cx="6809865" cy="1535766"/>
          </a:xfrm>
          <a:prstGeom prst="roundRect">
            <a:avLst>
              <a:gd name="adj" fmla="val 205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9" name="Text 677"/>
          <p:cNvSpPr/>
          <p:nvPr/>
        </p:nvSpPr>
        <p:spPr>
          <a:xfrm>
            <a:off x="725124" y="37307951"/>
            <a:ext cx="6753116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第3优先级（尝试投递）</a:t>
            </a:r>
            <a:endParaRPr lang="en-US" sz="794" dirty="0"/>
          </a:p>
        </p:txBody>
      </p:sp>
      <p:sp>
        <p:nvSpPr>
          <p:cNvPr id="680" name="Text 678"/>
          <p:cNvSpPr/>
          <p:nvPr/>
        </p:nvSpPr>
        <p:spPr>
          <a:xfrm>
            <a:off x="725124" y="37538690"/>
            <a:ext cx="26461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浙江宇视科技有限公司 - WEB前端开发工程师 [匹配度82]</a:t>
            </a:r>
            <a:endParaRPr lang="en-US" sz="794" dirty="0"/>
          </a:p>
        </p:txBody>
      </p:sp>
      <p:sp>
        <p:nvSpPr>
          <p:cNvPr id="681" name="Text 679"/>
          <p:cNvSpPr/>
          <p:nvPr/>
        </p:nvSpPr>
        <p:spPr>
          <a:xfrm>
            <a:off x="725124" y="37763124"/>
            <a:ext cx="280455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软通动力信息技术(集团)股份有限公司 - Java开发 [匹配度80]</a:t>
            </a:r>
            <a:endParaRPr lang="en-US" sz="794" dirty="0"/>
          </a:p>
        </p:txBody>
      </p:sp>
      <p:sp>
        <p:nvSpPr>
          <p:cNvPr id="682" name="Text 680"/>
          <p:cNvSpPr/>
          <p:nvPr/>
        </p:nvSpPr>
        <p:spPr>
          <a:xfrm>
            <a:off x="725124" y="37987558"/>
            <a:ext cx="199287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阿里集团 - web前端开发工程师 [匹配度80]</a:t>
            </a:r>
            <a:endParaRPr lang="en-US" sz="794" dirty="0"/>
          </a:p>
        </p:txBody>
      </p:sp>
      <p:sp>
        <p:nvSpPr>
          <p:cNvPr id="683" name="Text 681"/>
          <p:cNvSpPr/>
          <p:nvPr/>
        </p:nvSpPr>
        <p:spPr>
          <a:xfrm>
            <a:off x="725124" y="38211992"/>
            <a:ext cx="243484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顺丰速运有限公司 - WEB前端开发工程师 [匹配度78]</a:t>
            </a:r>
            <a:endParaRPr lang="en-US" sz="794" dirty="0"/>
          </a:p>
        </p:txBody>
      </p:sp>
      <p:sp>
        <p:nvSpPr>
          <p:cNvPr id="684" name="Text 682"/>
          <p:cNvSpPr/>
          <p:nvPr/>
        </p:nvSpPr>
        <p:spPr>
          <a:xfrm>
            <a:off x="725124" y="38436426"/>
            <a:ext cx="14729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蚂蚁集团 - web前端 [匹配度78]</a:t>
            </a:r>
            <a:endParaRPr lang="en-US" sz="794" dirty="0"/>
          </a:p>
        </p:txBody>
      </p:sp>
      <p:sp>
        <p:nvSpPr>
          <p:cNvPr id="685" name="Text 683"/>
          <p:cNvSpPr/>
          <p:nvPr/>
        </p:nvSpPr>
        <p:spPr>
          <a:xfrm>
            <a:off x="630543" y="38938299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6.2 简历优化建议</a:t>
            </a:r>
            <a:endParaRPr lang="en-US" sz="894" dirty="0"/>
          </a:p>
        </p:txBody>
      </p:sp>
      <p:sp>
        <p:nvSpPr>
          <p:cNvPr id="686" name="Text 684"/>
          <p:cNvSpPr/>
          <p:nvPr/>
        </p:nvSpPr>
        <p:spPr>
          <a:xfrm>
            <a:off x="630543" y="39220762"/>
            <a:ext cx="92614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突出前端项目经验：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87" name="Text 685"/>
          <p:cNvSpPr/>
          <p:nvPr/>
        </p:nvSpPr>
        <p:spPr>
          <a:xfrm>
            <a:off x="788179" y="39382142"/>
            <a:ext cx="329083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将"电商平台原型开发"置顶，强调Spring Boot + React + MySQL技术栈</a:t>
            </a:r>
            <a:endParaRPr lang="en-US" sz="794" dirty="0"/>
          </a:p>
        </p:txBody>
      </p:sp>
      <p:sp>
        <p:nvSpPr>
          <p:cNvPr id="688" name="Text 686"/>
          <p:cNvSpPr/>
          <p:nvPr/>
        </p:nvSpPr>
        <p:spPr>
          <a:xfrm>
            <a:off x="788179" y="39606576"/>
            <a:ext cx="29842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补充项目中的前端技术细节（组件封装、状态管理、性能优化等）</a:t>
            </a:r>
            <a:endParaRPr lang="en-US" sz="794" dirty="0"/>
          </a:p>
        </p:txBody>
      </p:sp>
      <p:sp>
        <p:nvSpPr>
          <p:cNvPr id="689" name="Text 687"/>
          <p:cNvSpPr/>
          <p:nvPr/>
        </p:nvSpPr>
        <p:spPr>
          <a:xfrm>
            <a:off x="630543" y="39831010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补充技能描述：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0" name="Text 688"/>
          <p:cNvSpPr/>
          <p:nvPr/>
        </p:nvSpPr>
        <p:spPr>
          <a:xfrm>
            <a:off x="788179" y="39992389"/>
            <a:ext cx="35755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JavaScript：补充ES6+特性使用经验（箭头函数、Promise、async/await等）</a:t>
            </a:r>
            <a:endParaRPr lang="en-US" sz="794" dirty="0"/>
          </a:p>
        </p:txBody>
      </p:sp>
      <p:sp>
        <p:nvSpPr>
          <p:cNvPr id="691" name="Text 689"/>
          <p:cNvSpPr/>
          <p:nvPr/>
        </p:nvSpPr>
        <p:spPr>
          <a:xfrm>
            <a:off x="788179" y="40216823"/>
            <a:ext cx="201880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React：补充组件生命周期、Hooks使用经验</a:t>
            </a:r>
            <a:endParaRPr lang="en-US" sz="794" dirty="0"/>
          </a:p>
        </p:txBody>
      </p:sp>
      <p:sp>
        <p:nvSpPr>
          <p:cNvPr id="692" name="Text 690"/>
          <p:cNvSpPr/>
          <p:nvPr/>
        </p:nvSpPr>
        <p:spPr>
          <a:xfrm>
            <a:off x="788179" y="40441257"/>
            <a:ext cx="250337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工具：补充Git工作流经验（分支管理、代码review等）</a:t>
            </a:r>
            <a:endParaRPr lang="en-US" sz="794" dirty="0"/>
          </a:p>
        </p:txBody>
      </p:sp>
      <p:sp>
        <p:nvSpPr>
          <p:cNvPr id="693" name="Text 691"/>
          <p:cNvSpPr/>
          <p:nvPr/>
        </p:nvSpPr>
        <p:spPr>
          <a:xfrm>
            <a:off x="630543" y="40665691"/>
            <a:ext cx="720332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实习经历量化：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4" name="Text 692"/>
          <p:cNvSpPr/>
          <p:nvPr/>
        </p:nvSpPr>
        <p:spPr>
          <a:xfrm>
            <a:off x="788179" y="40827070"/>
            <a:ext cx="30976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XX软件公司实习：补充具体修复Bug数量、参与模块、技术栈使用等</a:t>
            </a:r>
            <a:endParaRPr lang="en-US" sz="794" dirty="0"/>
          </a:p>
        </p:txBody>
      </p:sp>
      <p:sp>
        <p:nvSpPr>
          <p:cNvPr id="695" name="Text 693"/>
          <p:cNvSpPr/>
          <p:nvPr/>
        </p:nvSpPr>
        <p:spPr>
          <a:xfrm>
            <a:off x="630543" y="41051504"/>
            <a:ext cx="97759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增加开源/个人项目：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696" name="Text 694"/>
          <p:cNvSpPr/>
          <p:nvPr/>
        </p:nvSpPr>
        <p:spPr>
          <a:xfrm>
            <a:off x="788179" y="41212884"/>
            <a:ext cx="2852790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建议在GitHub上补充2-3个前端个人项目，展示React实战能力</a:t>
            </a:r>
            <a:endParaRPr lang="en-US" sz="794" dirty="0"/>
          </a:p>
        </p:txBody>
      </p:sp>
      <p:sp>
        <p:nvSpPr>
          <p:cNvPr id="697" name="Text 695"/>
          <p:cNvSpPr/>
          <p:nvPr/>
        </p:nvSpPr>
        <p:spPr>
          <a:xfrm>
            <a:off x="630543" y="41557121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6.3 技能补齐建议</a:t>
            </a:r>
            <a:endParaRPr lang="en-US" sz="894" dirty="0"/>
          </a:p>
        </p:txBody>
      </p:sp>
      <p:sp>
        <p:nvSpPr>
          <p:cNvPr id="698" name="Text 696"/>
          <p:cNvSpPr/>
          <p:nvPr/>
        </p:nvSpPr>
        <p:spPr>
          <a:xfrm>
            <a:off x="630543" y="41833279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短期学习计划（1个月内）：</a:t>
            </a:r>
            <a:endParaRPr lang="en-US" sz="794" dirty="0"/>
          </a:p>
        </p:txBody>
      </p:sp>
      <p:sp>
        <p:nvSpPr>
          <p:cNvPr id="699" name="Text 697"/>
          <p:cNvSpPr/>
          <p:nvPr/>
        </p:nvSpPr>
        <p:spPr>
          <a:xfrm>
            <a:off x="788179" y="42064019"/>
            <a:ext cx="33371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TypeScript：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学习基础语法、类型系统，完成TypeScript + React小项目</a:t>
            </a:r>
            <a:endParaRPr lang="en-US" sz="794" dirty="0"/>
          </a:p>
        </p:txBody>
      </p:sp>
      <p:sp>
        <p:nvSpPr>
          <p:cNvPr id="700" name="Text 698"/>
          <p:cNvSpPr/>
          <p:nvPr/>
        </p:nvSpPr>
        <p:spPr>
          <a:xfrm>
            <a:off x="788179" y="42288452"/>
            <a:ext cx="263421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前端工程化：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学习webpack/vite基础配置，理解构建流程</a:t>
            </a:r>
            <a:endParaRPr lang="en-US" sz="794" dirty="0"/>
          </a:p>
        </p:txBody>
      </p:sp>
      <p:sp>
        <p:nvSpPr>
          <p:cNvPr id="701" name="Text 699"/>
          <p:cNvSpPr/>
          <p:nvPr/>
        </p:nvSpPr>
        <p:spPr>
          <a:xfrm>
            <a:off x="630543" y="42506581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中期学习计划（2-3个月）：</a:t>
            </a:r>
            <a:endParaRPr lang="en-US" sz="794" dirty="0"/>
          </a:p>
        </p:txBody>
      </p:sp>
      <p:sp>
        <p:nvSpPr>
          <p:cNvPr id="702" name="Text 700"/>
          <p:cNvSpPr/>
          <p:nvPr/>
        </p:nvSpPr>
        <p:spPr>
          <a:xfrm>
            <a:off x="788179" y="42737320"/>
            <a:ext cx="238620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Vue框架：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学习Vue3基础，对比React，拓宽技术栈</a:t>
            </a:r>
            <a:endParaRPr lang="en-US" sz="794" dirty="0"/>
          </a:p>
        </p:txBody>
      </p:sp>
      <p:sp>
        <p:nvSpPr>
          <p:cNvPr id="703" name="Text 701"/>
          <p:cNvSpPr/>
          <p:nvPr/>
        </p:nvSpPr>
        <p:spPr>
          <a:xfrm>
            <a:off x="788179" y="42961754"/>
            <a:ext cx="25039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前端性能优化：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学习网络优化、渲染优化、代码分割等</a:t>
            </a:r>
            <a:endParaRPr lang="en-US" sz="794" dirty="0"/>
          </a:p>
        </p:txBody>
      </p:sp>
      <p:sp>
        <p:nvSpPr>
          <p:cNvPr id="704" name="Text 702"/>
          <p:cNvSpPr/>
          <p:nvPr/>
        </p:nvSpPr>
        <p:spPr>
          <a:xfrm>
            <a:off x="630543" y="43179883"/>
            <a:ext cx="6946062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spcAft>
                <a:spcPts val="496"/>
              </a:spcAft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长期学习计划（3-6个月）：</a:t>
            </a:r>
            <a:endParaRPr lang="en-US" sz="794" dirty="0"/>
          </a:p>
        </p:txBody>
      </p:sp>
      <p:sp>
        <p:nvSpPr>
          <p:cNvPr id="705" name="Text 703"/>
          <p:cNvSpPr/>
          <p:nvPr/>
        </p:nvSpPr>
        <p:spPr>
          <a:xfrm>
            <a:off x="788179" y="43410622"/>
            <a:ext cx="27688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Node.js后端开发：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学习Express/Koa，掌握服务端开发能力</a:t>
            </a:r>
            <a:endParaRPr lang="en-US" sz="794" dirty="0"/>
          </a:p>
        </p:txBody>
      </p:sp>
      <p:sp>
        <p:nvSpPr>
          <p:cNvPr id="706" name="Text 704"/>
          <p:cNvSpPr/>
          <p:nvPr/>
        </p:nvSpPr>
        <p:spPr>
          <a:xfrm>
            <a:off x="788179" y="43635056"/>
            <a:ext cx="215406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全栈开发：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结合Java和Node.js，提升全栈能力</a:t>
            </a:r>
            <a:endParaRPr lang="en-US" sz="794" dirty="0"/>
          </a:p>
        </p:txBody>
      </p:sp>
      <p:sp>
        <p:nvSpPr>
          <p:cNvPr id="707" name="Text 705"/>
          <p:cNvSpPr/>
          <p:nvPr/>
        </p:nvSpPr>
        <p:spPr>
          <a:xfrm>
            <a:off x="788179" y="43859490"/>
            <a:ext cx="291559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面试准备：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系统复习前端基础、算法、数据结构，准备大厂面试</a:t>
            </a:r>
            <a:endParaRPr lang="en-US" sz="794" dirty="0"/>
          </a:p>
        </p:txBody>
      </p:sp>
      <p:sp>
        <p:nvSpPr>
          <p:cNvPr id="708" name="Text 706"/>
          <p:cNvSpPr/>
          <p:nvPr/>
        </p:nvSpPr>
        <p:spPr>
          <a:xfrm>
            <a:off x="630543" y="44203727"/>
            <a:ext cx="6946062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89"/>
              </a:spcBef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6.4 求职策略建议</a:t>
            </a:r>
            <a:endParaRPr lang="en-US" sz="894" dirty="0"/>
          </a:p>
        </p:txBody>
      </p:sp>
      <p:sp>
        <p:nvSpPr>
          <p:cNvPr id="709" name="Text 707"/>
          <p:cNvSpPr/>
          <p:nvPr/>
        </p:nvSpPr>
        <p:spPr>
          <a:xfrm>
            <a:off x="630543" y="44486191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投递策略：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0" name="Text 708"/>
          <p:cNvSpPr/>
          <p:nvPr/>
        </p:nvSpPr>
        <p:spPr>
          <a:xfrm>
            <a:off x="788179" y="44647570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优先投递校招、实习、经验不限岗位</a:t>
            </a:r>
            <a:endParaRPr lang="en-US" sz="794" dirty="0"/>
          </a:p>
        </p:txBody>
      </p:sp>
      <p:sp>
        <p:nvSpPr>
          <p:cNvPr id="711" name="Text 709"/>
          <p:cNvSpPr/>
          <p:nvPr/>
        </p:nvSpPr>
        <p:spPr>
          <a:xfrm>
            <a:off x="788179" y="44872004"/>
            <a:ext cx="298423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大厂岗位（阿里、网易、蚂蚁、海康威视）重点准备，可同时投递</a:t>
            </a:r>
            <a:endParaRPr lang="en-US" sz="794" dirty="0"/>
          </a:p>
        </p:txBody>
      </p:sp>
      <p:sp>
        <p:nvSpPr>
          <p:cNvPr id="712" name="Text 710"/>
          <p:cNvSpPr/>
          <p:nvPr/>
        </p:nvSpPr>
        <p:spPr>
          <a:xfrm>
            <a:off x="788179" y="45096438"/>
            <a:ext cx="164647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中型企业岗位广撒网，积累面试经验</a:t>
            </a:r>
            <a:endParaRPr lang="en-US" sz="794" dirty="0"/>
          </a:p>
        </p:txBody>
      </p:sp>
      <p:sp>
        <p:nvSpPr>
          <p:cNvPr id="713" name="Text 711"/>
          <p:cNvSpPr/>
          <p:nvPr/>
        </p:nvSpPr>
        <p:spPr>
          <a:xfrm>
            <a:off x="630543" y="45320872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时间安排：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4" name="Text 712"/>
          <p:cNvSpPr/>
          <p:nvPr/>
        </p:nvSpPr>
        <p:spPr>
          <a:xfrm>
            <a:off x="788179" y="45482251"/>
            <a:ext cx="166707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前2周：投递高匹配度岗位（前5名）</a:t>
            </a:r>
            <a:endParaRPr lang="en-US" sz="794" dirty="0"/>
          </a:p>
        </p:txBody>
      </p:sp>
      <p:sp>
        <p:nvSpPr>
          <p:cNvPr id="715" name="Text 713"/>
          <p:cNvSpPr/>
          <p:nvPr/>
        </p:nvSpPr>
        <p:spPr>
          <a:xfrm>
            <a:off x="788179" y="45706685"/>
            <a:ext cx="2728178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第3-4周：投递中等匹配度岗位（第6-10名），同时准备面试</a:t>
            </a:r>
            <a:endParaRPr lang="en-US" sz="794" dirty="0"/>
          </a:p>
        </p:txBody>
      </p:sp>
      <p:sp>
        <p:nvSpPr>
          <p:cNvPr id="716" name="Text 714"/>
          <p:cNvSpPr/>
          <p:nvPr/>
        </p:nvSpPr>
        <p:spPr>
          <a:xfrm>
            <a:off x="788179" y="45931119"/>
            <a:ext cx="2038094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第5-8周：根据面试反馈调整策略，持续投递</a:t>
            </a:r>
            <a:endParaRPr lang="en-US" sz="794" dirty="0"/>
          </a:p>
        </p:txBody>
      </p:sp>
      <p:sp>
        <p:nvSpPr>
          <p:cNvPr id="717" name="Text 715"/>
          <p:cNvSpPr/>
          <p:nvPr/>
        </p:nvSpPr>
        <p:spPr>
          <a:xfrm>
            <a:off x="630543" y="46155553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备选方案：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18" name="Text 716"/>
          <p:cNvSpPr/>
          <p:nvPr/>
        </p:nvSpPr>
        <p:spPr>
          <a:xfrm>
            <a:off x="788179" y="46316933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如果校招竞争激烈，可考虑实习转正路径</a:t>
            </a:r>
            <a:endParaRPr lang="en-US" sz="794" dirty="0"/>
          </a:p>
        </p:txBody>
      </p:sp>
      <p:sp>
        <p:nvSpPr>
          <p:cNvPr id="719" name="Text 717"/>
          <p:cNvSpPr/>
          <p:nvPr/>
        </p:nvSpPr>
        <p:spPr>
          <a:xfrm>
            <a:off x="788179" y="46541367"/>
            <a:ext cx="1440665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关注春招、秋招等校招专场活动</a:t>
            </a:r>
            <a:endParaRPr lang="en-US" sz="794" dirty="0"/>
          </a:p>
        </p:txBody>
      </p:sp>
      <p:sp>
        <p:nvSpPr>
          <p:cNvPr id="720" name="Text 718"/>
          <p:cNvSpPr/>
          <p:nvPr/>
        </p:nvSpPr>
        <p:spPr>
          <a:xfrm>
            <a:off x="788179" y="46765801"/>
            <a:ext cx="2366806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准备校招笔试、面试（算法、数据结构、前端基础）</a:t>
            </a:r>
            <a:endParaRPr lang="en-US" sz="794" dirty="0"/>
          </a:p>
        </p:txBody>
      </p:sp>
      <p:sp>
        <p:nvSpPr>
          <p:cNvPr id="721" name="Text 719"/>
          <p:cNvSpPr/>
          <p:nvPr/>
        </p:nvSpPr>
        <p:spPr>
          <a:xfrm>
            <a:off x="630543" y="46990235"/>
            <a:ext cx="51452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心态调整：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794" dirty="0"/>
          </a:p>
        </p:txBody>
      </p:sp>
      <p:sp>
        <p:nvSpPr>
          <p:cNvPr id="722" name="Text 720"/>
          <p:cNvSpPr/>
          <p:nvPr/>
        </p:nvSpPr>
        <p:spPr>
          <a:xfrm>
            <a:off x="788179" y="47151614"/>
            <a:ext cx="1852283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应届生求职需要耐心，接受被拒的可能性</a:t>
            </a:r>
            <a:endParaRPr lang="en-US" sz="794" dirty="0"/>
          </a:p>
        </p:txBody>
      </p:sp>
      <p:sp>
        <p:nvSpPr>
          <p:cNvPr id="723" name="Text 721"/>
          <p:cNvSpPr/>
          <p:nvPr/>
        </p:nvSpPr>
        <p:spPr>
          <a:xfrm>
            <a:off x="788179" y="47376048"/>
            <a:ext cx="1749379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面试失败是常态，总结经验，持续提升</a:t>
            </a:r>
            <a:endParaRPr lang="en-US" sz="794" dirty="0"/>
          </a:p>
        </p:txBody>
      </p:sp>
      <p:sp>
        <p:nvSpPr>
          <p:cNvPr id="724" name="Text 722"/>
          <p:cNvSpPr/>
          <p:nvPr/>
        </p:nvSpPr>
        <p:spPr>
          <a:xfrm>
            <a:off x="788179" y="47600482"/>
            <a:ext cx="1698831" cy="13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平时多刷LeetCode，保持技术敏感度</a:t>
            </a:r>
            <a:endParaRPr lang="en-US" sz="794" dirty="0"/>
          </a:p>
        </p:txBody>
      </p:sp>
      <p:sp>
        <p:nvSpPr>
          <p:cNvPr id="725" name="Text 723"/>
          <p:cNvSpPr/>
          <p:nvPr/>
        </p:nvSpPr>
        <p:spPr>
          <a:xfrm>
            <a:off x="630543" y="48007773"/>
            <a:ext cx="6809865" cy="1882664"/>
          </a:xfrm>
          <a:prstGeom prst="roundRect">
            <a:avLst>
              <a:gd name="adj" fmla="val 16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6" name="Text 724"/>
          <p:cNvSpPr/>
          <p:nvPr/>
        </p:nvSpPr>
        <p:spPr>
          <a:xfrm>
            <a:off x="756652" y="48133882"/>
            <a:ext cx="6688801" cy="18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745"/>
              </a:spcAft>
              <a:buNone/>
            </a:pPr>
            <a:r>
              <a:rPr lang="en-US" sz="894" dirty="0">
                <a:solidFill>
                  <a:srgbClr val="2C3E50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附录：检索过程文件</a:t>
            </a:r>
            <a:endParaRPr lang="en-US" sz="894" dirty="0"/>
          </a:p>
        </p:txBody>
      </p:sp>
      <p:sp>
        <p:nvSpPr>
          <p:cNvPr id="727" name="Text 725"/>
          <p:cNvSpPr/>
          <p:nvPr/>
        </p:nvSpPr>
        <p:spPr>
          <a:xfrm>
            <a:off x="914287" y="48416346"/>
            <a:ext cx="2033472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候选人档案：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input/candidate_profile.md</a:t>
            </a:r>
            <a:endParaRPr lang="en-US" sz="794" dirty="0"/>
          </a:p>
        </p:txBody>
      </p:sp>
      <p:sp>
        <p:nvSpPr>
          <p:cNvPr id="728" name="Text 726"/>
          <p:cNvSpPr/>
          <p:nvPr/>
        </p:nvSpPr>
        <p:spPr>
          <a:xfrm>
            <a:off x="914287" y="48642060"/>
            <a:ext cx="1679637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简历文本：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input/resume_text.txt</a:t>
            </a:r>
            <a:endParaRPr lang="en-US" sz="794" dirty="0"/>
          </a:p>
        </p:txBody>
      </p:sp>
      <p:sp>
        <p:nvSpPr>
          <p:cNvPr id="729" name="Text 727"/>
          <p:cNvSpPr/>
          <p:nvPr/>
        </p:nvSpPr>
        <p:spPr>
          <a:xfrm>
            <a:off x="914287" y="48867775"/>
            <a:ext cx="1975889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Boss直聘岗位信息：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infos/boss_jobs.md</a:t>
            </a:r>
            <a:endParaRPr lang="en-US" sz="794" dirty="0"/>
          </a:p>
        </p:txBody>
      </p:sp>
      <p:sp>
        <p:nvSpPr>
          <p:cNvPr id="730" name="Text 728"/>
          <p:cNvSpPr/>
          <p:nvPr/>
        </p:nvSpPr>
        <p:spPr>
          <a:xfrm>
            <a:off x="914287" y="49093490"/>
            <a:ext cx="2091255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智联招聘岗位信息：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infos/zhilian_jobs.md</a:t>
            </a:r>
            <a:endParaRPr lang="en-US" sz="794" dirty="0"/>
          </a:p>
        </p:txBody>
      </p:sp>
      <p:sp>
        <p:nvSpPr>
          <p:cNvPr id="731" name="Text 729"/>
          <p:cNvSpPr/>
          <p:nvPr/>
        </p:nvSpPr>
        <p:spPr>
          <a:xfrm>
            <a:off x="914287" y="49319204"/>
            <a:ext cx="2088743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结构化岗位数据：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analysis/jobs_data.json</a:t>
            </a:r>
            <a:endParaRPr lang="en-US" sz="794" dirty="0"/>
          </a:p>
        </p:txBody>
      </p:sp>
      <p:sp>
        <p:nvSpPr>
          <p:cNvPr id="732" name="Text 730"/>
          <p:cNvSpPr/>
          <p:nvPr/>
        </p:nvSpPr>
        <p:spPr>
          <a:xfrm>
            <a:off x="914287" y="49544919"/>
            <a:ext cx="1690691" cy="145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图表文件：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71"/>
              </a:lnSpc>
              <a:buNone/>
            </a:pPr>
            <a:r>
              <a:rPr lang="en-US" sz="645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charts/</a:t>
            </a:r>
            <a:pPr algn="l" indent="0" marL="0">
              <a:lnSpc>
                <a:spcPts val="1271"/>
              </a:lnSpc>
              <a:buNone/>
            </a:pPr>
            <a:r>
              <a:rPr lang="en-US" sz="794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目录下4张图表</a:t>
            </a:r>
            <a:endParaRPr lang="en-US" sz="794" dirty="0"/>
          </a:p>
        </p:txBody>
      </p:sp>
      <p:sp>
        <p:nvSpPr>
          <p:cNvPr id="733" name="Shape 731"/>
          <p:cNvSpPr/>
          <p:nvPr/>
        </p:nvSpPr>
        <p:spPr>
          <a:xfrm>
            <a:off x="630543" y="50145807"/>
            <a:ext cx="6809865" cy="9144"/>
          </a:xfrm>
          <a:prstGeom prst="line">
            <a:avLst/>
          </a:prstGeom>
          <a:noFill/>
          <a:ln w="6305">
            <a:solidFill>
              <a:srgbClr val="DDDDDD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630543" y="5027506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报告生成时间：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2026-01-07</a:t>
            </a:r>
            <a:endParaRPr lang="en-US" sz="596" dirty="0"/>
          </a:p>
        </p:txBody>
      </p:sp>
      <p:sp>
        <p:nvSpPr>
          <p:cNvPr id="735" name="Text 733"/>
          <p:cNvSpPr/>
          <p:nvPr/>
        </p:nvSpPr>
        <p:spPr>
          <a:xfrm>
            <a:off x="630543" y="5045910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数据来源：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Boss直聘、智联招聘（通过Coze Search API检索）</a:t>
            </a:r>
            <a:endParaRPr lang="en-US" sz="596" dirty="0"/>
          </a:p>
        </p:txBody>
      </p:sp>
      <p:sp>
        <p:nvSpPr>
          <p:cNvPr id="736" name="Text 734"/>
          <p:cNvSpPr/>
          <p:nvPr/>
        </p:nvSpPr>
        <p:spPr>
          <a:xfrm>
            <a:off x="630543" y="50643148"/>
            <a:ext cx="6946062" cy="12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 Bold" pitchFamily="34" charset="0"/>
                <a:ea typeface="Microsoft YaHei Bold" pitchFamily="34" charset="-122"/>
                <a:cs typeface="Microsoft YaHei Bold" pitchFamily="34" charset="-120"/>
              </a:rPr>
              <a:t>工具支持：</a:t>
            </a:r>
            <a:pPr algn="l" indent="0" marL="0">
              <a:lnSpc>
                <a:spcPts val="953"/>
              </a:lnSpc>
              <a:spcAft>
                <a:spcPts val="496"/>
              </a:spcAft>
              <a:buNone/>
            </a:pPr>
            <a:r>
              <a:rPr lang="en-US" sz="596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job-search-report技能（简历提取、岗位检索、数据分析、图表生成）</a:t>
            </a:r>
            <a:endParaRPr lang="en-US" sz="5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2026-01-08T07:21:41Z</dcterms:created>
  <dcterms:modified xsi:type="dcterms:W3CDTF">2026-01-08T07:21:41Z</dcterms:modified>
</cp:coreProperties>
</file>